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01" r:id="rId2"/>
  </p:sldIdLst>
  <p:sldSz cx="274320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0" d="100"/>
          <a:sy n="40" d="100"/>
        </p:scale>
        <p:origin x="2154"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26"/>
          <c:y val="0.01"/>
          <c:w val="0.6"/>
          <c:h val="0.97"/>
        </c:manualLayout>
      </c:layout>
      <c:barChart>
        <c:barDir val="bar"/>
        <c:grouping val="clustered"/>
        <c:varyColors val="0"/>
        <c:ser>
          <c:idx val="0"/>
          <c:order val="0"/>
          <c:tx>
            <c:v>Values</c:v>
          </c:tx>
          <c:spPr>
            <a:solidFill>
              <a:srgbClr val="1E3A52"/>
            </a:solidFill>
            <a:ln>
              <a:noFill/>
            </a:ln>
          </c:spPr>
          <c:invertIfNegative val="1"/>
          <c:dPt>
            <c:idx val="0"/>
            <c:invertIfNegative val="1"/>
            <c:bubble3D val="0"/>
            <c:spPr>
              <a:solidFill>
                <a:srgbClr val="D98E45"/>
              </a:solidFill>
              <a:ln>
                <a:noFill/>
              </a:ln>
            </c:spPr>
            <c:extLst>
              <c:ext xmlns:c16="http://schemas.microsoft.com/office/drawing/2014/chart" uri="{C3380CC4-5D6E-409C-BE32-E72D297353CC}">
                <c16:uniqueId val="{00000001-34C9-45CA-9C28-7492050DDFCB}"/>
              </c:ext>
            </c:extLst>
          </c:dPt>
          <c:dLbls>
            <c:numFmt formatCode="#,##0" sourceLinked="0"/>
            <c:spPr>
              <a:noFill/>
              <a:ln>
                <a:noFill/>
              </a:ln>
              <a:effectLst/>
            </c:spPr>
            <c:txPr>
              <a:bodyPr wrap="none"/>
              <a:lstStyle/>
              <a:p>
                <a:pPr>
                  <a:defRPr sz="2000" b="1">
                    <a:solidFill>
                      <a:srgbClr val="1E2A32"/>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9"/>
              <c:pt idx="0">
                <c:v>Worms</c:v>
              </c:pt>
              <c:pt idx="1">
                <c:v>Analysis</c:v>
              </c:pt>
              <c:pt idx="2">
                <c:v>Backdoor</c:v>
              </c:pt>
              <c:pt idx="3">
                <c:v>Shellcode</c:v>
              </c:pt>
              <c:pt idx="4">
                <c:v>DoS</c:v>
              </c:pt>
              <c:pt idx="5">
                <c:v>Generic</c:v>
              </c:pt>
              <c:pt idx="6">
                <c:v>Reconnaissance</c:v>
              </c:pt>
              <c:pt idx="7">
                <c:v>Fuzzers</c:v>
              </c:pt>
              <c:pt idx="8">
                <c:v>Exploits</c:v>
              </c:pt>
            </c:strLit>
          </c:cat>
          <c:val>
            <c:numLit>
              <c:formatCode>General</c:formatCode>
              <c:ptCount val="9"/>
              <c:pt idx="0">
                <c:v>243</c:v>
              </c:pt>
              <c:pt idx="1">
                <c:v>385</c:v>
              </c:pt>
              <c:pt idx="2">
                <c:v>452</c:v>
              </c:pt>
              <c:pt idx="3">
                <c:v>2102</c:v>
              </c:pt>
              <c:pt idx="4">
                <c:v>4418</c:v>
              </c:pt>
              <c:pt idx="5">
                <c:v>4496</c:v>
              </c:pt>
              <c:pt idx="6">
                <c:v>12035</c:v>
              </c:pt>
              <c:pt idx="7">
                <c:v>26433</c:v>
              </c:pt>
              <c:pt idx="8">
                <c:v>30925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4C9-45CA-9C28-7492050DDFCB}"/>
            </c:ext>
          </c:extLst>
        </c:ser>
        <c:dLbls>
          <c:showLegendKey val="0"/>
          <c:showVal val="0"/>
          <c:showCatName val="0"/>
          <c:showSerName val="0"/>
          <c:showPercent val="0"/>
          <c:showBubbleSize val="0"/>
        </c:dLbls>
        <c:gapWidth val="45"/>
        <c:axId val="1"/>
        <c:axId val="2"/>
      </c:barChart>
      <c:catAx>
        <c:axId val="1"/>
        <c:scaling>
          <c:orientation val="minMax"/>
        </c:scaling>
        <c:delete val="0"/>
        <c:axPos val="l"/>
        <c:numFmt formatCode="General" sourceLinked="0"/>
        <c:majorTickMark val="none"/>
        <c:minorTickMark val="none"/>
        <c:tickLblPos val="nextTo"/>
        <c:spPr>
          <a:ln w="9525">
            <a:solidFill>
              <a:srgbClr val="C7CACC"/>
            </a:solidFill>
          </a:ln>
        </c:spPr>
        <c:txPr>
          <a:bodyPr rot="0" vert="horz"/>
          <a:lstStyle/>
          <a:p>
            <a:pPr>
              <a:defRPr sz="2000" b="0">
                <a:solidFill>
                  <a:srgbClr val="1E2A32"/>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2"/>
          <c:y val="0.18"/>
          <c:w val="0.96"/>
          <c:h val="0.7"/>
        </c:manualLayout>
      </c:layout>
      <c:barChart>
        <c:barDir val="col"/>
        <c:grouping val="clustered"/>
        <c:varyColors val="0"/>
        <c:ser>
          <c:idx val="0"/>
          <c:order val="0"/>
          <c:tx>
            <c:v>Values</c:v>
          </c:tx>
          <c:spPr>
            <a:solidFill>
              <a:srgbClr val="1E3A52"/>
            </a:solidFill>
            <a:ln>
              <a:noFill/>
            </a:ln>
          </c:spPr>
          <c:invertIfNegative val="1"/>
          <c:dPt>
            <c:idx val="3"/>
            <c:invertIfNegative val="1"/>
            <c:bubble3D val="0"/>
            <c:spPr>
              <a:solidFill>
                <a:srgbClr val="D98E45"/>
              </a:solidFill>
              <a:ln>
                <a:noFill/>
              </a:ln>
            </c:spPr>
            <c:extLst>
              <c:ext xmlns:c16="http://schemas.microsoft.com/office/drawing/2014/chart" uri="{C3380CC4-5D6E-409C-BE32-E72D297353CC}">
                <c16:uniqueId val="{00000001-AC68-4160-BEB1-CCC5AEE87535}"/>
              </c:ext>
            </c:extLst>
          </c:dPt>
          <c:dLbls>
            <c:numFmt formatCode="0.000" sourceLinked="0"/>
            <c:spPr>
              <a:noFill/>
              <a:ln>
                <a:noFill/>
              </a:ln>
              <a:effectLst/>
            </c:spPr>
            <c:txPr>
              <a:bodyPr wrap="none"/>
              <a:lstStyle/>
              <a:p>
                <a:pPr>
                  <a:defRPr sz="2000" b="1">
                    <a:solidFill>
                      <a:srgbClr val="1E2A32"/>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4"/>
              <c:pt idx="0">
                <c:v>v7, no reject class</c:v>
              </c:pt>
              <c:pt idx="1">
                <c:v>+ Reject class</c:v>
              </c:pt>
              <c:pt idx="2">
                <c:v>+ End-to-end objective</c:v>
              </c:pt>
              <c:pt idx="3">
                <c:v>Final (selected rule)</c:v>
              </c:pt>
            </c:strLit>
          </c:cat>
          <c:val>
            <c:numLit>
              <c:formatCode>General</c:formatCode>
              <c:ptCount val="4"/>
              <c:pt idx="0">
                <c:v>0.65800000000000003</c:v>
              </c:pt>
              <c:pt idx="1">
                <c:v>0.68500000000000005</c:v>
              </c:pt>
              <c:pt idx="2">
                <c:v>0.68799999999999994</c:v>
              </c:pt>
              <c:pt idx="3">
                <c:v>0.68899999999999995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AC68-4160-BEB1-CCC5AEE87535}"/>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7CACC"/>
            </a:solidFill>
          </a:ln>
        </c:spPr>
        <c:txPr>
          <a:bodyPr rot="0" vert="horz"/>
          <a:lstStyle/>
          <a:p>
            <a:pPr>
              <a:defRPr sz="2000" b="0">
                <a:solidFill>
                  <a:srgbClr val="1E2A32"/>
                </a:solidFill>
                <a:latin typeface="Times New Roman"/>
              </a:defRPr>
            </a:pPr>
            <a:endParaRPr lang="en-US"/>
          </a:p>
        </c:txPr>
        <c:crossAx val="2"/>
        <c:crosses val="autoZero"/>
        <c:auto val="1"/>
        <c:lblAlgn val="ctr"/>
        <c:lblOffset val="100"/>
        <c:noMultiLvlLbl val="1"/>
      </c:catAx>
      <c:valAx>
        <c:axId val="2"/>
        <c:scaling>
          <c:orientation val="minMax"/>
          <c:max val="0.86199999999999999"/>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26"/>
          <c:y val="0.01"/>
          <c:w val="0.62"/>
          <c:h val="0.97"/>
        </c:manualLayout>
      </c:layout>
      <c:barChart>
        <c:barDir val="bar"/>
        <c:grouping val="clustered"/>
        <c:varyColors val="0"/>
        <c:ser>
          <c:idx val="0"/>
          <c:order val="0"/>
          <c:tx>
            <c:v>Values</c:v>
          </c:tx>
          <c:spPr>
            <a:solidFill>
              <a:srgbClr val="1E3A52"/>
            </a:solidFill>
            <a:ln>
              <a:noFill/>
            </a:ln>
          </c:spPr>
          <c:invertIfNegative val="1"/>
          <c:dPt>
            <c:idx val="0"/>
            <c:invertIfNegative val="1"/>
            <c:bubble3D val="0"/>
            <c:spPr>
              <a:solidFill>
                <a:srgbClr val="D98E45"/>
              </a:solidFill>
              <a:ln>
                <a:noFill/>
              </a:ln>
            </c:spPr>
            <c:extLst>
              <c:ext xmlns:c16="http://schemas.microsoft.com/office/drawing/2014/chart" uri="{C3380CC4-5D6E-409C-BE32-E72D297353CC}">
                <c16:uniqueId val="{00000001-DA26-4D07-80F9-AE5D3A3B1594}"/>
              </c:ext>
            </c:extLst>
          </c:dPt>
          <c:dLbls>
            <c:numFmt formatCode="0.000" sourceLinked="0"/>
            <c:spPr>
              <a:noFill/>
              <a:ln>
                <a:noFill/>
              </a:ln>
              <a:effectLst/>
            </c:spPr>
            <c:txPr>
              <a:bodyPr wrap="none"/>
              <a:lstStyle/>
              <a:p>
                <a:pPr>
                  <a:defRPr sz="2000" b="1">
                    <a:solidFill>
                      <a:srgbClr val="1E2A32"/>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10"/>
              <c:pt idx="0">
                <c:v>Analysis</c:v>
              </c:pt>
              <c:pt idx="1">
                <c:v>Worms</c:v>
              </c:pt>
              <c:pt idx="2">
                <c:v>DoS</c:v>
              </c:pt>
              <c:pt idx="3">
                <c:v>Fuzzers</c:v>
              </c:pt>
              <c:pt idx="4">
                <c:v>Backdoor</c:v>
              </c:pt>
              <c:pt idx="5">
                <c:v>Shellcode</c:v>
              </c:pt>
              <c:pt idx="6">
                <c:v>Exploits</c:v>
              </c:pt>
              <c:pt idx="7">
                <c:v>Reconnaissance</c:v>
              </c:pt>
              <c:pt idx="8">
                <c:v>Generic</c:v>
              </c:pt>
              <c:pt idx="9">
                <c:v>Benign</c:v>
              </c:pt>
            </c:strLit>
          </c:cat>
          <c:val>
            <c:numLit>
              <c:formatCode>General</c:formatCode>
              <c:ptCount val="10"/>
              <c:pt idx="0">
                <c:v>0.161</c:v>
              </c:pt>
              <c:pt idx="1">
                <c:v>0.57399999999999995</c:v>
              </c:pt>
              <c:pt idx="2">
                <c:v>0.60799999999999998</c:v>
              </c:pt>
              <c:pt idx="3">
                <c:v>0.64</c:v>
              </c:pt>
              <c:pt idx="4">
                <c:v>0.65800000000000003</c:v>
              </c:pt>
              <c:pt idx="5">
                <c:v>0.72499999999999998</c:v>
              </c:pt>
              <c:pt idx="6">
                <c:v>0.82299999999999995</c:v>
              </c:pt>
              <c:pt idx="7">
                <c:v>0.82399999999999995</c:v>
              </c:pt>
              <c:pt idx="8">
                <c:v>0.879</c:v>
              </c:pt>
              <c:pt idx="9">
                <c:v>0.995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A26-4D07-80F9-AE5D3A3B1594}"/>
            </c:ext>
          </c:extLst>
        </c:ser>
        <c:dLbls>
          <c:showLegendKey val="0"/>
          <c:showVal val="0"/>
          <c:showCatName val="0"/>
          <c:showSerName val="0"/>
          <c:showPercent val="0"/>
          <c:showBubbleSize val="0"/>
        </c:dLbls>
        <c:gapWidth val="45"/>
        <c:axId val="1"/>
        <c:axId val="2"/>
      </c:barChart>
      <c:catAx>
        <c:axId val="1"/>
        <c:scaling>
          <c:orientation val="minMax"/>
        </c:scaling>
        <c:delete val="0"/>
        <c:axPos val="l"/>
        <c:numFmt formatCode="General" sourceLinked="0"/>
        <c:majorTickMark val="none"/>
        <c:minorTickMark val="none"/>
        <c:tickLblPos val="nextTo"/>
        <c:spPr>
          <a:ln w="9525">
            <a:solidFill>
              <a:srgbClr val="C7CACC"/>
            </a:solidFill>
          </a:ln>
        </c:spPr>
        <c:txPr>
          <a:bodyPr rot="0" vert="horz"/>
          <a:lstStyle/>
          <a:p>
            <a:pPr>
              <a:defRPr sz="2000" b="0">
                <a:solidFill>
                  <a:srgbClr val="1E2A32"/>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32"/>
          <c:y val="0.01"/>
          <c:w val="0.56000000000000005"/>
          <c:h val="0.97"/>
        </c:manualLayout>
      </c:layout>
      <c:barChart>
        <c:barDir val="bar"/>
        <c:grouping val="clustered"/>
        <c:varyColors val="0"/>
        <c:ser>
          <c:idx val="0"/>
          <c:order val="0"/>
          <c:tx>
            <c:v>Values</c:v>
          </c:tx>
          <c:spPr>
            <a:solidFill>
              <a:srgbClr val="1E3A52"/>
            </a:solidFill>
            <a:ln>
              <a:noFill/>
            </a:ln>
          </c:spPr>
          <c:invertIfNegative val="1"/>
          <c:dPt>
            <c:idx val="5"/>
            <c:invertIfNegative val="1"/>
            <c:bubble3D val="0"/>
            <c:spPr>
              <a:solidFill>
                <a:srgbClr val="D98E45"/>
              </a:solidFill>
              <a:ln>
                <a:noFill/>
              </a:ln>
            </c:spPr>
            <c:extLst>
              <c:ext xmlns:c16="http://schemas.microsoft.com/office/drawing/2014/chart" uri="{C3380CC4-5D6E-409C-BE32-E72D297353CC}">
                <c16:uniqueId val="{00000001-45DC-4494-B32D-34A29F325E73}"/>
              </c:ext>
            </c:extLst>
          </c:dPt>
          <c:dLbls>
            <c:numFmt formatCode="\+0.000" sourceLinked="0"/>
            <c:spPr>
              <a:noFill/>
              <a:ln>
                <a:noFill/>
              </a:ln>
              <a:effectLst/>
            </c:spPr>
            <c:txPr>
              <a:bodyPr wrap="none"/>
              <a:lstStyle/>
              <a:p>
                <a:pPr>
                  <a:defRPr sz="2000" b="1">
                    <a:solidFill>
                      <a:srgbClr val="1E2A32"/>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6"/>
              <c:pt idx="0">
                <c:v>Hyperparameter tuning</c:v>
              </c:pt>
              <c:pt idx="1">
                <c:v>α-diverse ensemble</c:v>
              </c:pt>
              <c:pt idx="2">
                <c:v>Two-stage hierarchy</c:v>
              </c:pt>
              <c:pt idx="3">
                <c:v>Reject class</c:v>
              </c:pt>
              <c:pt idx="4">
                <c:v>Tempered weighting</c:v>
              </c:pt>
              <c:pt idx="5">
                <c:v>Service identity</c:v>
              </c:pt>
            </c:strLit>
          </c:cat>
          <c:val>
            <c:numLit>
              <c:formatCode>General</c:formatCode>
              <c:ptCount val="6"/>
              <c:pt idx="0">
                <c:v>5.0000000000000001E-3</c:v>
              </c:pt>
              <c:pt idx="1">
                <c:v>1.7999999999999999E-2</c:v>
              </c:pt>
              <c:pt idx="2">
                <c:v>1.7999999999999999E-2</c:v>
              </c:pt>
              <c:pt idx="3">
                <c:v>2.7E-2</c:v>
              </c:pt>
              <c:pt idx="4">
                <c:v>3.9E-2</c:v>
              </c:pt>
              <c:pt idx="5">
                <c:v>9.8000000000000004E-2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5DC-4494-B32D-34A29F325E73}"/>
            </c:ext>
          </c:extLst>
        </c:ser>
        <c:dLbls>
          <c:showLegendKey val="0"/>
          <c:showVal val="0"/>
          <c:showCatName val="0"/>
          <c:showSerName val="0"/>
          <c:showPercent val="0"/>
          <c:showBubbleSize val="0"/>
        </c:dLbls>
        <c:gapWidth val="45"/>
        <c:axId val="1"/>
        <c:axId val="2"/>
      </c:barChart>
      <c:catAx>
        <c:axId val="1"/>
        <c:scaling>
          <c:orientation val="minMax"/>
        </c:scaling>
        <c:delete val="0"/>
        <c:axPos val="l"/>
        <c:numFmt formatCode="General" sourceLinked="0"/>
        <c:majorTickMark val="none"/>
        <c:minorTickMark val="none"/>
        <c:tickLblPos val="nextTo"/>
        <c:spPr>
          <a:ln w="9525">
            <a:solidFill>
              <a:srgbClr val="C7CACC"/>
            </a:solidFill>
          </a:ln>
        </c:spPr>
        <c:txPr>
          <a:bodyPr rot="0" vert="horz"/>
          <a:lstStyle/>
          <a:p>
            <a:pPr>
              <a:defRPr sz="2000" b="0">
                <a:solidFill>
                  <a:srgbClr val="1E2A32"/>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3429000" y="23053043"/>
            <a:ext cx="20574000" cy="1059687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6746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0711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71664" y="10942333"/>
            <a:ext cx="23660100" cy="18257517"/>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1871664" y="29372573"/>
            <a:ext cx="23660100" cy="9601197"/>
          </a:xfr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124129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859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38874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E62287-EE82-4CAC-8118-A3C92F32CD32}"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88650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336810"/>
            <a:ext cx="2366010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89526" y="10759443"/>
            <a:ext cx="11605020"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1889526" y="16032480"/>
            <a:ext cx="11605020"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3887452" y="10759443"/>
            <a:ext cx="11662173"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3887452" y="16032480"/>
            <a:ext cx="116621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E62287-EE82-4CAC-8118-A3C92F32CD32}"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2343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E62287-EE82-4CAC-8118-A3C92F32CD32}"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91099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62287-EE82-4CAC-8118-A3C92F32CD32}"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66711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1662173" y="6319530"/>
            <a:ext cx="13887450" cy="31191200"/>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89112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62173" y="6319530"/>
            <a:ext cx="13887450" cy="31191200"/>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78056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60453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631027" y="2336800"/>
            <a:ext cx="5915025"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85952" y="2336800"/>
            <a:ext cx="17402175"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1802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7999"/>
            </a:lvl1pPr>
          </a:lstStyle>
          <a:p>
            <a:r>
              <a:rPr lang="en-US"/>
              <a:t>Click to edit Master title style</a:t>
            </a:r>
            <a:endParaRPr lang="en-US" dirty="0"/>
          </a:p>
        </p:txBody>
      </p:sp>
      <p:sp>
        <p:nvSpPr>
          <p:cNvPr id="3" name="Subtitle 2"/>
          <p:cNvSpPr>
            <a:spLocks noGrp="1"/>
          </p:cNvSpPr>
          <p:nvPr>
            <p:ph type="subTitle" idx="1"/>
          </p:nvPr>
        </p:nvSpPr>
        <p:spPr>
          <a:xfrm>
            <a:off x="3429000" y="23053046"/>
            <a:ext cx="20574000" cy="10596877"/>
          </a:xfrm>
        </p:spPr>
        <p:txBody>
          <a:bodyPr/>
          <a:lstStyle>
            <a:lvl1pPr marL="0" indent="0" algn="ctr">
              <a:buNone/>
              <a:defRPr sz="7200"/>
            </a:lvl1pPr>
            <a:lvl2pPr marL="1371545" indent="0" algn="ctr">
              <a:buNone/>
              <a:defRPr sz="6000"/>
            </a:lvl2pPr>
            <a:lvl3pPr marL="2743090" indent="0" algn="ctr">
              <a:buNone/>
              <a:defRPr sz="5400"/>
            </a:lvl3pPr>
            <a:lvl4pPr marL="4114635" indent="0" algn="ctr">
              <a:buNone/>
              <a:defRPr sz="4800"/>
            </a:lvl4pPr>
            <a:lvl5pPr marL="5486181" indent="0" algn="ctr">
              <a:buNone/>
              <a:defRPr sz="4800"/>
            </a:lvl5pPr>
            <a:lvl6pPr marL="6857726" indent="0" algn="ctr">
              <a:buNone/>
              <a:defRPr sz="4800"/>
            </a:lvl6pPr>
            <a:lvl7pPr marL="8229271" indent="0" algn="ctr">
              <a:buNone/>
              <a:defRPr sz="4800"/>
            </a:lvl7pPr>
            <a:lvl8pPr marL="9600816" indent="0" algn="ctr">
              <a:buNone/>
              <a:defRPr sz="4800"/>
            </a:lvl8pPr>
            <a:lvl9pPr marL="10972361" indent="0" algn="ctr">
              <a:buNone/>
              <a:defRPr sz="4800"/>
            </a:lvl9pPr>
          </a:lstStyle>
          <a:p>
            <a:r>
              <a:rPr lang="en-US" dirty="0"/>
              <a:t>Click to edit Master subtitle style</a:t>
            </a:r>
          </a:p>
        </p:txBody>
      </p:sp>
      <p:sp>
        <p:nvSpPr>
          <p:cNvPr id="4" name="Date Placeholder 3"/>
          <p:cNvSpPr>
            <a:spLocks noGrp="1"/>
          </p:cNvSpPr>
          <p:nvPr>
            <p:ph type="dt" sz="half" idx="10"/>
          </p:nvPr>
        </p:nvSpPr>
        <p:spPr/>
        <p:txBody>
          <a:bodyPr/>
          <a:lstStyle/>
          <a:p>
            <a:fld id="{36E62287-EE82-4CAC-8118-A3C92F32CD32}"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
        <p:nvSpPr>
          <p:cNvPr id="10" name="Picture Placeholder 9">
            <a:extLst>
              <a:ext uri="{FF2B5EF4-FFF2-40B4-BE49-F238E27FC236}">
                <a16:creationId xmlns:a16="http://schemas.microsoft.com/office/drawing/2014/main" id="{E8BB8BF0-1B62-88D2-2AA9-9DD641B32A05}"/>
              </a:ext>
            </a:extLst>
          </p:cNvPr>
          <p:cNvSpPr>
            <a:spLocks noGrp="1"/>
          </p:cNvSpPr>
          <p:nvPr>
            <p:ph type="pic" sz="quarter" idx="13"/>
          </p:nvPr>
        </p:nvSpPr>
        <p:spPr>
          <a:xfrm>
            <a:off x="2641336" y="20495188"/>
            <a:ext cx="3657864" cy="4526437"/>
          </a:xfrm>
        </p:spPr>
        <p:txBody>
          <a:bodyPr/>
          <a:lstStyle/>
          <a:p>
            <a:endParaRPr lang="en-US" dirty="0"/>
          </a:p>
        </p:txBody>
      </p:sp>
    </p:spTree>
    <p:extLst>
      <p:ext uri="{BB962C8B-B14F-4D97-AF65-F5344CB8AC3E}">
        <p14:creationId xmlns:p14="http://schemas.microsoft.com/office/powerpoint/2010/main" val="144686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950" y="2336810"/>
            <a:ext cx="2366010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85950" y="11684000"/>
            <a:ext cx="2366010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85950" y="40680650"/>
            <a:ext cx="6172200" cy="2336800"/>
          </a:xfrm>
          <a:prstGeom prst="rect">
            <a:avLst/>
          </a:prstGeom>
        </p:spPr>
        <p:txBody>
          <a:bodyPr vert="horz" lIns="91440" tIns="45720" rIns="91440" bIns="45720" rtlCol="0" anchor="ctr"/>
          <a:lstStyle>
            <a:lvl1pPr algn="l">
              <a:defRPr sz="3600">
                <a:solidFill>
                  <a:schemeClr val="tx1">
                    <a:tint val="82000"/>
                  </a:schemeClr>
                </a:solidFill>
              </a:defRPr>
            </a:lvl1pPr>
          </a:lstStyle>
          <a:p>
            <a:fld id="{36E62287-EE82-4CAC-8118-A3C92F32CD32}" type="datetimeFigureOut">
              <a:rPr lang="en-US" smtClean="0"/>
              <a:t>10/26/2026</a:t>
            </a:fld>
            <a:endParaRPr lang="en-US"/>
          </a:p>
        </p:txBody>
      </p:sp>
      <p:sp>
        <p:nvSpPr>
          <p:cNvPr id="5" name="Footer Placeholder 4"/>
          <p:cNvSpPr>
            <a:spLocks noGrp="1"/>
          </p:cNvSpPr>
          <p:nvPr>
            <p:ph type="ftr" sz="quarter" idx="3"/>
          </p:nvPr>
        </p:nvSpPr>
        <p:spPr>
          <a:xfrm>
            <a:off x="9086850" y="40680650"/>
            <a:ext cx="9258300" cy="2336800"/>
          </a:xfrm>
          <a:prstGeom prst="rect">
            <a:avLst/>
          </a:prstGeom>
        </p:spPr>
        <p:txBody>
          <a:bodyPr vert="horz" lIns="91440" tIns="45720" rIns="91440" bIns="45720" rtlCol="0" anchor="ctr"/>
          <a:lstStyle>
            <a:lvl1pPr algn="ctr">
              <a:defRPr sz="3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9373850" y="40680650"/>
            <a:ext cx="6172200" cy="2336800"/>
          </a:xfrm>
          <a:prstGeom prst="rect">
            <a:avLst/>
          </a:prstGeom>
        </p:spPr>
        <p:txBody>
          <a:bodyPr vert="horz" lIns="91440" tIns="45720" rIns="91440" bIns="45720" rtlCol="0" anchor="ctr"/>
          <a:lstStyle>
            <a:lvl1pPr algn="r">
              <a:defRPr sz="3600">
                <a:solidFill>
                  <a:schemeClr val="tx1">
                    <a:tint val="82000"/>
                  </a:schemeClr>
                </a:solidFill>
              </a:defRPr>
            </a:lvl1pPr>
          </a:lstStyle>
          <a:p>
            <a:fld id="{958B3A4A-BAB8-48FE-8D64-764B793361B2}" type="slidenum">
              <a:rPr lang="en-US" smtClean="0"/>
              <a:t>‹#›</a:t>
            </a:fld>
            <a:endParaRPr lang="en-US"/>
          </a:p>
        </p:txBody>
      </p:sp>
    </p:spTree>
    <p:extLst>
      <p:ext uri="{BB962C8B-B14F-4D97-AF65-F5344CB8AC3E}">
        <p14:creationId xmlns:p14="http://schemas.microsoft.com/office/powerpoint/2010/main" val="12547876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D58C19-3F11-8F0C-3135-48E3F9B72BD5}"/>
              </a:ext>
            </a:extLst>
          </p:cNvPr>
          <p:cNvSpPr>
            <a:spLocks noGrp="1" noRot="1" noMove="1" noResize="1" noEditPoints="1" noAdjustHandles="1" noChangeArrowheads="1" noChangeShapeType="1"/>
          </p:cNvSpPr>
          <p:nvPr/>
        </p:nvSpPr>
        <p:spPr>
          <a:xfrm>
            <a:off x="0" y="0"/>
            <a:ext cx="27432000" cy="3810000"/>
          </a:xfrm>
          <a:prstGeom prst="rect">
            <a:avLst/>
          </a:prstGeom>
          <a:solidFill>
            <a:srgbClr val="1E3A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8" name="TextBox 7">
            <a:extLst>
              <a:ext uri="{FF2B5EF4-FFF2-40B4-BE49-F238E27FC236}">
                <a16:creationId xmlns:a16="http://schemas.microsoft.com/office/drawing/2014/main" id="{E52BCD7D-3B81-005A-DD36-8B00EB4A180F}"/>
              </a:ext>
            </a:extLst>
          </p:cNvPr>
          <p:cNvSpPr txBox="1">
            <a:spLocks noGrp="1" noRot="1" noMove="1" noResize="1" noEditPoints="1" noAdjustHandles="1" noChangeArrowheads="1" noChangeShapeType="1"/>
          </p:cNvSpPr>
          <p:nvPr/>
        </p:nvSpPr>
        <p:spPr>
          <a:xfrm>
            <a:off x="609600" y="355600"/>
            <a:ext cx="22733000" cy="990600"/>
          </a:xfrm>
          <a:prstGeom prst="rect">
            <a:avLst/>
          </a:prstGeom>
          <a:noFill/>
        </p:spPr>
        <p:txBody>
          <a:bodyPr wrap="square" lIns="114300" tIns="0" rIns="114300" bIns="0" anchor="t">
            <a:noAutofit/>
          </a:bodyPr>
          <a:lstStyle/>
          <a:p>
            <a:pPr algn="l">
              <a:spcBef>
                <a:spcPts val="0"/>
              </a:spcBef>
              <a:spcAft>
                <a:spcPts val="0"/>
              </a:spcAft>
            </a:pPr>
            <a:r>
              <a:rPr lang="en-US" sz="5400" b="1" i="0" dirty="0">
                <a:solidFill>
                  <a:srgbClr val="FFFFFF"/>
                </a:solidFill>
                <a:latin typeface="Times New Roman"/>
                <a:cs typeface="Times New Roman"/>
              </a:rPr>
              <a:t>A Two-Stage Hierarchical Multiclass Network Intrusion Detection System</a:t>
            </a:r>
          </a:p>
        </p:txBody>
      </p:sp>
      <p:sp>
        <p:nvSpPr>
          <p:cNvPr id="12" name="TextBox 11">
            <a:extLst>
              <a:ext uri="{FF2B5EF4-FFF2-40B4-BE49-F238E27FC236}">
                <a16:creationId xmlns:a16="http://schemas.microsoft.com/office/drawing/2014/main" id="{6C5FC02B-8ADF-7B47-2F40-24D412BC06CD}"/>
              </a:ext>
            </a:extLst>
          </p:cNvPr>
          <p:cNvSpPr txBox="1">
            <a:spLocks noGrp="1" noRot="1" noMove="1" noResize="1" noEditPoints="1" noAdjustHandles="1" noChangeArrowheads="1" noChangeShapeType="1"/>
          </p:cNvSpPr>
          <p:nvPr/>
        </p:nvSpPr>
        <p:spPr>
          <a:xfrm>
            <a:off x="609600" y="1397000"/>
            <a:ext cx="22733000" cy="584200"/>
          </a:xfrm>
          <a:prstGeom prst="rect">
            <a:avLst/>
          </a:prstGeom>
          <a:noFill/>
        </p:spPr>
        <p:txBody>
          <a:bodyPr wrap="square" lIns="114300" tIns="0" rIns="114300" bIns="0" anchor="t">
            <a:noAutofit/>
          </a:bodyPr>
          <a:lstStyle/>
          <a:p>
            <a:pPr algn="l">
              <a:spcBef>
                <a:spcPts val="0"/>
              </a:spcBef>
              <a:spcAft>
                <a:spcPts val="0"/>
              </a:spcAft>
            </a:pPr>
            <a:r>
              <a:rPr lang="en-US" sz="3200" b="1" i="0" dirty="0">
                <a:solidFill>
                  <a:srgbClr val="CFE0E9"/>
                </a:solidFill>
                <a:latin typeface="Times New Roman"/>
                <a:cs typeface="Times New Roman"/>
              </a:rPr>
              <a:t>with Tempered Class Weighting and a Reject Option for Imbalanced Network Flows</a:t>
            </a:r>
          </a:p>
        </p:txBody>
      </p:sp>
      <p:sp>
        <p:nvSpPr>
          <p:cNvPr id="14" name="TextBox 13">
            <a:extLst>
              <a:ext uri="{FF2B5EF4-FFF2-40B4-BE49-F238E27FC236}">
                <a16:creationId xmlns:a16="http://schemas.microsoft.com/office/drawing/2014/main" id="{BED68CFF-0D43-E6ED-92A9-0D197402D8AD}"/>
              </a:ext>
            </a:extLst>
          </p:cNvPr>
          <p:cNvSpPr txBox="1">
            <a:spLocks noGrp="1" noRot="1" noMove="1" noResize="1" noEditPoints="1" noAdjustHandles="1" noChangeArrowheads="1" noChangeShapeType="1"/>
          </p:cNvSpPr>
          <p:nvPr/>
        </p:nvSpPr>
        <p:spPr>
          <a:xfrm>
            <a:off x="609600" y="2235200"/>
            <a:ext cx="22733000" cy="457200"/>
          </a:xfrm>
          <a:prstGeom prst="rect">
            <a:avLst/>
          </a:prstGeom>
          <a:noFill/>
        </p:spPr>
        <p:txBody>
          <a:bodyPr wrap="square" lIns="114300" tIns="0" rIns="114300" bIns="0" anchor="t">
            <a:noAutofit/>
          </a:bodyPr>
          <a:lstStyle/>
          <a:p>
            <a:pPr algn="l">
              <a:spcBef>
                <a:spcPts val="0"/>
              </a:spcBef>
              <a:spcAft>
                <a:spcPts val="0"/>
              </a:spcAft>
            </a:pPr>
            <a:r>
              <a:rPr lang="en-US" sz="2300" b="1" i="0" dirty="0">
                <a:solidFill>
                  <a:srgbClr val="FFFFFF"/>
                </a:solidFill>
                <a:latin typeface="Times New Roman"/>
                <a:cs typeface="Times New Roman"/>
              </a:rPr>
              <a:t>Abidur Rahman (22-47460-2) · Parthib Datta (22-47465-2) · Md. Ebnul Ahsan (22-47464-2) · Mhamudul Hasan Ovi (22-47381-2)</a:t>
            </a:r>
          </a:p>
        </p:txBody>
      </p:sp>
      <p:sp>
        <p:nvSpPr>
          <p:cNvPr id="15" name="Rectangle 14">
            <a:extLst>
              <a:ext uri="{FF2B5EF4-FFF2-40B4-BE49-F238E27FC236}">
                <a16:creationId xmlns:a16="http://schemas.microsoft.com/office/drawing/2014/main" id="{D5728DCB-21B5-9CA7-DFC9-C2644A953AC2}"/>
              </a:ext>
            </a:extLst>
          </p:cNvPr>
          <p:cNvSpPr>
            <a:spLocks noGrp="1" noRot="1" noMove="1" noResize="1" noEditPoints="1" noAdjustHandles="1" noChangeArrowheads="1" noChangeShapeType="1"/>
          </p:cNvSpPr>
          <p:nvPr/>
        </p:nvSpPr>
        <p:spPr>
          <a:xfrm>
            <a:off x="0" y="42926000"/>
            <a:ext cx="27432000" cy="965200"/>
          </a:xfrm>
          <a:prstGeom prst="rect">
            <a:avLst/>
          </a:prstGeom>
          <a:solidFill>
            <a:srgbClr val="1E3A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18" name="Rectangle 17">
            <a:extLst>
              <a:ext uri="{FF2B5EF4-FFF2-40B4-BE49-F238E27FC236}">
                <a16:creationId xmlns:a16="http://schemas.microsoft.com/office/drawing/2014/main" id="{8169C2A6-9564-09BF-3989-9D297CD227B5}"/>
              </a:ext>
            </a:extLst>
          </p:cNvPr>
          <p:cNvSpPr>
            <a:spLocks noGrp="1" noRot="1" noMove="1" noResize="1" noEditPoints="1" noAdjustHandles="1" noChangeArrowheads="1" noChangeShapeType="1"/>
          </p:cNvSpPr>
          <p:nvPr/>
        </p:nvSpPr>
        <p:spPr>
          <a:xfrm>
            <a:off x="0" y="42926000"/>
            <a:ext cx="27432000" cy="965200"/>
          </a:xfrm>
          <a:prstGeom prst="rect">
            <a:avLst/>
          </a:prstGeom>
          <a:noFill/>
          <a:ln>
            <a:noFill/>
          </a:ln>
        </p:spPr>
        <p:txBody>
          <a:bodyPr wrap="square" lIns="0" tIns="0" rIns="0" bIns="0" anchor="ctr">
            <a:noAutofit/>
          </a:bodyPr>
          <a:lstStyle/>
          <a:p>
            <a:pPr algn="ctr">
              <a:spcBef>
                <a:spcPts val="0"/>
              </a:spcBef>
              <a:spcAft>
                <a:spcPts val="0"/>
              </a:spcAft>
            </a:pPr>
            <a:r>
              <a:rPr lang="en-US" sz="1800" b="0" i="0" dirty="0">
                <a:solidFill>
                  <a:srgbClr val="FFFFFF"/>
                </a:solidFill>
                <a:latin typeface="Times New Roman"/>
                <a:cs typeface="Times New Roman"/>
              </a:rPr>
              <a:t>Department of Computer Science, Faculty of Science and Technology · American International University-Bangladesh (AIUB)</a:t>
            </a:r>
          </a:p>
        </p:txBody>
      </p:sp>
      <p:pic>
        <p:nvPicPr>
          <p:cNvPr id="1026" name="Picture 2">
            <a:extLst>
              <a:ext uri="{FF2B5EF4-FFF2-40B4-BE49-F238E27FC236}">
                <a16:creationId xmlns:a16="http://schemas.microsoft.com/office/drawing/2014/main" id="{483903A7-9AB1-3F93-9E69-2D1474DD548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4130000" y="508000"/>
            <a:ext cx="2794000" cy="2794000"/>
          </a:xfrm>
          <a:prstGeom prst="rect">
            <a:avLst/>
          </a:prstGeom>
          <a:noFill/>
          <a:extLst>
            <a:ext uri="{909E8E84-426E-40DD-AFC4-6F175D3DCCD1}">
              <a14:hiddenFill xmlns:a14="http://schemas.microsoft.com/office/drawing/2010/main">
                <a:solidFill>
                  <a:srgbClr val="FFFFFF"/>
                </a:solidFill>
              </a14:hiddenFill>
            </a:ext>
          </a:extLst>
        </p:spPr>
      </p:pic>
      <p:sp>
        <p:nvSpPr>
          <p:cNvPr id="2001" name="Header Dept"/>
          <p:cNvSpPr txBox="1"/>
          <p:nvPr/>
        </p:nvSpPr>
        <p:spPr>
          <a:xfrm>
            <a:off x="609600" y="2895600"/>
            <a:ext cx="22733000" cy="406400"/>
          </a:xfrm>
          <a:prstGeom prst="rect">
            <a:avLst/>
          </a:prstGeom>
          <a:noFill/>
        </p:spPr>
        <p:txBody>
          <a:bodyPr wrap="square" lIns="114300" tIns="0" rIns="0" bIns="0">
            <a:noAutofit/>
          </a:bodyPr>
          <a:lstStyle/>
          <a:p>
            <a:r>
              <a:rPr lang="en-US" sz="2000" b="0" i="0" dirty="0">
                <a:solidFill>
                  <a:srgbClr val="9DB4C0"/>
                </a:solidFill>
                <a:latin typeface="Times New Roman"/>
                <a:cs typeface="Times New Roman"/>
              </a:rPr>
              <a:t>Department of Computer Science, Faculty of Science and Technology · American International University-Bangladesh (AIUB)</a:t>
            </a:r>
          </a:p>
        </p:txBody>
      </p:sp>
      <p:sp>
        <p:nvSpPr>
          <p:cNvPr id="2002" name="Header Rule"/>
          <p:cNvSpPr/>
          <p:nvPr/>
        </p:nvSpPr>
        <p:spPr>
          <a:xfrm>
            <a:off x="0" y="3810000"/>
            <a:ext cx="27432000" cy="88900"/>
          </a:xfrm>
          <a:prstGeom prst="rect">
            <a:avLst/>
          </a:prstGeom>
          <a:solidFill>
            <a:srgbClr val="D98E45"/>
          </a:solidFill>
          <a:ln>
            <a:noFill/>
          </a:ln>
        </p:spPr>
        <p:txBody>
          <a:bodyPr/>
          <a:lstStyle/>
          <a:p>
            <a:endParaRPr lang="en-US"/>
          </a:p>
        </p:txBody>
      </p:sp>
      <p:sp>
        <p:nvSpPr>
          <p:cNvPr id="2100" name="Section 1   INTRODUCTION"/>
          <p:cNvSpPr/>
          <p:nvPr/>
        </p:nvSpPr>
        <p:spPr>
          <a:xfrm>
            <a:off x="558800" y="4318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lnSpc>
                <a:spcPct val="100000"/>
              </a:lnSpc>
              <a:spcBef>
                <a:spcPts val="0"/>
              </a:spcBef>
              <a:spcAft>
                <a:spcPts val="0"/>
              </a:spcAft>
              <a:buNone/>
            </a:pPr>
            <a:r>
              <a:rPr lang="en-US" sz="2400" b="1" i="0" dirty="0">
                <a:solidFill>
                  <a:srgbClr val="FFFFFF"/>
                </a:solidFill>
                <a:latin typeface="Times New Roman"/>
                <a:cs typeface="Times New Roman"/>
              </a:rPr>
              <a:t>1   INTRODUCTION</a:t>
            </a:r>
          </a:p>
        </p:txBody>
      </p:sp>
      <p:sp>
        <p:nvSpPr>
          <p:cNvPr id="2101" name="Intro text"/>
          <p:cNvSpPr txBox="1"/>
          <p:nvPr/>
        </p:nvSpPr>
        <p:spPr>
          <a:xfrm>
            <a:off x="558800" y="5283200"/>
            <a:ext cx="8458200" cy="27305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2400" b="0" i="0" dirty="0">
                <a:solidFill>
                  <a:srgbClr val="1E2A32"/>
                </a:solidFill>
                <a:latin typeface="Times New Roman"/>
                <a:cs typeface="Times New Roman"/>
              </a:rPr>
              <a:t>Machine-learning intrusion detectors often report accuracy above 99%, yet miss the rare attack families that matter most. Two causes recur: </a:t>
            </a:r>
            <a:r>
              <a:rPr lang="en-US" sz="2400" b="1" i="0" dirty="0">
                <a:solidFill>
                  <a:srgbClr val="1E2A32"/>
                </a:solidFill>
                <a:latin typeface="Times New Roman"/>
                <a:cs typeface="Times New Roman"/>
              </a:rPr>
              <a:t>severe class imbalance</a:t>
            </a:r>
            <a:r>
              <a:rPr lang="en-US" sz="2400" b="0" i="0" dirty="0">
                <a:solidFill>
                  <a:srgbClr val="1E2A32"/>
                </a:solidFill>
                <a:latin typeface="Times New Roman"/>
                <a:cs typeface="Times New Roman"/>
              </a:rPr>
              <a:t>, which accuracy hides, and </a:t>
            </a:r>
            <a:r>
              <a:rPr lang="en-US" sz="2400" b="1" i="0" dirty="0">
                <a:solidFill>
                  <a:srgbClr val="1E2A32"/>
                </a:solidFill>
                <a:latin typeface="Times New Roman"/>
                <a:cs typeface="Times New Roman"/>
              </a:rPr>
              <a:t>evaluation leakage</a:t>
            </a:r>
            <a:r>
              <a:rPr lang="en-US" sz="2400" b="0" i="0" dirty="0">
                <a:solidFill>
                  <a:srgbClr val="1E2A32"/>
                </a:solidFill>
                <a:latin typeface="Times New Roman"/>
                <a:cs typeface="Times New Roman"/>
              </a:rPr>
              <a:t> from duplicate records crossing the train–test split. This thesis builds a leakage-safe, imbalance-aware two-stage system that detects attacks and names their family on CIC-UNSW-NB15, judged by </a:t>
            </a:r>
            <a:r>
              <a:rPr lang="en-US" sz="2400" b="1" i="0" dirty="0">
                <a:solidFill>
                  <a:srgbClr val="1E2A32"/>
                </a:solidFill>
                <a:latin typeface="Times New Roman"/>
                <a:cs typeface="Times New Roman"/>
              </a:rPr>
              <a:t>macro-F1</a:t>
            </a:r>
            <a:r>
              <a:rPr lang="en-US" sz="2400" b="0" i="0" dirty="0">
                <a:solidFill>
                  <a:srgbClr val="1E2A32"/>
                </a:solidFill>
                <a:latin typeface="Times New Roman"/>
                <a:cs typeface="Times New Roman"/>
              </a:rPr>
              <a:t> rather than accuracy.</a:t>
            </a:r>
          </a:p>
        </p:txBody>
      </p:sp>
      <p:sp>
        <p:nvSpPr>
          <p:cNvPr id="2102" name="Stat 97.5%"/>
          <p:cNvSpPr/>
          <p:nvPr/>
        </p:nvSpPr>
        <p:spPr>
          <a:xfrm>
            <a:off x="558800" y="82296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97.5%</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of full-release flows are benign</a:t>
            </a:r>
          </a:p>
        </p:txBody>
      </p:sp>
      <p:sp>
        <p:nvSpPr>
          <p:cNvPr id="2103" name="Stat 1,457 : 1"/>
          <p:cNvSpPr/>
          <p:nvPr/>
        </p:nvSpPr>
        <p:spPr>
          <a:xfrm>
            <a:off x="3467100" y="82296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10,392 : 1</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benign to Worms flows, after deduplication</a:t>
            </a:r>
          </a:p>
        </p:txBody>
      </p:sp>
      <p:sp>
        <p:nvSpPr>
          <p:cNvPr id="2104" name="Stat 31.6%"/>
          <p:cNvSpPr/>
          <p:nvPr/>
        </p:nvSpPr>
        <p:spPr>
          <a:xfrm>
            <a:off x="6375400" y="82296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26.4%</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of full-release records are duplicates</a:t>
            </a:r>
          </a:p>
        </p:txBody>
      </p:sp>
      <p:sp>
        <p:nvSpPr>
          <p:cNvPr id="2105" name="Objectives head"/>
          <p:cNvSpPr txBox="1"/>
          <p:nvPr/>
        </p:nvSpPr>
        <p:spPr>
          <a:xfrm>
            <a:off x="558800" y="10388600"/>
            <a:ext cx="8458200" cy="508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2800" b="1" i="0" dirty="0">
                <a:solidFill>
                  <a:srgbClr val="1E3A52"/>
                </a:solidFill>
                <a:latin typeface="Times New Roman"/>
                <a:cs typeface="Times New Roman"/>
              </a:rPr>
              <a:t>Research Objectives</a:t>
            </a:r>
          </a:p>
        </p:txBody>
      </p:sp>
      <p:sp>
        <p:nvSpPr>
          <p:cNvPr id="2106" name="Objectives"/>
          <p:cNvSpPr txBox="1"/>
          <p:nvPr/>
        </p:nvSpPr>
        <p:spPr>
          <a:xfrm>
            <a:off x="558800" y="10998200"/>
            <a:ext cx="8458200" cy="3429000"/>
          </a:xfrm>
          <a:prstGeom prst="rect">
            <a:avLst/>
          </a:prstGeom>
          <a:noFill/>
          <a:ln>
            <a:noFill/>
          </a:ln>
        </p:spPr>
        <p:txBody>
          <a:bodyPr wrap="square" lIns="0" tIns="0" rIns="0" bIns="0" rtlCol="0" anchor="t">
            <a:noAutofit/>
          </a:bodyPr>
          <a:lstStyle/>
          <a:p>
            <a:pPr marL="381000" indent="-381000" algn="l">
              <a:lnSpc>
                <a:spcPct val="100000"/>
              </a:lnSpc>
              <a:spcBef>
                <a:spcPts val="0"/>
              </a:spcBef>
              <a:spcAft>
                <a:spcPts val="800"/>
              </a:spcAft>
              <a:buClr>
                <a:srgbClr val="D98E45"/>
              </a:buClr>
              <a:buFont typeface="Arial"/>
              <a:buChar char="▪"/>
            </a:pPr>
            <a:r>
              <a:rPr lang="en-US" sz="2400" b="0" i="0" dirty="0">
                <a:solidFill>
                  <a:srgbClr val="1E2A32"/>
                </a:solidFill>
                <a:latin typeface="Times New Roman"/>
                <a:cs typeface="Times New Roman"/>
              </a:rPr>
              <a:t>Build a </a:t>
            </a:r>
            <a:r>
              <a:rPr lang="en-US" sz="2400" b="1" i="0" dirty="0">
                <a:solidFill>
                  <a:srgbClr val="1E2A32"/>
                </a:solidFill>
                <a:latin typeface="Times New Roman"/>
                <a:cs typeface="Times New Roman"/>
              </a:rPr>
              <a:t>leakage-safe pipeline</a:t>
            </a:r>
            <a:r>
              <a:rPr lang="en-US" sz="2400" b="0" i="0" dirty="0">
                <a:solidFill>
                  <a:srgbClr val="1E2A32"/>
                </a:solidFill>
                <a:latin typeface="Times New Roman"/>
                <a:cs typeface="Times New Roman"/>
              </a:rPr>
              <a:t>: deduplicate first, fit every label-dependent step on training data only</a:t>
            </a:r>
          </a:p>
          <a:p>
            <a:pPr marL="381000" indent="-381000" algn="l">
              <a:lnSpc>
                <a:spcPct val="100000"/>
              </a:lnSpc>
              <a:spcBef>
                <a:spcPts val="0"/>
              </a:spcBef>
              <a:spcAft>
                <a:spcPts val="800"/>
              </a:spcAft>
              <a:buClr>
                <a:srgbClr val="D98E45"/>
              </a:buClr>
              <a:buFont typeface="Arial"/>
              <a:buChar char="▪"/>
            </a:pPr>
            <a:r>
              <a:rPr lang="en-US" sz="2400" b="0" i="0" dirty="0">
                <a:solidFill>
                  <a:srgbClr val="1E2A32"/>
                </a:solidFill>
                <a:latin typeface="Times New Roman"/>
                <a:cs typeface="Times New Roman"/>
              </a:rPr>
              <a:t>Compare </a:t>
            </a:r>
            <a:r>
              <a:rPr lang="en-US" sz="2400" b="1" i="0" dirty="0">
                <a:solidFill>
                  <a:srgbClr val="1E2A32"/>
                </a:solidFill>
                <a:latin typeface="Times New Roman"/>
                <a:cs typeface="Times New Roman"/>
              </a:rPr>
              <a:t>class-imbalance treatments</a:t>
            </a:r>
            <a:r>
              <a:rPr lang="en-US" sz="2400" b="0" i="0" dirty="0">
                <a:solidFill>
                  <a:srgbClr val="1E2A32"/>
                </a:solidFill>
                <a:latin typeface="Times New Roman"/>
                <a:cs typeface="Times New Roman"/>
              </a:rPr>
              <a:t> (class weighting, tempered weighting, SMOTE) on rare families</a:t>
            </a:r>
          </a:p>
          <a:p>
            <a:pPr marL="381000" indent="-381000" algn="l">
              <a:lnSpc>
                <a:spcPct val="100000"/>
              </a:lnSpc>
              <a:spcBef>
                <a:spcPts val="0"/>
              </a:spcBef>
              <a:spcAft>
                <a:spcPts val="800"/>
              </a:spcAft>
              <a:buClr>
                <a:srgbClr val="D98E45"/>
              </a:buClr>
              <a:buFont typeface="Arial"/>
              <a:buChar char="▪"/>
            </a:pPr>
            <a:r>
              <a:rPr lang="en-US" sz="2400" b="0" i="0" dirty="0">
                <a:solidFill>
                  <a:srgbClr val="1E2A32"/>
                </a:solidFill>
                <a:latin typeface="Times New Roman"/>
                <a:cs typeface="Times New Roman"/>
              </a:rPr>
              <a:t>Design a </a:t>
            </a:r>
            <a:r>
              <a:rPr lang="en-US" sz="2400" b="1" i="0" dirty="0">
                <a:solidFill>
                  <a:srgbClr val="1E2A32"/>
                </a:solidFill>
                <a:latin typeface="Times New Roman"/>
                <a:cs typeface="Times New Roman"/>
              </a:rPr>
              <a:t>two-stage gate + family ensemble</a:t>
            </a:r>
            <a:r>
              <a:rPr lang="en-US" sz="2400" b="0" i="0" dirty="0">
                <a:solidFill>
                  <a:srgbClr val="1E2A32"/>
                </a:solidFill>
                <a:latin typeface="Times New Roman"/>
                <a:cs typeface="Times New Roman"/>
              </a:rPr>
              <a:t> and test each component with paired bootstrap tests</a:t>
            </a:r>
          </a:p>
          <a:p>
            <a:pPr marL="381000" indent="-381000" algn="l">
              <a:lnSpc>
                <a:spcPct val="100000"/>
              </a:lnSpc>
              <a:spcBef>
                <a:spcPts val="0"/>
              </a:spcBef>
              <a:spcAft>
                <a:spcPts val="0"/>
              </a:spcAft>
              <a:buClr>
                <a:srgbClr val="D98E45"/>
              </a:buClr>
              <a:buFont typeface="Arial"/>
              <a:buChar char="▪"/>
            </a:pPr>
            <a:r>
              <a:rPr lang="en-US" sz="2400" b="0" i="0" dirty="0">
                <a:solidFill>
                  <a:srgbClr val="1E2A32"/>
                </a:solidFill>
                <a:latin typeface="Times New Roman"/>
                <a:cs typeface="Times New Roman"/>
              </a:rPr>
              <a:t>Evaluate at the </a:t>
            </a:r>
            <a:r>
              <a:rPr lang="en-US" sz="2400" b="1" i="0" dirty="0">
                <a:solidFill>
                  <a:srgbClr val="1E2A32"/>
                </a:solidFill>
                <a:latin typeface="Times New Roman"/>
                <a:cs typeface="Times New Roman"/>
              </a:rPr>
              <a:t>realistic 97.5% benign base rate</a:t>
            </a:r>
            <a:r>
              <a:rPr lang="en-US" sz="2400" b="0" i="0" dirty="0">
                <a:solidFill>
                  <a:srgbClr val="1E2A32"/>
                </a:solidFill>
                <a:latin typeface="Times New Roman"/>
                <a:cs typeface="Times New Roman"/>
              </a:rPr>
              <a:t> and under perturbed inputs</a:t>
            </a:r>
          </a:p>
        </p:txBody>
      </p:sp>
      <p:sp>
        <p:nvSpPr>
          <p:cNvPr id="2107" name="Section 2   METHODOLOGY"/>
          <p:cNvSpPr/>
          <p:nvPr/>
        </p:nvSpPr>
        <p:spPr>
          <a:xfrm>
            <a:off x="558800" y="14732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lnSpc>
                <a:spcPct val="100000"/>
              </a:lnSpc>
              <a:spcBef>
                <a:spcPts val="0"/>
              </a:spcBef>
              <a:spcAft>
                <a:spcPts val="0"/>
              </a:spcAft>
              <a:buNone/>
            </a:pPr>
            <a:r>
              <a:rPr lang="en-US" sz="2400" b="1" i="0" dirty="0">
                <a:solidFill>
                  <a:srgbClr val="FFFFFF"/>
                </a:solidFill>
                <a:latin typeface="Times New Roman"/>
                <a:cs typeface="Times New Roman"/>
              </a:rPr>
              <a:t>2   METHODOLOGY</a:t>
            </a:r>
          </a:p>
        </p:txBody>
      </p:sp>
      <p:sp>
        <p:nvSpPr>
          <p:cNvPr id="2108" name="Method text"/>
          <p:cNvSpPr txBox="1"/>
          <p:nvPr/>
        </p:nvSpPr>
        <p:spPr>
          <a:xfrm>
            <a:off x="558800" y="15697200"/>
            <a:ext cx="8458200" cy="12065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2400" b="0" i="0" dirty="0">
                <a:solidFill>
                  <a:srgbClr val="1E2A32"/>
                </a:solidFill>
                <a:latin typeface="Times New Roman"/>
                <a:cs typeface="Times New Roman"/>
              </a:rPr>
              <a:t>The final system was trained on 2,085,442 flows and tested once on 521,361 held-out flows of the </a:t>
            </a:r>
            <a:r>
              <a:rPr lang="en-US" sz="2400" b="1" i="0" dirty="0">
                <a:solidFill>
                  <a:srgbClr val="1E2A32"/>
                </a:solidFill>
                <a:latin typeface="Times New Roman"/>
                <a:cs typeface="Times New Roman"/>
              </a:rPr>
              <a:t>full release (3.54M flows)</a:t>
            </a:r>
            <a:r>
              <a:rPr lang="en-US" sz="2400" b="0" i="0" dirty="0">
                <a:solidFill>
                  <a:srgbClr val="1E2A32"/>
                </a:solidFill>
                <a:latin typeface="Times New Roman"/>
                <a:cs typeface="Times New Roman"/>
              </a:rPr>
              <a:t>.</a:t>
            </a:r>
          </a:p>
        </p:txBody>
      </p:sp>
      <p:sp>
        <p:nvSpPr>
          <p:cNvPr id="2122" name="Fig 1 caption"/>
          <p:cNvSpPr txBox="1"/>
          <p:nvPr/>
        </p:nvSpPr>
        <p:spPr>
          <a:xfrm>
            <a:off x="558800" y="22199600"/>
            <a:ext cx="8458200" cy="381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0" i="1" dirty="0">
                <a:solidFill>
                  <a:srgbClr val="203864"/>
                </a:solidFill>
                <a:latin typeface="Times New Roman"/>
                <a:cs typeface="Times New Roman"/>
              </a:rPr>
              <a:t>Figure 1: Research flow, from data collection to result analysis</a:t>
            </a:r>
          </a:p>
        </p:txBody>
      </p:sp>
      <p:sp>
        <p:nvSpPr>
          <p:cNvPr id="2200" name="Section 3"/>
          <p:cNvSpPr/>
          <p:nvPr/>
        </p:nvSpPr>
        <p:spPr>
          <a:xfrm>
            <a:off x="558800" y="22860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spcBef>
                <a:spcPts val="0"/>
              </a:spcBef>
              <a:spcAft>
                <a:spcPts val="0"/>
              </a:spcAft>
              <a:buNone/>
            </a:pPr>
            <a:r>
              <a:rPr lang="en-US" sz="2400" b="1" i="0" dirty="0">
                <a:solidFill>
                  <a:srgbClr val="FFFFFF"/>
                </a:solidFill>
                <a:latin typeface="Times New Roman"/>
                <a:cs typeface="Times New Roman"/>
              </a:rPr>
              <a:t>3   DATASET &amp; PREPROCESSING</a:t>
            </a:r>
          </a:p>
        </p:txBody>
      </p:sp>
      <p:sp>
        <p:nvSpPr>
          <p:cNvPr id="2201" name="Dataset text"/>
          <p:cNvSpPr txBox="1"/>
          <p:nvPr/>
        </p:nvSpPr>
        <p:spPr>
          <a:xfrm>
            <a:off x="558800" y="23825200"/>
            <a:ext cx="8458200" cy="12065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400" b="0" i="0" dirty="0">
                <a:solidFill>
                  <a:srgbClr val="1E2A32"/>
                </a:solidFill>
                <a:latin typeface="Times New Roman"/>
                <a:cs typeface="Times New Roman"/>
              </a:rPr>
              <a:t>CIC-UNSW-NB15 (2024) re-extracts UNSW-NB15 traffic with CICFlowMeter: </a:t>
            </a:r>
            <a:r>
              <a:rPr lang="en-US" sz="2400" b="1" i="0" dirty="0">
                <a:solidFill>
                  <a:srgbClr val="1E2A32"/>
                </a:solidFill>
                <a:latin typeface="Times New Roman"/>
                <a:cs typeface="Times New Roman"/>
              </a:rPr>
              <a:t>76 flow statistics</a:t>
            </a:r>
            <a:r>
              <a:rPr lang="en-US" sz="2400" b="0" i="0" dirty="0">
                <a:solidFill>
                  <a:srgbClr val="1E2A32"/>
                </a:solidFill>
                <a:latin typeface="Times New Roman"/>
                <a:cs typeface="Times New Roman"/>
              </a:rPr>
              <a:t> per record. Steps that use labels run after the split, on training data only.</a:t>
            </a:r>
          </a:p>
        </p:txBody>
      </p:sp>
      <p:sp>
        <p:nvSpPr>
          <p:cNvPr id="2203" name="Fig 2 caption new"/>
          <p:cNvSpPr txBox="1"/>
          <p:nvPr/>
        </p:nvSpPr>
        <p:spPr>
          <a:xfrm>
            <a:off x="558800" y="33680400"/>
            <a:ext cx="8458200" cy="381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0" i="1" dirty="0">
                <a:solidFill>
                  <a:srgbClr val="203864"/>
                </a:solidFill>
                <a:latin typeface="Times New Roman"/>
                <a:cs typeface="Times New Roman"/>
              </a:rPr>
              <a:t>Figure 2: Preprocessing pipeline, full release</a:t>
            </a:r>
          </a:p>
        </p:txBody>
      </p:sp>
      <p:sp>
        <p:nvSpPr>
          <p:cNvPr id="2204" name="Chart 1 label"/>
          <p:cNvSpPr txBox="1"/>
          <p:nvPr/>
        </p:nvSpPr>
        <p:spPr>
          <a:xfrm>
            <a:off x="558800" y="34290000"/>
            <a:ext cx="8458200" cy="431800"/>
          </a:xfrm>
          <a:prstGeom prst="rect">
            <a:avLst/>
          </a:prstGeom>
          <a:noFill/>
          <a:ln>
            <a:noFill/>
          </a:ln>
        </p:spPr>
        <p:txBody>
          <a:bodyPr wrap="square" lIns="91440" tIns="0" rIns="91440" bIns="0" rtlCol="0" anchor="t">
            <a:noAutofit/>
          </a:bodyPr>
          <a:lstStyle/>
          <a:p>
            <a:pPr marL="0" indent="0" algn="l">
              <a:spcBef>
                <a:spcPts val="0"/>
              </a:spcBef>
              <a:spcAft>
                <a:spcPts val="0"/>
              </a:spcAft>
              <a:buNone/>
            </a:pPr>
            <a:r>
              <a:rPr lang="en-US" sz="2200" b="1" i="0" dirty="0">
                <a:solidFill>
                  <a:srgbClr val="1E3A52"/>
                </a:solidFill>
                <a:latin typeface="Times New Roman"/>
                <a:cs typeface="Times New Roman"/>
              </a:rPr>
              <a:t>Attack flows per family, full release (after deduplication)</a:t>
            </a:r>
          </a:p>
        </p:txBody>
      </p:sp>
      <p:sp>
        <p:nvSpPr>
          <p:cNvPr id="2250" name="Fig 2 caption"/>
          <p:cNvSpPr txBox="1"/>
          <p:nvPr/>
        </p:nvSpPr>
        <p:spPr>
          <a:xfrm>
            <a:off x="558800" y="41859200"/>
            <a:ext cx="8458200" cy="381000"/>
          </a:xfrm>
          <a:prstGeom prst="rect">
            <a:avLst/>
          </a:prstGeom>
          <a:noFill/>
        </p:spPr>
        <p:txBody>
          <a:bodyPr wrap="square" lIns="0" tIns="0" rIns="0" bIns="0">
            <a:noAutofit/>
          </a:bodyPr>
          <a:lstStyle/>
          <a:p>
            <a:pPr algn="ctr"/>
            <a:r>
              <a:rPr lang="en-US" sz="1900" i="1" dirty="0">
                <a:solidFill>
                  <a:srgbClr val="203864"/>
                </a:solidFill>
                <a:latin typeface="Times New Roman"/>
                <a:cs typeface="Times New Roman"/>
              </a:rPr>
              <a:t>Figure 3: Class imbalance. Worms has 243 flows against 2,525,314 benign</a:t>
            </a:r>
          </a:p>
        </p:txBody>
      </p:sp>
      <p:graphicFrame>
        <p:nvGraphicFramePr>
          <p:cNvPr id="2251" name="Chart"/>
          <p:cNvGraphicFramePr/>
          <p:nvPr/>
        </p:nvGraphicFramePr>
        <p:xfrm>
          <a:off x="558800" y="34798000"/>
          <a:ext cx="8458200" cy="6985000"/>
        </p:xfrm>
        <a:graphic>
          <a:graphicData uri="http://schemas.openxmlformats.org/drawingml/2006/chart">
            <c:chart xmlns:c="http://schemas.openxmlformats.org/drawingml/2006/chart" xmlns:r="http://schemas.openxmlformats.org/officeDocument/2006/relationships" r:id="rId3"/>
          </a:graphicData>
        </a:graphic>
      </p:graphicFrame>
      <p:sp>
        <p:nvSpPr>
          <p:cNvPr id="2300" name="Section 4"/>
          <p:cNvSpPr/>
          <p:nvPr/>
        </p:nvSpPr>
        <p:spPr>
          <a:xfrm>
            <a:off x="9474200" y="4318000"/>
            <a:ext cx="8458200" cy="736600"/>
          </a:xfrm>
          <a:prstGeom prst="roundRect">
            <a:avLst>
              <a:gd name="adj" fmla="val 12000"/>
            </a:avLst>
          </a:prstGeom>
          <a:solidFill>
            <a:srgbClr val="1E3A52"/>
          </a:solidFill>
          <a:ln>
            <a:noFill/>
          </a:ln>
        </p:spPr>
        <p:txBody>
          <a:bodyPr wrap="square" lIns="254000" tIns="0" rIns="254000" bIns="0" rtlCol="0" anchor="ctr">
            <a:noAutofit/>
          </a:bodyPr>
          <a:lstStyle/>
          <a:p>
            <a:pPr marL="0" indent="0" algn="l">
              <a:spcBef>
                <a:spcPts val="0"/>
              </a:spcBef>
              <a:spcAft>
                <a:spcPts val="0"/>
              </a:spcAft>
              <a:buNone/>
            </a:pPr>
            <a:r>
              <a:rPr lang="en-US" sz="2400" b="1" i="0" dirty="0">
                <a:solidFill>
                  <a:srgbClr val="FFFFFF"/>
                </a:solidFill>
                <a:latin typeface="Times New Roman"/>
                <a:cs typeface="Times New Roman"/>
              </a:rPr>
              <a:t>4   SYSTEM ARCHITECTURE</a:t>
            </a:r>
          </a:p>
        </p:txBody>
      </p:sp>
      <p:sp>
        <p:nvSpPr>
          <p:cNvPr id="2301" name="Arch text"/>
          <p:cNvSpPr txBox="1"/>
          <p:nvPr/>
        </p:nvSpPr>
        <p:spPr>
          <a:xfrm>
            <a:off x="9474200" y="5283200"/>
            <a:ext cx="8458200" cy="12065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400" b="0" i="0" dirty="0">
                <a:solidFill>
                  <a:srgbClr val="1E2A32"/>
                </a:solidFill>
                <a:latin typeface="Times New Roman"/>
                <a:cs typeface="Times New Roman"/>
              </a:rPr>
              <a:t>A binary </a:t>
            </a:r>
            <a:r>
              <a:rPr lang="en-US" sz="2400" b="1" i="0" dirty="0">
                <a:solidFill>
                  <a:srgbClr val="1E2A32"/>
                </a:solidFill>
                <a:latin typeface="Times New Roman"/>
                <a:cs typeface="Times New Roman"/>
              </a:rPr>
              <a:t>gate</a:t>
            </a:r>
            <a:r>
              <a:rPr lang="en-US" sz="2400" b="0" i="0" dirty="0">
                <a:solidFill>
                  <a:srgbClr val="1E2A32"/>
                </a:solidFill>
                <a:latin typeface="Times New Roman"/>
                <a:cs typeface="Times New Roman"/>
              </a:rPr>
              <a:t> screens every flow; only suspected attacks reach a </a:t>
            </a:r>
            <a:r>
              <a:rPr lang="en-US" sz="2400" b="1" i="0" dirty="0">
                <a:solidFill>
                  <a:srgbClr val="1E2A32"/>
                </a:solidFill>
                <a:latin typeface="Times New Roman"/>
                <a:cs typeface="Times New Roman"/>
              </a:rPr>
              <a:t>seven-member ensemble</a:t>
            </a:r>
            <a:r>
              <a:rPr lang="en-US" sz="2400" b="0" i="0" dirty="0">
                <a:solidFill>
                  <a:srgbClr val="1E2A32"/>
                </a:solidFill>
                <a:latin typeface="Times New Roman"/>
                <a:cs typeface="Times New Roman"/>
              </a:rPr>
              <a:t> that names the family. Members differ in how strongly they rebalance classes.</a:t>
            </a:r>
          </a:p>
        </p:txBody>
      </p:sp>
      <p:sp>
        <p:nvSpPr>
          <p:cNvPr id="2302" name="Input box"/>
          <p:cNvSpPr/>
          <p:nvPr/>
        </p:nvSpPr>
        <p:spPr>
          <a:xfrm>
            <a:off x="9474200" y="6705600"/>
            <a:ext cx="8458200" cy="990600"/>
          </a:xfrm>
          <a:prstGeom prst="roundRect">
            <a:avLst>
              <a:gd name="adj" fmla="val 12000"/>
            </a:avLst>
          </a:prstGeom>
          <a:solidFill>
            <a:srgbClr val="EEF2F4"/>
          </a:solidFill>
          <a:ln>
            <a:noFill/>
          </a:ln>
        </p:spPr>
        <p:txBody>
          <a:bodyPr wrap="square" lIns="203200" tIns="0" rIns="203200" bIns="0" rtlCol="0" anchor="ctr">
            <a:noAutofit/>
          </a:bodyPr>
          <a:lstStyle/>
          <a:p>
            <a:pPr marL="0" indent="0" algn="ctr">
              <a:spcBef>
                <a:spcPts val="0"/>
              </a:spcBef>
              <a:spcAft>
                <a:spcPts val="0"/>
              </a:spcAft>
              <a:buNone/>
            </a:pPr>
            <a:r>
              <a:rPr lang="en-US" sz="2300" b="1" i="0" dirty="0">
                <a:solidFill>
                  <a:srgbClr val="1E3A52"/>
                </a:solidFill>
                <a:latin typeface="Times New Roman"/>
                <a:cs typeface="Times New Roman"/>
              </a:rPr>
              <a:t>Input: bidirectional flow record</a:t>
            </a:r>
          </a:p>
          <a:p>
            <a:pPr marL="0" indent="0" algn="ctr">
              <a:spcBef>
                <a:spcPts val="0"/>
              </a:spcBef>
              <a:spcAft>
                <a:spcPts val="0"/>
              </a:spcAft>
              <a:buNone/>
            </a:pPr>
            <a:r>
              <a:rPr lang="en-US" sz="2000" b="0" i="0" dirty="0">
                <a:solidFill>
                  <a:srgbClr val="1E2A32"/>
                </a:solidFill>
                <a:latin typeface="Times New Roman"/>
                <a:cs typeface="Times New Roman"/>
              </a:rPr>
              <a:t>76 CICFlowMeter statistics + destination port + protocol</a:t>
            </a:r>
          </a:p>
        </p:txBody>
      </p:sp>
      <p:cxnSp>
        <p:nvCxnSpPr>
          <p:cNvPr id="2303" name="Arrow"/>
          <p:cNvCxnSpPr/>
          <p:nvPr/>
        </p:nvCxnSpPr>
        <p:spPr>
          <a:xfrm>
            <a:off x="13703300" y="7696200"/>
            <a:ext cx="0" cy="431800"/>
          </a:xfrm>
          <a:prstGeom prst="straightConnector1">
            <a:avLst/>
          </a:prstGeom>
          <a:ln w="38100">
            <a:solidFill>
              <a:srgbClr val="7F8F9C"/>
            </a:solidFill>
            <a:tailEnd type="triangle" w="med" len="med"/>
          </a:ln>
        </p:spPr>
      </p:cxnSp>
      <p:sp>
        <p:nvSpPr>
          <p:cNvPr id="2304" name="Feature box"/>
          <p:cNvSpPr/>
          <p:nvPr/>
        </p:nvSpPr>
        <p:spPr>
          <a:xfrm>
            <a:off x="9474200" y="8153400"/>
            <a:ext cx="8458200" cy="1625600"/>
          </a:xfrm>
          <a:prstGeom prst="roundRect">
            <a:avLst>
              <a:gd name="adj" fmla="val 12000"/>
            </a:avLst>
          </a:prstGeom>
          <a:solidFill>
            <a:srgbClr val="EEF2F4"/>
          </a:solidFill>
          <a:ln>
            <a:noFill/>
          </a:ln>
        </p:spPr>
        <p:txBody>
          <a:bodyPr wrap="square" lIns="203200" tIns="152400" rIns="203200" bIns="152400" rtlCol="0" anchor="t">
            <a:noAutofit/>
          </a:bodyPr>
          <a:lstStyle/>
          <a:p>
            <a:pPr marL="0" indent="0" algn="ctr">
              <a:spcBef>
                <a:spcPts val="0"/>
              </a:spcBef>
              <a:spcAft>
                <a:spcPts val="0"/>
              </a:spcAft>
              <a:buNone/>
            </a:pPr>
            <a:r>
              <a:rPr lang="en-US" sz="2300" b="1" i="0" dirty="0">
                <a:solidFill>
                  <a:srgbClr val="1E3A52"/>
                </a:solidFill>
                <a:latin typeface="Times New Roman"/>
                <a:cs typeface="Times New Roman"/>
              </a:rPr>
              <a:t>Feature construction: 99 features</a:t>
            </a:r>
          </a:p>
        </p:txBody>
      </p:sp>
      <p:sp>
        <p:nvSpPr>
          <p:cNvPr id="2305" name="Feat chip 0"/>
          <p:cNvSpPr/>
          <p:nvPr/>
        </p:nvSpPr>
        <p:spPr>
          <a:xfrm>
            <a:off x="9677400" y="8788400"/>
            <a:ext cx="2489200" cy="7874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200" b="1" i="0" dirty="0">
                <a:solidFill>
                  <a:srgbClr val="D98E45"/>
                </a:solidFill>
                <a:latin typeface="Times New Roman"/>
                <a:cs typeface="Times New Roman"/>
              </a:rPr>
              <a:t>43 </a:t>
            </a:r>
            <a:r>
              <a:rPr lang="en-US" sz="1900" b="0" i="0" dirty="0">
                <a:solidFill>
                  <a:srgbClr val="1E2A32"/>
                </a:solidFill>
                <a:latin typeface="Times New Roman"/>
                <a:cs typeface="Times New Roman"/>
              </a:rPr>
              <a:t>base features</a:t>
            </a:r>
          </a:p>
        </p:txBody>
      </p:sp>
      <p:sp>
        <p:nvSpPr>
          <p:cNvPr id="2306" name="Feat chip 1"/>
          <p:cNvSpPr/>
          <p:nvPr/>
        </p:nvSpPr>
        <p:spPr>
          <a:xfrm>
            <a:off x="12458700" y="8788400"/>
            <a:ext cx="2489200" cy="7874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200" b="1" i="0" dirty="0">
                <a:solidFill>
                  <a:srgbClr val="D98E45"/>
                </a:solidFill>
                <a:latin typeface="Times New Roman"/>
                <a:cs typeface="Times New Roman"/>
              </a:rPr>
              <a:t>31 </a:t>
            </a:r>
            <a:r>
              <a:rPr lang="en-US" sz="1900" b="0" i="0" dirty="0">
                <a:solidFill>
                  <a:srgbClr val="1E2A32"/>
                </a:solidFill>
                <a:latin typeface="Times New Roman"/>
                <a:cs typeface="Times New Roman"/>
              </a:rPr>
              <a:t>behavioural ratios</a:t>
            </a:r>
          </a:p>
        </p:txBody>
      </p:sp>
      <p:sp>
        <p:nvSpPr>
          <p:cNvPr id="2307" name="Feat chip 2"/>
          <p:cNvSpPr/>
          <p:nvPr/>
        </p:nvSpPr>
        <p:spPr>
          <a:xfrm>
            <a:off x="15240000" y="8788400"/>
            <a:ext cx="2489200" cy="7874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200" b="1" i="0" dirty="0">
                <a:solidFill>
                  <a:srgbClr val="D98E45"/>
                </a:solidFill>
                <a:latin typeface="Times New Roman"/>
                <a:cs typeface="Times New Roman"/>
              </a:rPr>
              <a:t>25 </a:t>
            </a:r>
            <a:r>
              <a:rPr lang="en-US" sz="1900" b="0" i="0" dirty="0">
                <a:solidFill>
                  <a:srgbClr val="1E2A32"/>
                </a:solidFill>
                <a:latin typeface="Times New Roman"/>
                <a:cs typeface="Times New Roman"/>
              </a:rPr>
              <a:t>service identity</a:t>
            </a:r>
          </a:p>
        </p:txBody>
      </p:sp>
      <p:cxnSp>
        <p:nvCxnSpPr>
          <p:cNvPr id="2308" name="Arrow"/>
          <p:cNvCxnSpPr/>
          <p:nvPr/>
        </p:nvCxnSpPr>
        <p:spPr>
          <a:xfrm>
            <a:off x="12458700" y="9779000"/>
            <a:ext cx="0" cy="431800"/>
          </a:xfrm>
          <a:prstGeom prst="straightConnector1">
            <a:avLst/>
          </a:prstGeom>
          <a:ln w="38100">
            <a:solidFill>
              <a:srgbClr val="7F8F9C"/>
            </a:solidFill>
            <a:tailEnd type="triangle" w="med" len="med"/>
          </a:ln>
        </p:spPr>
      </p:cxnSp>
      <p:sp>
        <p:nvSpPr>
          <p:cNvPr id="2309" name="Stage A"/>
          <p:cNvSpPr/>
          <p:nvPr/>
        </p:nvSpPr>
        <p:spPr>
          <a:xfrm>
            <a:off x="9474200" y="10236200"/>
            <a:ext cx="5969000" cy="1320800"/>
          </a:xfrm>
          <a:prstGeom prst="roundRect">
            <a:avLst>
              <a:gd name="adj" fmla="val 12000"/>
            </a:avLst>
          </a:prstGeom>
          <a:solidFill>
            <a:srgbClr val="1E3A52"/>
          </a:solidFill>
          <a:ln>
            <a:noFill/>
          </a:ln>
        </p:spPr>
        <p:txBody>
          <a:bodyPr wrap="square" lIns="203200" tIns="0" rIns="203200" bIns="0" rtlCol="0" anchor="ctr">
            <a:noAutofit/>
          </a:bodyPr>
          <a:lstStyle/>
          <a:p>
            <a:pPr marL="0" indent="0" algn="ctr">
              <a:spcBef>
                <a:spcPts val="0"/>
              </a:spcBef>
              <a:spcAft>
                <a:spcPts val="200"/>
              </a:spcAft>
              <a:buNone/>
            </a:pPr>
            <a:r>
              <a:rPr lang="en-US" sz="2300" b="1" i="0" dirty="0">
                <a:solidFill>
                  <a:srgbClr val="FFFFFF"/>
                </a:solidFill>
                <a:latin typeface="Times New Roman"/>
                <a:cs typeface="Times New Roman"/>
              </a:rPr>
              <a:t>STAGE A · Detection gate</a:t>
            </a:r>
          </a:p>
          <a:p>
            <a:pPr marL="0" indent="0" algn="ctr">
              <a:spcBef>
                <a:spcPts val="0"/>
              </a:spcBef>
              <a:spcAft>
                <a:spcPts val="0"/>
              </a:spcAft>
              <a:buNone/>
            </a:pPr>
            <a:r>
              <a:rPr lang="en-US" sz="2000" b="0" i="0" dirty="0">
                <a:solidFill>
                  <a:srgbClr val="CFE0E9"/>
                </a:solidFill>
                <a:latin typeface="Times New Roman"/>
                <a:cs typeface="Times New Roman"/>
              </a:rPr>
              <a:t>Binary XGBoost: is P(attack) &gt; 0.7? (t set on SELV)</a:t>
            </a:r>
          </a:p>
        </p:txBody>
      </p:sp>
      <p:cxnSp>
        <p:nvCxnSpPr>
          <p:cNvPr id="2310" name="Arrow"/>
          <p:cNvCxnSpPr/>
          <p:nvPr/>
        </p:nvCxnSpPr>
        <p:spPr>
          <a:xfrm>
            <a:off x="15443200" y="10896600"/>
            <a:ext cx="533400" cy="0"/>
          </a:xfrm>
          <a:prstGeom prst="straightConnector1">
            <a:avLst/>
          </a:prstGeom>
          <a:ln w="38100">
            <a:solidFill>
              <a:srgbClr val="7F8F9C"/>
            </a:solidFill>
            <a:tailEnd type="triangle" w="med" len="med"/>
          </a:ln>
        </p:spPr>
      </p:cxnSp>
      <p:sp>
        <p:nvSpPr>
          <p:cNvPr id="2311" name="Benign out"/>
          <p:cNvSpPr/>
          <p:nvPr/>
        </p:nvSpPr>
        <p:spPr>
          <a:xfrm>
            <a:off x="16002000" y="10439400"/>
            <a:ext cx="1930400" cy="914400"/>
          </a:xfrm>
          <a:prstGeom prst="roundRect">
            <a:avLst>
              <a:gd name="adj" fmla="val 12000"/>
            </a:avLst>
          </a:prstGeom>
          <a:solidFill>
            <a:srgbClr val="FFFFFF"/>
          </a:solidFill>
          <a:ln w="25400">
            <a:solidFill>
              <a:srgbClr val="7F8F9C"/>
            </a:solidFill>
          </a:ln>
        </p:spPr>
        <p:txBody>
          <a:bodyPr wrap="square" lIns="0" tIns="0" rIns="0" bIns="0" rtlCol="0" anchor="ctr">
            <a:noAutofit/>
          </a:bodyPr>
          <a:lstStyle/>
          <a:p>
            <a:pPr marL="0" indent="0" algn="ctr">
              <a:spcBef>
                <a:spcPts val="0"/>
              </a:spcBef>
              <a:spcAft>
                <a:spcPts val="0"/>
              </a:spcAft>
              <a:buNone/>
            </a:pPr>
            <a:r>
              <a:rPr lang="en-US" sz="2100" b="1" i="0" dirty="0">
                <a:solidFill>
                  <a:srgbClr val="1E3A52"/>
                </a:solidFill>
                <a:latin typeface="Times New Roman"/>
                <a:cs typeface="Times New Roman"/>
              </a:rPr>
              <a:t>No → Benign</a:t>
            </a:r>
          </a:p>
        </p:txBody>
      </p:sp>
      <p:cxnSp>
        <p:nvCxnSpPr>
          <p:cNvPr id="2312" name="Arrow"/>
          <p:cNvCxnSpPr/>
          <p:nvPr/>
        </p:nvCxnSpPr>
        <p:spPr>
          <a:xfrm>
            <a:off x="12458700" y="11557000"/>
            <a:ext cx="0" cy="508000"/>
          </a:xfrm>
          <a:prstGeom prst="straightConnector1">
            <a:avLst/>
          </a:prstGeom>
          <a:ln w="38100">
            <a:solidFill>
              <a:srgbClr val="7F8F9C"/>
            </a:solidFill>
            <a:tailEnd type="triangle" w="med" len="med"/>
          </a:ln>
        </p:spPr>
      </p:cxnSp>
      <p:sp>
        <p:nvSpPr>
          <p:cNvPr id="2313" name="Yes label"/>
          <p:cNvSpPr txBox="1"/>
          <p:nvPr/>
        </p:nvSpPr>
        <p:spPr>
          <a:xfrm>
            <a:off x="12623800" y="11582400"/>
            <a:ext cx="1905000" cy="431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900" b="0" i="1" dirty="0">
                <a:solidFill>
                  <a:srgbClr val="5A6B78"/>
                </a:solidFill>
                <a:latin typeface="Times New Roman"/>
                <a:cs typeface="Times New Roman"/>
              </a:rPr>
              <a:t>Yes → attack</a:t>
            </a:r>
          </a:p>
        </p:txBody>
      </p:sp>
      <p:sp>
        <p:nvSpPr>
          <p:cNvPr id="2314" name="Stage B"/>
          <p:cNvSpPr/>
          <p:nvPr/>
        </p:nvSpPr>
        <p:spPr>
          <a:xfrm>
            <a:off x="9474200" y="12090400"/>
            <a:ext cx="8458200" cy="2997200"/>
          </a:xfrm>
          <a:prstGeom prst="roundRect">
            <a:avLst>
              <a:gd name="adj" fmla="val 12000"/>
            </a:avLst>
          </a:prstGeom>
          <a:solidFill>
            <a:srgbClr val="EEF2F4"/>
          </a:solidFill>
          <a:ln w="25400">
            <a:solidFill>
              <a:srgbClr val="1E3A52"/>
            </a:solidFill>
          </a:ln>
        </p:spPr>
        <p:txBody>
          <a:bodyPr wrap="square" lIns="203200" tIns="152400" rIns="203200" bIns="152400" rtlCol="0" anchor="t">
            <a:noAutofit/>
          </a:bodyPr>
          <a:lstStyle/>
          <a:p>
            <a:pPr marL="0" indent="0" algn="ctr">
              <a:spcBef>
                <a:spcPts val="0"/>
              </a:spcBef>
              <a:spcAft>
                <a:spcPts val="0"/>
              </a:spcAft>
              <a:buNone/>
            </a:pPr>
            <a:r>
              <a:rPr lang="en-US" sz="2300" b="1" i="0" dirty="0">
                <a:solidFill>
                  <a:srgbClr val="1E3A52"/>
                </a:solidFill>
                <a:latin typeface="Times New Roman"/>
                <a:cs typeface="Times New Roman"/>
              </a:rPr>
              <a:t>STAGE B · Attack-family ensemble (7 members)</a:t>
            </a:r>
          </a:p>
        </p:txBody>
      </p:sp>
      <p:sp>
        <p:nvSpPr>
          <p:cNvPr id="2315" name="M0"/>
          <p:cNvSpPr/>
          <p:nvPr/>
        </p:nvSpPr>
        <p:spPr>
          <a:xfrm>
            <a:off x="9677400" y="12725400"/>
            <a:ext cx="1898650"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XGB α = 0</a:t>
            </a:r>
          </a:p>
        </p:txBody>
      </p:sp>
      <p:sp>
        <p:nvSpPr>
          <p:cNvPr id="2316" name="M1"/>
          <p:cNvSpPr/>
          <p:nvPr/>
        </p:nvSpPr>
        <p:spPr>
          <a:xfrm>
            <a:off x="11728450" y="12725400"/>
            <a:ext cx="1898650" cy="939800"/>
          </a:xfrm>
          <a:prstGeom prst="roundRect">
            <a:avLst>
              <a:gd name="adj" fmla="val 12000"/>
            </a:avLst>
          </a:prstGeom>
          <a:solidFill>
            <a:srgbClr val="D98E45"/>
          </a:solidFill>
          <a:ln w="25400">
            <a:solidFill>
              <a:srgbClr val="D98E45"/>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3A52"/>
                </a:solidFill>
                <a:latin typeface="Times New Roman"/>
                <a:cs typeface="Times New Roman"/>
              </a:rPr>
              <a:t>XGB α = 0.25</a:t>
            </a:r>
          </a:p>
        </p:txBody>
      </p:sp>
      <p:sp>
        <p:nvSpPr>
          <p:cNvPr id="2317" name="M2"/>
          <p:cNvSpPr/>
          <p:nvPr/>
        </p:nvSpPr>
        <p:spPr>
          <a:xfrm>
            <a:off x="13779500" y="12725400"/>
            <a:ext cx="1898650"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XGB α = 0.5</a:t>
            </a:r>
          </a:p>
        </p:txBody>
      </p:sp>
      <p:sp>
        <p:nvSpPr>
          <p:cNvPr id="2318" name="M3"/>
          <p:cNvSpPr/>
          <p:nvPr/>
        </p:nvSpPr>
        <p:spPr>
          <a:xfrm>
            <a:off x="15830550" y="12725400"/>
            <a:ext cx="1898650"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XGB α = 1</a:t>
            </a:r>
          </a:p>
        </p:txBody>
      </p:sp>
      <p:sp>
        <p:nvSpPr>
          <p:cNvPr id="2319" name="N0"/>
          <p:cNvSpPr/>
          <p:nvPr/>
        </p:nvSpPr>
        <p:spPr>
          <a:xfrm>
            <a:off x="9677400" y="13843000"/>
            <a:ext cx="2582333"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XGB + capped SMOTE</a:t>
            </a:r>
          </a:p>
        </p:txBody>
      </p:sp>
      <p:sp>
        <p:nvSpPr>
          <p:cNvPr id="2320" name="N1"/>
          <p:cNvSpPr/>
          <p:nvPr/>
        </p:nvSpPr>
        <p:spPr>
          <a:xfrm>
            <a:off x="12412133" y="13843000"/>
            <a:ext cx="2582333"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Random forest</a:t>
            </a:r>
          </a:p>
        </p:txBody>
      </p:sp>
      <p:sp>
        <p:nvSpPr>
          <p:cNvPr id="2321" name="N2"/>
          <p:cNvSpPr/>
          <p:nvPr/>
        </p:nvSpPr>
        <p:spPr>
          <a:xfrm>
            <a:off x="15146867" y="13843000"/>
            <a:ext cx="2582333" cy="939800"/>
          </a:xfrm>
          <a:prstGeom prst="roundRect">
            <a:avLst>
              <a:gd name="adj" fmla="val 12000"/>
            </a:avLst>
          </a:prstGeom>
          <a:solidFill>
            <a:srgbClr val="FFFFFF"/>
          </a:solidFill>
          <a:ln w="25400">
            <a:solidFill>
              <a:srgbClr val="B8C4CE"/>
            </a:solidFill>
          </a:ln>
        </p:spPr>
        <p:txBody>
          <a:bodyPr wrap="square" lIns="0" tIns="0" rIns="0" bIns="0" rtlCol="0" anchor="ctr">
            <a:noAutofit/>
          </a:bodyPr>
          <a:lstStyle/>
          <a:p>
            <a:pPr marL="0" indent="0" algn="ctr">
              <a:spcBef>
                <a:spcPts val="0"/>
              </a:spcBef>
              <a:spcAft>
                <a:spcPts val="0"/>
              </a:spcAft>
              <a:buNone/>
            </a:pPr>
            <a:r>
              <a:rPr lang="en-US" sz="2000" b="1" i="0" dirty="0">
                <a:solidFill>
                  <a:srgbClr val="1E2A32"/>
                </a:solidFill>
                <a:latin typeface="Times New Roman"/>
                <a:cs typeface="Times New Roman"/>
              </a:rPr>
              <a:t>Extra-trees</a:t>
            </a:r>
          </a:p>
        </p:txBody>
      </p:sp>
      <p:cxnSp>
        <p:nvCxnSpPr>
          <p:cNvPr id="2322" name="Arrow"/>
          <p:cNvCxnSpPr/>
          <p:nvPr/>
        </p:nvCxnSpPr>
        <p:spPr>
          <a:xfrm>
            <a:off x="13703300" y="15087600"/>
            <a:ext cx="0" cy="431800"/>
          </a:xfrm>
          <a:prstGeom prst="straightConnector1">
            <a:avLst/>
          </a:prstGeom>
          <a:ln w="38100">
            <a:solidFill>
              <a:srgbClr val="7F8F9C"/>
            </a:solidFill>
            <a:tailEnd type="triangle" w="med" len="med"/>
          </a:ln>
        </p:spPr>
      </p:cxnSp>
      <p:sp>
        <p:nvSpPr>
          <p:cNvPr id="2323" name="Combiner"/>
          <p:cNvSpPr/>
          <p:nvPr/>
        </p:nvSpPr>
        <p:spPr>
          <a:xfrm>
            <a:off x="9474200" y="15544800"/>
            <a:ext cx="8458200" cy="1066800"/>
          </a:xfrm>
          <a:prstGeom prst="roundRect">
            <a:avLst>
              <a:gd name="adj" fmla="val 12000"/>
            </a:avLst>
          </a:prstGeom>
          <a:solidFill>
            <a:srgbClr val="1E3A52"/>
          </a:solidFill>
          <a:ln>
            <a:noFill/>
          </a:ln>
        </p:spPr>
        <p:txBody>
          <a:bodyPr wrap="square" lIns="203200" tIns="0" rIns="203200" bIns="0" rtlCol="0" anchor="ctr">
            <a:noAutofit/>
          </a:bodyPr>
          <a:lstStyle/>
          <a:p>
            <a:pPr marL="0" indent="0" algn="ctr">
              <a:spcBef>
                <a:spcPts val="0"/>
              </a:spcBef>
              <a:spcAft>
                <a:spcPts val="200"/>
              </a:spcAft>
              <a:buNone/>
            </a:pPr>
            <a:r>
              <a:rPr lang="en-US" sz="2300" b="1" i="0" dirty="0">
                <a:solidFill>
                  <a:srgbClr val="FFFFFF"/>
                </a:solidFill>
                <a:latin typeface="Times New Roman"/>
                <a:cs typeface="Times New Roman"/>
              </a:rPr>
              <a:t>Combiner: hybrid rule, weights W × local accuracy</a:t>
            </a:r>
          </a:p>
          <a:p>
            <a:pPr marL="0" indent="0" algn="ctr">
              <a:spcBef>
                <a:spcPts val="0"/>
              </a:spcBef>
              <a:spcAft>
                <a:spcPts val="0"/>
              </a:spcAft>
              <a:buNone/>
            </a:pPr>
            <a:r>
              <a:rPr lang="en-US" sz="2000" b="0" i="0" dirty="0">
                <a:solidFill>
                  <a:srgbClr val="CFE0E9"/>
                </a:solidFill>
                <a:latin typeface="Times New Roman"/>
                <a:cs typeface="Times New Roman"/>
              </a:rPr>
              <a:t>W fitted on COMB for end-to-end macro-F1 · rule chosen on SELV from 21</a:t>
            </a:r>
          </a:p>
        </p:txBody>
      </p:sp>
      <p:cxnSp>
        <p:nvCxnSpPr>
          <p:cNvPr id="2324" name="Arrow"/>
          <p:cNvCxnSpPr/>
          <p:nvPr/>
        </p:nvCxnSpPr>
        <p:spPr>
          <a:xfrm>
            <a:off x="11582400" y="16611600"/>
            <a:ext cx="0" cy="431800"/>
          </a:xfrm>
          <a:prstGeom prst="straightConnector1">
            <a:avLst/>
          </a:prstGeom>
          <a:ln w="38100">
            <a:solidFill>
              <a:srgbClr val="7F8F9C"/>
            </a:solidFill>
            <a:tailEnd type="triangle" w="med" len="med"/>
          </a:ln>
        </p:spPr>
      </p:cxnSp>
      <p:cxnSp>
        <p:nvCxnSpPr>
          <p:cNvPr id="2325" name="Arrow"/>
          <p:cNvCxnSpPr/>
          <p:nvPr/>
        </p:nvCxnSpPr>
        <p:spPr>
          <a:xfrm>
            <a:off x="15824200" y="16611600"/>
            <a:ext cx="0" cy="431800"/>
          </a:xfrm>
          <a:prstGeom prst="straightConnector1">
            <a:avLst/>
          </a:prstGeom>
          <a:ln w="38100">
            <a:solidFill>
              <a:srgbClr val="7F8F9C"/>
            </a:solidFill>
            <a:tailEnd type="triangle" w="med" len="med"/>
          </a:ln>
        </p:spPr>
      </p:cxnSp>
      <p:sp>
        <p:nvSpPr>
          <p:cNvPr id="2326" name="Out family"/>
          <p:cNvSpPr/>
          <p:nvPr/>
        </p:nvSpPr>
        <p:spPr>
          <a:xfrm>
            <a:off x="9474200" y="17068800"/>
            <a:ext cx="4089400" cy="889000"/>
          </a:xfrm>
          <a:prstGeom prst="roundRect">
            <a:avLst>
              <a:gd name="adj" fmla="val 12000"/>
            </a:avLst>
          </a:prstGeom>
          <a:solidFill>
            <a:srgbClr val="D98E45"/>
          </a:solidFill>
          <a:ln>
            <a:noFill/>
          </a:ln>
        </p:spPr>
        <p:txBody>
          <a:bodyPr wrap="square" lIns="0" tIns="0" rIns="0" bIns="0" rtlCol="0" anchor="ctr">
            <a:noAutofit/>
          </a:bodyPr>
          <a:lstStyle/>
          <a:p>
            <a:pPr marL="0" indent="0" algn="ctr">
              <a:spcBef>
                <a:spcPts val="0"/>
              </a:spcBef>
              <a:spcAft>
                <a:spcPts val="0"/>
              </a:spcAft>
              <a:buNone/>
            </a:pPr>
            <a:r>
              <a:rPr lang="en-US" sz="2200" b="1" i="0" dirty="0">
                <a:solidFill>
                  <a:srgbClr val="1E3A52"/>
                </a:solidFill>
                <a:latin typeface="Times New Roman"/>
                <a:cs typeface="Times New Roman"/>
              </a:rPr>
              <a:t>Attack family (9 classes)</a:t>
            </a:r>
          </a:p>
        </p:txBody>
      </p:sp>
      <p:sp>
        <p:nvSpPr>
          <p:cNvPr id="2327" name="Out reject"/>
          <p:cNvSpPr/>
          <p:nvPr/>
        </p:nvSpPr>
        <p:spPr>
          <a:xfrm>
            <a:off x="13843000" y="17068800"/>
            <a:ext cx="4089400" cy="889000"/>
          </a:xfrm>
          <a:prstGeom prst="roundRect">
            <a:avLst>
              <a:gd name="adj" fmla="val 12000"/>
            </a:avLst>
          </a:prstGeom>
          <a:solidFill>
            <a:srgbClr val="FFFFFF"/>
          </a:solidFill>
          <a:ln w="25400">
            <a:solidFill>
              <a:srgbClr val="7F8F9C"/>
            </a:solidFill>
          </a:ln>
        </p:spPr>
        <p:txBody>
          <a:bodyPr wrap="square" lIns="0" tIns="0" rIns="0" bIns="0" rtlCol="0" anchor="ctr">
            <a:noAutofit/>
          </a:bodyPr>
          <a:lstStyle/>
          <a:p>
            <a:pPr marL="0" indent="0" algn="ctr">
              <a:spcBef>
                <a:spcPts val="0"/>
              </a:spcBef>
              <a:spcAft>
                <a:spcPts val="0"/>
              </a:spcAft>
              <a:buNone/>
            </a:pPr>
            <a:r>
              <a:rPr lang="en-US" sz="2200" b="1" i="0" dirty="0">
                <a:solidFill>
                  <a:srgbClr val="1E3A52"/>
                </a:solidFill>
                <a:latin typeface="Times New Roman"/>
                <a:cs typeface="Times New Roman"/>
              </a:rPr>
              <a:t>Reject → returned as Benign</a:t>
            </a:r>
          </a:p>
        </p:txBody>
      </p:sp>
      <p:sp>
        <p:nvSpPr>
          <p:cNvPr id="2328" name="Fig 3 caption"/>
          <p:cNvSpPr txBox="1"/>
          <p:nvPr/>
        </p:nvSpPr>
        <p:spPr>
          <a:xfrm>
            <a:off x="9474200" y="18084800"/>
            <a:ext cx="8458200" cy="381000"/>
          </a:xfrm>
          <a:prstGeom prst="rect">
            <a:avLst/>
          </a:prstGeom>
          <a:noFill/>
          <a:ln>
            <a:noFill/>
          </a:ln>
        </p:spPr>
        <p:txBody>
          <a:bodyPr wrap="square" lIns="0" tIns="0" rIns="0" bIns="0" rtlCol="0" anchor="t">
            <a:noAutofit/>
          </a:bodyPr>
          <a:lstStyle/>
          <a:p>
            <a:pPr marL="0" indent="0" algn="ctr">
              <a:spcBef>
                <a:spcPts val="0"/>
              </a:spcBef>
              <a:spcAft>
                <a:spcPts val="0"/>
              </a:spcAft>
              <a:buNone/>
            </a:pPr>
            <a:r>
              <a:rPr lang="en-US" sz="1900" b="0" i="1" dirty="0">
                <a:solidFill>
                  <a:srgbClr val="203864"/>
                </a:solidFill>
                <a:latin typeface="Times New Roman"/>
                <a:cs typeface="Times New Roman"/>
              </a:rPr>
              <a:t>Figure 4: Architecture; COMB and SELV are the two halves of the training data</a:t>
            </a:r>
          </a:p>
        </p:txBody>
      </p:sp>
      <p:sp>
        <p:nvSpPr>
          <p:cNvPr id="2329" name="Protocol head"/>
          <p:cNvSpPr txBox="1"/>
          <p:nvPr/>
        </p:nvSpPr>
        <p:spPr>
          <a:xfrm>
            <a:off x="9474200" y="18719800"/>
            <a:ext cx="8458200" cy="508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800" b="1" i="0" dirty="0">
                <a:solidFill>
                  <a:srgbClr val="1E3A52"/>
                </a:solidFill>
                <a:latin typeface="Times New Roman"/>
                <a:cs typeface="Times New Roman"/>
              </a:rPr>
              <a:t>Leakage-safe Protocol</a:t>
            </a:r>
          </a:p>
        </p:txBody>
      </p:sp>
      <p:sp>
        <p:nvSpPr>
          <p:cNvPr id="2330" name="Protocol bullets"/>
          <p:cNvSpPr txBox="1"/>
          <p:nvPr/>
        </p:nvSpPr>
        <p:spPr>
          <a:xfrm>
            <a:off x="9474200" y="19329400"/>
            <a:ext cx="8458200" cy="2286000"/>
          </a:xfrm>
          <a:prstGeom prst="rect">
            <a:avLst/>
          </a:prstGeom>
          <a:noFill/>
          <a:ln>
            <a:noFill/>
          </a:ln>
        </p:spPr>
        <p:txBody>
          <a:bodyPr wrap="square" lIns="0" tIns="0" rIns="0" bIns="0" rtlCol="0" anchor="t">
            <a:noAutofit/>
          </a:bodyPr>
          <a:lstStyle/>
          <a:p>
            <a:pPr marL="381000" indent="-381000" algn="l">
              <a:spcBef>
                <a:spcPts val="0"/>
              </a:spcBef>
              <a:spcAft>
                <a:spcPts val="800"/>
              </a:spcAft>
              <a:buClr>
                <a:srgbClr val="D98E45"/>
              </a:buClr>
              <a:buFont typeface="Arial"/>
              <a:buChar char="▪"/>
            </a:pPr>
            <a:r>
              <a:rPr lang="en-US" sz="2400" b="0" i="0" dirty="0">
                <a:solidFill>
                  <a:srgbClr val="1E2A32"/>
                </a:solidFill>
                <a:latin typeface="Times New Roman"/>
                <a:cs typeface="Times New Roman"/>
              </a:rPr>
              <a:t>Duplicates removed </a:t>
            </a:r>
            <a:r>
              <a:rPr lang="en-US" sz="2400" b="1" i="0" dirty="0">
                <a:solidFill>
                  <a:srgbClr val="1E2A32"/>
                </a:solidFill>
                <a:latin typeface="Times New Roman"/>
                <a:cs typeface="Times New Roman"/>
              </a:rPr>
              <a:t>before</a:t>
            </a:r>
            <a:r>
              <a:rPr lang="en-US" sz="2400" b="0" i="0" dirty="0">
                <a:solidFill>
                  <a:srgbClr val="1E2A32"/>
                </a:solidFill>
                <a:latin typeface="Times New Roman"/>
                <a:cs typeface="Times New Roman"/>
              </a:rPr>
              <a:t> the train–test split</a:t>
            </a:r>
          </a:p>
          <a:p>
            <a:pPr marL="381000" indent="-381000" algn="l">
              <a:spcBef>
                <a:spcPts val="0"/>
              </a:spcBef>
              <a:spcAft>
                <a:spcPts val="800"/>
              </a:spcAft>
              <a:buClr>
                <a:srgbClr val="D98E45"/>
              </a:buClr>
              <a:buFont typeface="Arial"/>
              <a:buChar char="▪"/>
            </a:pPr>
            <a:r>
              <a:rPr lang="en-US" sz="2400" b="0" i="0" dirty="0">
                <a:solidFill>
                  <a:srgbClr val="1E2A32"/>
                </a:solidFill>
                <a:latin typeface="Times New Roman"/>
                <a:cs typeface="Times New Roman"/>
              </a:rPr>
              <a:t>Combiner weights fitted on </a:t>
            </a:r>
            <a:r>
              <a:rPr lang="en-US" sz="2400" b="1" i="0" dirty="0">
                <a:solidFill>
                  <a:srgbClr val="1E2A32"/>
                </a:solidFill>
                <a:latin typeface="Times New Roman"/>
                <a:cs typeface="Times New Roman"/>
              </a:rPr>
              <a:t>cross-fitted out-of-fold</a:t>
            </a:r>
            <a:r>
              <a:rPr lang="en-US" sz="2400" b="0" i="0" dirty="0">
                <a:solidFill>
                  <a:srgbClr val="1E2A32"/>
                </a:solidFill>
                <a:latin typeface="Times New Roman"/>
                <a:cs typeface="Times New Roman"/>
              </a:rPr>
              <a:t> predictions</a:t>
            </a:r>
          </a:p>
          <a:p>
            <a:pPr marL="381000" indent="-381000" algn="l">
              <a:spcBef>
                <a:spcPts val="0"/>
              </a:spcBef>
              <a:spcAft>
                <a:spcPts val="0"/>
              </a:spcAft>
              <a:buClr>
                <a:srgbClr val="D98E45"/>
              </a:buClr>
              <a:buFont typeface="Arial"/>
              <a:buChar char="▪"/>
            </a:pPr>
            <a:r>
              <a:rPr lang="en-US" sz="2400" b="0" i="0" dirty="0">
                <a:solidFill>
                  <a:srgbClr val="1E2A32"/>
                </a:solidFill>
                <a:latin typeface="Times New Roman"/>
                <a:cs typeface="Times New Roman"/>
              </a:rPr>
              <a:t>Test set scored </a:t>
            </a:r>
            <a:r>
              <a:rPr lang="en-US" sz="2400" b="1" i="0" dirty="0">
                <a:solidFill>
                  <a:srgbClr val="1E2A32"/>
                </a:solidFill>
                <a:latin typeface="Times New Roman"/>
                <a:cs typeface="Times New Roman"/>
              </a:rPr>
              <a:t>once</a:t>
            </a:r>
            <a:r>
              <a:rPr lang="en-US" sz="2400" b="0" i="0" dirty="0">
                <a:solidFill>
                  <a:srgbClr val="1E2A32"/>
                </a:solidFill>
                <a:latin typeface="Times New Roman"/>
                <a:cs typeface="Times New Roman"/>
              </a:rPr>
              <a:t>; every gain checked with a </a:t>
            </a:r>
            <a:r>
              <a:rPr lang="en-US" sz="2400" b="1" i="0" dirty="0">
                <a:solidFill>
                  <a:srgbClr val="1E2A32"/>
                </a:solidFill>
                <a:latin typeface="Times New Roman"/>
                <a:cs typeface="Times New Roman"/>
              </a:rPr>
              <a:t>paired bootstrap</a:t>
            </a:r>
            <a:r>
              <a:rPr lang="en-US" sz="2400" b="0" i="0" dirty="0">
                <a:solidFill>
                  <a:srgbClr val="1E2A32"/>
                </a:solidFill>
                <a:latin typeface="Times New Roman"/>
                <a:cs typeface="Times New Roman"/>
              </a:rPr>
              <a:t> (2,000 resamples)</a:t>
            </a:r>
          </a:p>
        </p:txBody>
      </p:sp>
      <p:sp>
        <p:nvSpPr>
          <p:cNvPr id="2400" name="Section 5"/>
          <p:cNvSpPr/>
          <p:nvPr/>
        </p:nvSpPr>
        <p:spPr>
          <a:xfrm>
            <a:off x="9474200" y="21590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lnSpc>
                <a:spcPct val="100000"/>
              </a:lnSpc>
              <a:spcBef>
                <a:spcPts val="0"/>
              </a:spcBef>
              <a:spcAft>
                <a:spcPts val="0"/>
              </a:spcAft>
              <a:buNone/>
            </a:pPr>
            <a:r>
              <a:rPr lang="en-US" sz="2400" b="1" i="0" dirty="0">
                <a:solidFill>
                  <a:srgbClr val="FFFFFF"/>
                </a:solidFill>
                <a:latin typeface="Times New Roman"/>
                <a:cs typeface="Times New Roman"/>
              </a:rPr>
              <a:t>5   RESULTS</a:t>
            </a:r>
          </a:p>
        </p:txBody>
      </p:sp>
      <p:sp>
        <p:nvSpPr>
          <p:cNvPr id="2401" name="Stat 0.689"/>
          <p:cNvSpPr/>
          <p:nvPr/>
        </p:nvSpPr>
        <p:spPr>
          <a:xfrm>
            <a:off x="9474200" y="225552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0.689</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macro-F1, full release [0.672, 0.704]</a:t>
            </a:r>
          </a:p>
        </p:txBody>
      </p:sp>
      <p:sp>
        <p:nvSpPr>
          <p:cNvPr id="2402" name="Stat 98.66%"/>
          <p:cNvSpPr/>
          <p:nvPr/>
        </p:nvSpPr>
        <p:spPr>
          <a:xfrm>
            <a:off x="12382500" y="225552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98.66%</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accuracy, full-release test set</a:t>
            </a:r>
          </a:p>
        </p:txBody>
      </p:sp>
      <p:sp>
        <p:nvSpPr>
          <p:cNvPr id="2403" name="Stat 2.6×"/>
          <p:cNvSpPr/>
          <p:nvPr/>
        </p:nvSpPr>
        <p:spPr>
          <a:xfrm>
            <a:off x="15290800" y="22555200"/>
            <a:ext cx="2641600" cy="1905000"/>
          </a:xfrm>
          <a:prstGeom prst="roundRect">
            <a:avLst>
              <a:gd name="adj" fmla="val 10000"/>
            </a:avLst>
          </a:prstGeom>
          <a:solidFill>
            <a:srgbClr val="EEF2F4"/>
          </a:solidFill>
          <a:ln>
            <a:noFill/>
          </a:ln>
        </p:spPr>
        <p:txBody>
          <a:bodyPr wrap="square" lIns="127000" tIns="0" rIns="127000" bIns="0" rtlCol="0" anchor="ctr">
            <a:noAutofit/>
          </a:bodyPr>
          <a:lstStyle/>
          <a:p>
            <a:pPr marL="0" indent="0" algn="ctr">
              <a:lnSpc>
                <a:spcPct val="100000"/>
              </a:lnSpc>
              <a:spcBef>
                <a:spcPts val="0"/>
              </a:spcBef>
              <a:spcAft>
                <a:spcPts val="400"/>
              </a:spcAft>
              <a:buNone/>
            </a:pPr>
            <a:r>
              <a:rPr lang="en-US" sz="3600" b="1" i="0" dirty="0">
                <a:solidFill>
                  <a:srgbClr val="D98E45"/>
                </a:solidFill>
                <a:latin typeface="Times New Roman"/>
                <a:cs typeface="Times New Roman"/>
              </a:rPr>
              <a:t>2.6×</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fewer benign false alarms</a:t>
            </a:r>
          </a:p>
        </p:txBody>
      </p:sp>
      <p:sp>
        <p:nvSpPr>
          <p:cNvPr id="2404" name="Chart 2 label"/>
          <p:cNvSpPr txBox="1"/>
          <p:nvPr/>
        </p:nvSpPr>
        <p:spPr>
          <a:xfrm>
            <a:off x="9474200" y="24765000"/>
            <a:ext cx="8458200" cy="431800"/>
          </a:xfrm>
          <a:prstGeom prst="rect">
            <a:avLst/>
          </a:prstGeom>
          <a:noFill/>
          <a:ln>
            <a:noFill/>
          </a:ln>
        </p:spPr>
        <p:txBody>
          <a:bodyPr wrap="square" lIns="91440" tIns="0" rIns="91440" bIns="0" rtlCol="0" anchor="t">
            <a:noAutofit/>
          </a:bodyPr>
          <a:lstStyle/>
          <a:p>
            <a:pPr marL="0" indent="0" algn="l">
              <a:lnSpc>
                <a:spcPct val="100000"/>
              </a:lnSpc>
              <a:spcBef>
                <a:spcPts val="0"/>
              </a:spcBef>
              <a:spcAft>
                <a:spcPts val="0"/>
              </a:spcAft>
              <a:buNone/>
            </a:pPr>
            <a:r>
              <a:rPr lang="en-US" sz="2200" b="1" i="0" dirty="0">
                <a:solidFill>
                  <a:srgbClr val="1E3A52"/>
                </a:solidFill>
                <a:latin typeface="Times New Roman"/>
                <a:cs typeface="Times New Roman"/>
              </a:rPr>
              <a:t>Macro-F1 by configuration, full-release test set (521,361 flows)</a:t>
            </a:r>
          </a:p>
        </p:txBody>
      </p:sp>
      <p:sp>
        <p:nvSpPr>
          <p:cNvPr id="2405" name="Fig 4 caption"/>
          <p:cNvSpPr txBox="1"/>
          <p:nvPr/>
        </p:nvSpPr>
        <p:spPr>
          <a:xfrm>
            <a:off x="9474200" y="32461200"/>
            <a:ext cx="8458200" cy="381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0" i="1" dirty="0">
                <a:solidFill>
                  <a:srgbClr val="203864"/>
                </a:solidFill>
                <a:latin typeface="Times New Roman"/>
                <a:cs typeface="Times New Roman"/>
              </a:rPr>
              <a:t>Figure 5: The reject class gave the largest gain (+0.027, p &lt; 0.001)</a:t>
            </a:r>
          </a:p>
        </p:txBody>
      </p:sp>
      <p:sp>
        <p:nvSpPr>
          <p:cNvPr id="2406" name="Chart 3 label"/>
          <p:cNvSpPr txBox="1"/>
          <p:nvPr/>
        </p:nvSpPr>
        <p:spPr>
          <a:xfrm>
            <a:off x="9474200" y="33096200"/>
            <a:ext cx="8458200" cy="431800"/>
          </a:xfrm>
          <a:prstGeom prst="rect">
            <a:avLst/>
          </a:prstGeom>
          <a:noFill/>
          <a:ln>
            <a:noFill/>
          </a:ln>
        </p:spPr>
        <p:txBody>
          <a:bodyPr wrap="square" lIns="91440" tIns="0" rIns="91440" bIns="0" rtlCol="0" anchor="t">
            <a:noAutofit/>
          </a:bodyPr>
          <a:lstStyle/>
          <a:p>
            <a:pPr marL="0" indent="0" algn="l">
              <a:lnSpc>
                <a:spcPct val="100000"/>
              </a:lnSpc>
              <a:spcBef>
                <a:spcPts val="0"/>
              </a:spcBef>
              <a:spcAft>
                <a:spcPts val="0"/>
              </a:spcAft>
              <a:buNone/>
            </a:pPr>
            <a:r>
              <a:rPr lang="en-US" sz="2200" b="1" i="0" dirty="0">
                <a:solidFill>
                  <a:srgbClr val="1E3A52"/>
                </a:solidFill>
                <a:latin typeface="Times New Roman"/>
                <a:cs typeface="Times New Roman"/>
              </a:rPr>
              <a:t>Per-class F1, final system, full-release test set (521,361 flows)</a:t>
            </a:r>
          </a:p>
        </p:txBody>
      </p:sp>
      <p:sp>
        <p:nvSpPr>
          <p:cNvPr id="2407" name="Fig 5 caption"/>
          <p:cNvSpPr txBox="1"/>
          <p:nvPr/>
        </p:nvSpPr>
        <p:spPr>
          <a:xfrm>
            <a:off x="9474200" y="41859200"/>
            <a:ext cx="8458200" cy="381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0" i="1" dirty="0">
                <a:solidFill>
                  <a:srgbClr val="203864"/>
                </a:solidFill>
                <a:latin typeface="Times New Roman"/>
                <a:cs typeface="Times New Roman"/>
              </a:rPr>
              <a:t>Figure 6: Analysis is the weakest family; 47 of its 77 test flows were labelled benign</a:t>
            </a:r>
          </a:p>
        </p:txBody>
      </p:sp>
      <p:graphicFrame>
        <p:nvGraphicFramePr>
          <p:cNvPr id="2408" name="Chart"/>
          <p:cNvGraphicFramePr/>
          <p:nvPr/>
        </p:nvGraphicFramePr>
        <p:xfrm>
          <a:off x="9474200" y="25273000"/>
          <a:ext cx="8458200" cy="7112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14" name="Chart"/>
          <p:cNvGraphicFramePr/>
          <p:nvPr/>
        </p:nvGraphicFramePr>
        <p:xfrm>
          <a:off x="9474200" y="33591500"/>
          <a:ext cx="8458200" cy="8255000"/>
        </p:xfrm>
        <a:graphic>
          <a:graphicData uri="http://schemas.openxmlformats.org/drawingml/2006/chart">
            <c:chart xmlns:c="http://schemas.openxmlformats.org/drawingml/2006/chart" xmlns:r="http://schemas.openxmlformats.org/officeDocument/2006/relationships" r:id="rId5"/>
          </a:graphicData>
        </a:graphic>
      </p:graphicFrame>
      <p:sp>
        <p:nvSpPr>
          <p:cNvPr id="2500" name="Section 6"/>
          <p:cNvSpPr/>
          <p:nvPr/>
        </p:nvSpPr>
        <p:spPr>
          <a:xfrm>
            <a:off x="18415000" y="4318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spcBef>
                <a:spcPts val="0"/>
              </a:spcBef>
              <a:spcAft>
                <a:spcPts val="0"/>
              </a:spcAft>
              <a:buNone/>
            </a:pPr>
            <a:r>
              <a:rPr lang="en-US" sz="2400" b="1" i="0" dirty="0">
                <a:solidFill>
                  <a:srgbClr val="FFFFFF"/>
                </a:solidFill>
                <a:latin typeface="Times New Roman"/>
                <a:cs typeface="Times New Roman"/>
              </a:rPr>
              <a:t>6   ANALYSIS &amp; GENERALIZATION</a:t>
            </a:r>
          </a:p>
        </p:txBody>
      </p:sp>
      <p:sp>
        <p:nvSpPr>
          <p:cNvPr id="2501" name="Analysis text"/>
          <p:cNvSpPr txBox="1"/>
          <p:nvPr/>
        </p:nvSpPr>
        <p:spPr>
          <a:xfrm>
            <a:off x="18415000" y="5283200"/>
            <a:ext cx="8458200" cy="8255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400" b="0" i="0" dirty="0">
                <a:solidFill>
                  <a:srgbClr val="1E2A32"/>
                </a:solidFill>
                <a:latin typeface="Times New Roman"/>
                <a:cs typeface="Times New Roman"/>
              </a:rPr>
              <a:t>Gains came from </a:t>
            </a:r>
            <a:r>
              <a:rPr lang="en-US" sz="2400" b="1" i="0" dirty="0">
                <a:solidFill>
                  <a:srgbClr val="1E2A32"/>
                </a:solidFill>
                <a:latin typeface="Times New Roman"/>
                <a:cs typeface="Times New Roman"/>
              </a:rPr>
              <a:t>better information and moderate rebalancing</a:t>
            </a:r>
            <a:r>
              <a:rPr lang="en-US" sz="2400" b="0" i="0" dirty="0">
                <a:solidFill>
                  <a:srgbClr val="1E2A32"/>
                </a:solidFill>
                <a:latin typeface="Times New Roman"/>
                <a:cs typeface="Times New Roman"/>
              </a:rPr>
              <a:t>, not from a bigger model.</a:t>
            </a:r>
          </a:p>
        </p:txBody>
      </p:sp>
      <p:sp>
        <p:nvSpPr>
          <p:cNvPr id="2502" name="Chart label"/>
          <p:cNvSpPr txBox="1"/>
          <p:nvPr/>
        </p:nvSpPr>
        <p:spPr>
          <a:xfrm>
            <a:off x="18415000" y="6299200"/>
            <a:ext cx="8458200" cy="431800"/>
          </a:xfrm>
          <a:prstGeom prst="rect">
            <a:avLst/>
          </a:prstGeom>
          <a:noFill/>
          <a:ln>
            <a:noFill/>
          </a:ln>
        </p:spPr>
        <p:txBody>
          <a:bodyPr wrap="square" lIns="91440" tIns="0" rIns="91440" bIns="0" rtlCol="0" anchor="t">
            <a:noAutofit/>
          </a:bodyPr>
          <a:lstStyle/>
          <a:p>
            <a:pPr marL="0" indent="0" algn="l">
              <a:spcBef>
                <a:spcPts val="0"/>
              </a:spcBef>
              <a:spcAft>
                <a:spcPts val="0"/>
              </a:spcAft>
              <a:buNone/>
            </a:pPr>
            <a:r>
              <a:rPr lang="en-US" sz="2200" b="1" i="0" dirty="0">
                <a:solidFill>
                  <a:srgbClr val="1E3A52"/>
                </a:solidFill>
                <a:latin typeface="Times New Roman"/>
                <a:cs typeface="Times New Roman"/>
              </a:rPr>
              <a:t>Macro-F1 gain per component, paired bootstrap</a:t>
            </a:r>
          </a:p>
        </p:txBody>
      </p:sp>
      <p:sp>
        <p:nvSpPr>
          <p:cNvPr id="2503" name="Caption"/>
          <p:cNvSpPr txBox="1"/>
          <p:nvPr/>
        </p:nvSpPr>
        <p:spPr>
          <a:xfrm>
            <a:off x="18415000" y="12700000"/>
            <a:ext cx="8458200" cy="381000"/>
          </a:xfrm>
          <a:prstGeom prst="rect">
            <a:avLst/>
          </a:prstGeom>
          <a:noFill/>
          <a:ln>
            <a:noFill/>
          </a:ln>
        </p:spPr>
        <p:txBody>
          <a:bodyPr wrap="square" lIns="0" tIns="0" rIns="0" bIns="0" rtlCol="0" anchor="t">
            <a:noAutofit/>
          </a:bodyPr>
          <a:lstStyle/>
          <a:p>
            <a:pPr marL="0" indent="0" algn="ctr">
              <a:spcBef>
                <a:spcPts val="0"/>
              </a:spcBef>
              <a:spcAft>
                <a:spcPts val="0"/>
              </a:spcAft>
              <a:buNone/>
            </a:pPr>
            <a:r>
              <a:rPr lang="en-US" sz="1900" b="0" i="1" dirty="0">
                <a:solidFill>
                  <a:srgbClr val="203864"/>
                </a:solidFill>
                <a:latin typeface="Times New Roman"/>
                <a:cs typeface="Times New Roman"/>
              </a:rPr>
              <a:t>Figure 7: Hyperparameter tuning (+0.005) was not significant (p ≈ 0.23)</a:t>
            </a:r>
          </a:p>
        </p:txBody>
      </p:sp>
      <p:sp>
        <p:nvSpPr>
          <p:cNvPr id="2504" name="Bullets"/>
          <p:cNvSpPr txBox="1"/>
          <p:nvPr/>
        </p:nvSpPr>
        <p:spPr>
          <a:xfrm>
            <a:off x="18415000" y="13284200"/>
            <a:ext cx="8458200" cy="2603500"/>
          </a:xfrm>
          <a:prstGeom prst="rect">
            <a:avLst/>
          </a:prstGeom>
          <a:noFill/>
          <a:ln>
            <a:noFill/>
          </a:ln>
        </p:spPr>
        <p:txBody>
          <a:bodyPr wrap="square" lIns="0" tIns="0" rIns="0" bIns="0" rtlCol="0" anchor="t">
            <a:noAutofit/>
          </a:bodyPr>
          <a:lstStyle/>
          <a:p>
            <a:pPr marL="381000" indent="-381000" algn="l">
              <a:spcBef>
                <a:spcPts val="0"/>
              </a:spcBef>
              <a:spcAft>
                <a:spcPts val="800"/>
              </a:spcAft>
              <a:buClr>
                <a:srgbClr val="D98E45"/>
              </a:buClr>
              <a:buFont typeface="Arial"/>
              <a:buChar char="▪"/>
            </a:pPr>
            <a:r>
              <a:rPr lang="en-US" sz="2400" b="0" i="0" dirty="0">
                <a:solidFill>
                  <a:srgbClr val="1E2A32"/>
                </a:solidFill>
                <a:latin typeface="Times New Roman"/>
                <a:cs typeface="Times New Roman"/>
              </a:rPr>
              <a:t>Errors come from </a:t>
            </a:r>
            <a:r>
              <a:rPr lang="en-US" sz="2400" b="1" i="0" dirty="0">
                <a:solidFill>
                  <a:srgbClr val="1E2A32"/>
                </a:solidFill>
                <a:latin typeface="Times New Roman"/>
                <a:cs typeface="Times New Roman"/>
              </a:rPr>
              <a:t>class overlap</a:t>
            </a:r>
            <a:r>
              <a:rPr lang="en-US" sz="2400" b="0" i="0" dirty="0">
                <a:solidFill>
                  <a:srgbClr val="1E2A32"/>
                </a:solidFill>
                <a:latin typeface="Times New Roman"/>
                <a:cs typeface="Times New Roman"/>
              </a:rPr>
              <a:t>, not label noise: only 0.35% of flows have conflicting labels</a:t>
            </a:r>
          </a:p>
          <a:p>
            <a:pPr marL="381000" indent="-381000" algn="l">
              <a:spcBef>
                <a:spcPts val="0"/>
              </a:spcBef>
              <a:spcAft>
                <a:spcPts val="0"/>
              </a:spcAft>
              <a:buClr>
                <a:srgbClr val="D98E45"/>
              </a:buClr>
              <a:buFont typeface="Arial"/>
              <a:buChar char="▪"/>
            </a:pPr>
            <a:r>
              <a:rPr lang="en-US" sz="2400" b="0" i="0" dirty="0">
                <a:solidFill>
                  <a:srgbClr val="1E2A32"/>
                </a:solidFill>
                <a:latin typeface="Times New Roman"/>
                <a:cs typeface="Times New Roman"/>
              </a:rPr>
              <a:t>k-NN overlap tracks model confusions (Spearman </a:t>
            </a:r>
            <a:r>
              <a:rPr lang="en-US" sz="2400" b="1" i="0" dirty="0">
                <a:solidFill>
                  <a:srgbClr val="1E2A32"/>
                </a:solidFill>
                <a:latin typeface="Times New Roman"/>
                <a:cs typeface="Times New Roman"/>
              </a:rPr>
              <a:t>0.827</a:t>
            </a:r>
            <a:r>
              <a:rPr lang="en-US" sz="2400" b="0" i="0" dirty="0">
                <a:solidFill>
                  <a:srgbClr val="1E2A32"/>
                </a:solidFill>
                <a:latin typeface="Times New Roman"/>
                <a:cs typeface="Times New Roman"/>
              </a:rPr>
              <a:t>); Exploits and Fuzzers were confused 1,287 times</a:t>
            </a:r>
          </a:p>
        </p:txBody>
      </p:sp>
      <p:sp>
        <p:nvSpPr>
          <p:cNvPr id="2505" name="Robust head"/>
          <p:cNvSpPr txBox="1"/>
          <p:nvPr/>
        </p:nvSpPr>
        <p:spPr>
          <a:xfrm>
            <a:off x="18415000" y="15494000"/>
            <a:ext cx="8458200" cy="508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2800" b="1" i="0" dirty="0">
                <a:solidFill>
                  <a:srgbClr val="1E3A52"/>
                </a:solidFill>
                <a:latin typeface="Times New Roman"/>
                <a:cs typeface="Times New Roman"/>
              </a:rPr>
              <a:t>Results on Other Datasets</a:t>
            </a:r>
          </a:p>
        </p:txBody>
      </p:sp>
      <p:sp>
        <p:nvSpPr>
          <p:cNvPr id="2509" name="Section 7"/>
          <p:cNvSpPr/>
          <p:nvPr/>
        </p:nvSpPr>
        <p:spPr>
          <a:xfrm>
            <a:off x="18415000" y="25273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spcBef>
                <a:spcPts val="0"/>
              </a:spcBef>
              <a:spcAft>
                <a:spcPts val="0"/>
              </a:spcAft>
              <a:buNone/>
            </a:pPr>
            <a:r>
              <a:rPr lang="en-US" sz="2400" b="1" i="0" dirty="0">
                <a:solidFill>
                  <a:srgbClr val="FFFFFF"/>
                </a:solidFill>
                <a:latin typeface="Times New Roman"/>
                <a:cs typeface="Times New Roman"/>
              </a:rPr>
              <a:t>7   CONCLUSION</a:t>
            </a:r>
          </a:p>
        </p:txBody>
      </p:sp>
      <p:sp>
        <p:nvSpPr>
          <p:cNvPr id="2510" name="Bullets"/>
          <p:cNvSpPr txBox="1"/>
          <p:nvPr/>
        </p:nvSpPr>
        <p:spPr>
          <a:xfrm>
            <a:off x="18415000" y="26238200"/>
            <a:ext cx="8458200" cy="5080000"/>
          </a:xfrm>
          <a:prstGeom prst="rect">
            <a:avLst/>
          </a:prstGeom>
          <a:noFill/>
          <a:ln>
            <a:noFill/>
          </a:ln>
        </p:spPr>
        <p:txBody>
          <a:bodyPr wrap="square" lIns="0" tIns="0" rIns="0" bIns="0" rtlCol="0" anchor="t">
            <a:noAutofit/>
          </a:bodyPr>
          <a:lstStyle/>
          <a:p>
            <a:pPr marL="381000" indent="-381000" algn="l">
              <a:spcBef>
                <a:spcPts val="0"/>
              </a:spcBef>
              <a:spcAft>
                <a:spcPts val="800"/>
              </a:spcAft>
              <a:buClr>
                <a:srgbClr val="D98E45"/>
              </a:buClr>
              <a:buFont typeface="Arial"/>
              <a:buChar char="▪"/>
            </a:pPr>
            <a:r>
              <a:rPr lang="en-US" sz="2400" b="0" i="0" dirty="0">
                <a:solidFill>
                  <a:srgbClr val="1E2A32"/>
                </a:solidFill>
                <a:latin typeface="Times New Roman"/>
                <a:cs typeface="Times New Roman"/>
              </a:rPr>
              <a:t>Final system: </a:t>
            </a:r>
            <a:r>
              <a:rPr lang="en-US" sz="2400" b="1" i="0" dirty="0">
                <a:solidFill>
                  <a:srgbClr val="1E2A32"/>
                </a:solidFill>
                <a:latin typeface="Times New Roman"/>
                <a:cs typeface="Times New Roman"/>
              </a:rPr>
              <a:t>macro-F1 0.689</a:t>
            </a:r>
            <a:r>
              <a:rPr lang="en-US" sz="2400" b="0" i="0" dirty="0">
                <a:solidFill>
                  <a:srgbClr val="1E2A32"/>
                </a:solidFill>
                <a:latin typeface="Times New Roman"/>
                <a:cs typeface="Times New Roman"/>
              </a:rPr>
              <a:t> and </a:t>
            </a:r>
            <a:r>
              <a:rPr lang="en-US" sz="2400" b="1" i="0" dirty="0">
                <a:solidFill>
                  <a:srgbClr val="1E2A32"/>
                </a:solidFill>
                <a:latin typeface="Times New Roman"/>
                <a:cs typeface="Times New Roman"/>
              </a:rPr>
              <a:t>98.66% accuracy</a:t>
            </a:r>
            <a:r>
              <a:rPr lang="en-US" sz="2400" b="0" i="0" dirty="0">
                <a:solidFill>
                  <a:srgbClr val="1E2A32"/>
                </a:solidFill>
                <a:latin typeface="Times New Roman"/>
                <a:cs typeface="Times New Roman"/>
              </a:rPr>
              <a:t> at the realistic 97.5% benign base rate</a:t>
            </a:r>
          </a:p>
          <a:p>
            <a:pPr marL="381000" indent="-381000" algn="l">
              <a:spcBef>
                <a:spcPts val="0"/>
              </a:spcBef>
              <a:spcAft>
                <a:spcPts val="800"/>
              </a:spcAft>
              <a:buClr>
                <a:srgbClr val="D98E45"/>
              </a:buClr>
              <a:buFont typeface="Arial"/>
              <a:buChar char="▪"/>
            </a:pPr>
            <a:r>
              <a:rPr lang="en-US" sz="2400" b="1" i="0" dirty="0">
                <a:solidFill>
                  <a:srgbClr val="1E2A32"/>
                </a:solidFill>
                <a:latin typeface="Times New Roman"/>
                <a:cs typeface="Times New Roman"/>
              </a:rPr>
              <a:t>Moderate rebalancing</a:t>
            </a:r>
            <a:r>
              <a:rPr lang="en-US" sz="2400" b="0" i="0" dirty="0">
                <a:solidFill>
                  <a:srgbClr val="1E2A32"/>
                </a:solidFill>
                <a:latin typeface="Times New Roman"/>
                <a:cs typeface="Times New Roman"/>
              </a:rPr>
              <a:t> (α = 0.25, +0.039) beat full SMOTE and "balanced" weights</a:t>
            </a:r>
          </a:p>
          <a:p>
            <a:pPr marL="381000" indent="-381000" algn="l">
              <a:spcBef>
                <a:spcPts val="0"/>
              </a:spcBef>
              <a:spcAft>
                <a:spcPts val="800"/>
              </a:spcAft>
              <a:buClr>
                <a:srgbClr val="D98E45"/>
              </a:buClr>
              <a:buFont typeface="Arial"/>
              <a:buChar char="▪"/>
            </a:pPr>
            <a:r>
              <a:rPr lang="en-US" sz="2400" b="1" i="0" dirty="0">
                <a:solidFill>
                  <a:srgbClr val="1E2A32"/>
                </a:solidFill>
                <a:latin typeface="Times New Roman"/>
                <a:cs typeface="Times New Roman"/>
              </a:rPr>
              <a:t>Information beat model capacity</a:t>
            </a:r>
            <a:r>
              <a:rPr lang="en-US" sz="2400" b="0" i="0" dirty="0">
                <a:solidFill>
                  <a:srgbClr val="1E2A32"/>
                </a:solidFill>
                <a:latin typeface="Times New Roman"/>
                <a:cs typeface="Times New Roman"/>
              </a:rPr>
              <a:t>: service identity added +0.098; tuning gave no established gain</a:t>
            </a:r>
          </a:p>
          <a:p>
            <a:pPr marL="381000" indent="-381000" algn="l">
              <a:spcBef>
                <a:spcPts val="0"/>
              </a:spcBef>
              <a:spcAft>
                <a:spcPts val="800"/>
              </a:spcAft>
              <a:buClr>
                <a:srgbClr val="D98E45"/>
              </a:buClr>
              <a:buFont typeface="Arial"/>
              <a:buChar char="▪"/>
            </a:pPr>
            <a:r>
              <a:rPr lang="en-US" sz="2400" b="1" i="0" dirty="0">
                <a:solidFill>
                  <a:srgbClr val="1E2A32"/>
                </a:solidFill>
                <a:latin typeface="Times New Roman"/>
                <a:cs typeface="Times New Roman"/>
              </a:rPr>
              <a:t>Limitations:</a:t>
            </a:r>
            <a:r>
              <a:rPr lang="en-US" sz="2400" b="0" i="0" dirty="0">
                <a:solidFill>
                  <a:srgbClr val="1E2A32"/>
                </a:solidFill>
                <a:latin typeface="Times New Roman"/>
                <a:cs typeface="Times New Roman"/>
              </a:rPr>
              <a:t> single testbed, flow features only, weak Analysis and Worms detection</a:t>
            </a:r>
          </a:p>
          <a:p>
            <a:pPr marL="381000" indent="-381000" algn="l">
              <a:spcBef>
                <a:spcPts val="0"/>
              </a:spcBef>
              <a:spcAft>
                <a:spcPts val="0"/>
              </a:spcAft>
              <a:buClr>
                <a:srgbClr val="D98E45"/>
              </a:buClr>
              <a:buFont typeface="Arial"/>
              <a:buChar char="▪"/>
            </a:pPr>
            <a:r>
              <a:rPr lang="en-US" sz="2400" b="1" i="0" dirty="0">
                <a:solidFill>
                  <a:srgbClr val="1E2A32"/>
                </a:solidFill>
                <a:latin typeface="Times New Roman"/>
                <a:cs typeface="Times New Roman"/>
              </a:rPr>
              <a:t>Future work:</a:t>
            </a:r>
            <a:r>
              <a:rPr lang="en-US" sz="2400" b="0" i="0" dirty="0">
                <a:solidFill>
                  <a:srgbClr val="1E2A32"/>
                </a:solidFill>
                <a:latin typeface="Times New Roman"/>
                <a:cs typeface="Times New Roman"/>
              </a:rPr>
              <a:t> payload features, cross-network tests, SHAP, adversarial training</a:t>
            </a:r>
          </a:p>
        </p:txBody>
      </p:sp>
      <p:sp>
        <p:nvSpPr>
          <p:cNvPr id="2511" name="Section 8"/>
          <p:cNvSpPr/>
          <p:nvPr/>
        </p:nvSpPr>
        <p:spPr>
          <a:xfrm>
            <a:off x="18415000" y="31623000"/>
            <a:ext cx="8458200" cy="736600"/>
          </a:xfrm>
          <a:prstGeom prst="roundRect">
            <a:avLst>
              <a:gd name="adj" fmla="val 10000"/>
            </a:avLst>
          </a:prstGeom>
          <a:solidFill>
            <a:srgbClr val="1E3A52"/>
          </a:solidFill>
          <a:ln>
            <a:noFill/>
          </a:ln>
        </p:spPr>
        <p:txBody>
          <a:bodyPr wrap="square" lIns="254000" tIns="0" rIns="254000" bIns="0" rtlCol="0" anchor="ctr">
            <a:noAutofit/>
          </a:bodyPr>
          <a:lstStyle/>
          <a:p>
            <a:pPr marL="0" indent="0" algn="l">
              <a:spcBef>
                <a:spcPts val="0"/>
              </a:spcBef>
              <a:spcAft>
                <a:spcPts val="0"/>
              </a:spcAft>
              <a:buNone/>
            </a:pPr>
            <a:r>
              <a:rPr lang="en-US" sz="2400" b="1" i="0" dirty="0">
                <a:solidFill>
                  <a:srgbClr val="FFFFFF"/>
                </a:solidFill>
                <a:latin typeface="Times New Roman"/>
                <a:cs typeface="Times New Roman"/>
              </a:rPr>
              <a:t>8   REFERENCES</a:t>
            </a:r>
          </a:p>
        </p:txBody>
      </p:sp>
      <p:sp>
        <p:nvSpPr>
          <p:cNvPr id="2512" name="References"/>
          <p:cNvSpPr txBox="1"/>
          <p:nvPr/>
        </p:nvSpPr>
        <p:spPr>
          <a:xfrm>
            <a:off x="18415000" y="32562800"/>
            <a:ext cx="8458200" cy="5461000"/>
          </a:xfrm>
          <a:prstGeom prst="rect">
            <a:avLst/>
          </a:prstGeom>
          <a:noFill/>
          <a:ln>
            <a:noFill/>
          </a:ln>
        </p:spPr>
        <p:txBody>
          <a:bodyPr wrap="square" lIns="0" tIns="0" rIns="0" bIns="0" rtlCol="0" anchor="t">
            <a:noAutofit/>
          </a:bodyPr>
          <a:lstStyle/>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Mohammadian, H., Lashkari, A. H., &amp; Ghorbani, A. A. (2024). Poisoning and evasion: Deep learning-based NIDS under adversarial attacks. PST 2024, IEEE.</a:t>
            </a:r>
          </a:p>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Moustafa, N., &amp; Slay, J. (2015). UNSW-NB15: A comprehensive data set for network intrusion detection systems. MilCIS 2015, IEEE.</a:t>
            </a:r>
          </a:p>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Lashkari, A. H., Draper-Gil, G., Mamun, M. S. I., &amp; Ghorbani, A. A. (2017). Characterization of Tor traffic using time based features. ICISSP 2017, 253–262.</a:t>
            </a:r>
          </a:p>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Chen, T., &amp; Guestrin, C. (2016). XGBoost: A scalable tree boosting system. KDD 2016, 785–794.</a:t>
            </a:r>
          </a:p>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Chawla, N. V., Bowyer, K. W., Hall, L. O., &amp; Kegelmeyer, W. P. (2002). SMOTE: Synthetic minority over-sampling technique. JAIR, 16, 321–357.</a:t>
            </a:r>
          </a:p>
          <a:p>
            <a:pPr marL="355600" indent="-355600" algn="l">
              <a:spcBef>
                <a:spcPts val="0"/>
              </a:spcBef>
              <a:spcAft>
                <a:spcPts val="500"/>
              </a:spcAft>
              <a:buClr>
                <a:srgbClr val="1E3A52"/>
              </a:buClr>
              <a:buFont typeface="Times New Roman"/>
              <a:buAutoNum type="arabicPeriod"/>
            </a:pPr>
            <a:r>
              <a:rPr lang="en-US" sz="2000" b="0" i="0" dirty="0">
                <a:solidFill>
                  <a:srgbClr val="1E2A32"/>
                </a:solidFill>
                <a:latin typeface="Times New Roman"/>
                <a:cs typeface="Times New Roman"/>
              </a:rPr>
              <a:t>Arp, D., et al. (2022). Dos and don'ts of machine learning in computer security. USENIX Security 2022, 3971–3988.</a:t>
            </a:r>
          </a:p>
          <a:p>
            <a:pPr marL="355600" indent="-355600" algn="l">
              <a:spcBef>
                <a:spcPts val="0"/>
              </a:spcBef>
              <a:spcAft>
                <a:spcPts val="0"/>
              </a:spcAft>
              <a:buClr>
                <a:srgbClr val="1E3A52"/>
              </a:buClr>
              <a:buFont typeface="Times New Roman"/>
              <a:buAutoNum type="arabicPeriod"/>
            </a:pPr>
            <a:r>
              <a:rPr lang="en-US" sz="2000" b="0" i="0" dirty="0">
                <a:solidFill>
                  <a:srgbClr val="1E2A32"/>
                </a:solidFill>
                <a:latin typeface="Times New Roman"/>
                <a:cs typeface="Times New Roman"/>
              </a:rPr>
              <a:t>Apruzzese, G., et al. (2022). Modeling realistic adversarial attacks against network intrusion detection systems. Digital Threats, 3(3), Article 31.</a:t>
            </a:r>
          </a:p>
        </p:txBody>
      </p:sp>
      <p:sp>
        <p:nvSpPr>
          <p:cNvPr id="2513" name="Acknowledgment"/>
          <p:cNvSpPr/>
          <p:nvPr/>
        </p:nvSpPr>
        <p:spPr>
          <a:xfrm>
            <a:off x="18415000" y="38811200"/>
            <a:ext cx="8458200" cy="3429000"/>
          </a:xfrm>
          <a:prstGeom prst="roundRect">
            <a:avLst>
              <a:gd name="adj" fmla="val 6000"/>
            </a:avLst>
          </a:prstGeom>
          <a:solidFill>
            <a:srgbClr val="EEF2F4"/>
          </a:solidFill>
          <a:ln>
            <a:noFill/>
          </a:ln>
        </p:spPr>
        <p:txBody>
          <a:bodyPr wrap="square" lIns="279400" tIns="304800" rIns="279400" bIns="304800" rtlCol="0" anchor="ctr" anchorCtr="0">
            <a:noAutofit/>
          </a:bodyPr>
          <a:lstStyle/>
          <a:p>
            <a:pPr marL="0" indent="0" algn="l">
              <a:spcBef>
                <a:spcPts val="0"/>
              </a:spcBef>
              <a:spcAft>
                <a:spcPts val="800"/>
              </a:spcAft>
              <a:buNone/>
            </a:pPr>
            <a:r>
              <a:rPr lang="en-US" sz="2400" b="1" i="0" dirty="0">
                <a:solidFill>
                  <a:srgbClr val="1E3A52"/>
                </a:solidFill>
                <a:latin typeface="Times New Roman"/>
                <a:cs typeface="Times New Roman"/>
              </a:rPr>
              <a:t>ACKNOWLEDGMENT</a:t>
            </a:r>
          </a:p>
          <a:p>
            <a:pPr marL="0" indent="0" algn="l">
              <a:spcBef>
                <a:spcPts val="0"/>
              </a:spcBef>
              <a:spcAft>
                <a:spcPts val="0"/>
              </a:spcAft>
              <a:buNone/>
            </a:pPr>
            <a:r>
              <a:rPr lang="en-US" sz="2200" b="0" i="0" dirty="0">
                <a:solidFill>
                  <a:srgbClr val="1E2A32"/>
                </a:solidFill>
                <a:latin typeface="Times New Roman"/>
                <a:cs typeface="Times New Roman"/>
              </a:rPr>
              <a:t>We thank our supervisor for his guidance, and the Department of Computer Science, AIUB, for its support. We also thank the Canadian Institute for Cybersecurity and the UNSW Canberra Cyber Range Lab for making the CIC-UNSW-NB15 and UNSW-NB15 datasets publicly available.</a:t>
            </a:r>
          </a:p>
        </p:txBody>
      </p:sp>
      <p:graphicFrame>
        <p:nvGraphicFramePr>
          <p:cNvPr id="2514" name="Chart"/>
          <p:cNvGraphicFramePr/>
          <p:nvPr/>
        </p:nvGraphicFramePr>
        <p:xfrm>
          <a:off x="18415000" y="6807200"/>
          <a:ext cx="8458200" cy="5715000"/>
        </p:xfrm>
        <a:graphic>
          <a:graphicData uri="http://schemas.openxmlformats.org/drawingml/2006/chart">
            <c:chart xmlns:c="http://schemas.openxmlformats.org/drawingml/2006/chart" xmlns:r="http://schemas.openxmlformats.org/officeDocument/2006/relationships" r:id="rId6"/>
          </a:graphicData>
        </a:graphic>
      </p:graphicFrame>
      <p:sp>
        <p:nvSpPr>
          <p:cNvPr id="2130" name="Method step 1"/>
          <p:cNvSpPr/>
          <p:nvPr/>
        </p:nvSpPr>
        <p:spPr>
          <a:xfrm>
            <a:off x="558800" y="17018000"/>
            <a:ext cx="2362200" cy="2286000"/>
          </a:xfrm>
          <a:prstGeom prst="roundRect">
            <a:avLst>
              <a:gd name="adj" fmla="val 8000"/>
            </a:avLst>
          </a:prstGeom>
          <a:solidFill>
            <a:srgbClr val="EEF2F4"/>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01</a:t>
            </a:r>
          </a:p>
          <a:p>
            <a:pPr marL="0" indent="0" algn="ctr">
              <a:lnSpc>
                <a:spcPct val="92000"/>
              </a:lnSpc>
              <a:spcBef>
                <a:spcPts val="0"/>
              </a:spcBef>
              <a:spcAft>
                <a:spcPts val="400"/>
              </a:spcAft>
              <a:buNone/>
            </a:pPr>
            <a:r>
              <a:rPr lang="en-US" sz="2100" b="1" i="0" dirty="0">
                <a:solidFill>
                  <a:srgbClr val="1E3A52"/>
                </a:solidFill>
                <a:latin typeface="Times New Roman"/>
                <a:cs typeface="Times New Roman"/>
              </a:rPr>
              <a:t>Data collection</a:t>
            </a:r>
          </a:p>
          <a:p>
            <a:pPr marL="0" indent="0" algn="ctr">
              <a:lnSpc>
                <a:spcPct val="92000"/>
              </a:lnSpc>
              <a:spcBef>
                <a:spcPts val="0"/>
              </a:spcBef>
              <a:spcAft>
                <a:spcPts val="0"/>
              </a:spcAft>
              <a:buNone/>
            </a:pPr>
            <a:r>
              <a:rPr lang="en-US" sz="1900" b="0" i="0" dirty="0">
                <a:solidFill>
                  <a:srgbClr val="1E2A32"/>
                </a:solidFill>
                <a:latin typeface="Times New Roman"/>
                <a:cs typeface="Times New Roman"/>
              </a:rPr>
              <a:t>CIC-UNSW-NB15, benign + 9 attacks</a:t>
            </a:r>
          </a:p>
        </p:txBody>
      </p:sp>
      <p:sp>
        <p:nvSpPr>
          <p:cNvPr id="2131" name="Method step 2"/>
          <p:cNvSpPr/>
          <p:nvPr/>
        </p:nvSpPr>
        <p:spPr>
          <a:xfrm>
            <a:off x="3606800" y="17018000"/>
            <a:ext cx="2362200" cy="2286000"/>
          </a:xfrm>
          <a:prstGeom prst="roundRect">
            <a:avLst>
              <a:gd name="adj" fmla="val 8000"/>
            </a:avLst>
          </a:prstGeom>
          <a:solidFill>
            <a:srgbClr val="EEF2F4"/>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02</a:t>
            </a:r>
          </a:p>
          <a:p>
            <a:pPr marL="0" indent="0" algn="ctr">
              <a:lnSpc>
                <a:spcPct val="92000"/>
              </a:lnSpc>
              <a:spcBef>
                <a:spcPts val="0"/>
              </a:spcBef>
              <a:spcAft>
                <a:spcPts val="400"/>
              </a:spcAft>
              <a:buNone/>
            </a:pPr>
            <a:r>
              <a:rPr lang="en-US" sz="2100" b="1" i="0" dirty="0">
                <a:solidFill>
                  <a:srgbClr val="1E3A52"/>
                </a:solidFill>
                <a:latin typeface="Times New Roman"/>
                <a:cs typeface="Times New Roman"/>
              </a:rPr>
              <a:t>Preprocessing</a:t>
            </a:r>
          </a:p>
          <a:p>
            <a:pPr marL="0" indent="0" algn="ctr">
              <a:lnSpc>
                <a:spcPct val="92000"/>
              </a:lnSpc>
              <a:spcBef>
                <a:spcPts val="0"/>
              </a:spcBef>
              <a:spcAft>
                <a:spcPts val="0"/>
              </a:spcAft>
              <a:buNone/>
            </a:pPr>
            <a:r>
              <a:rPr lang="en-US" sz="1900" b="0" i="0" dirty="0">
                <a:solidFill>
                  <a:srgbClr val="1E2A32"/>
                </a:solidFill>
                <a:latin typeface="Times New Roman"/>
                <a:cs typeface="Times New Roman"/>
              </a:rPr>
              <a:t>Deduplication, pruning, 80/20 split</a:t>
            </a:r>
          </a:p>
        </p:txBody>
      </p:sp>
      <p:sp>
        <p:nvSpPr>
          <p:cNvPr id="2132" name="Method step 3"/>
          <p:cNvSpPr/>
          <p:nvPr/>
        </p:nvSpPr>
        <p:spPr>
          <a:xfrm>
            <a:off x="6654800" y="17018000"/>
            <a:ext cx="2362200" cy="2286000"/>
          </a:xfrm>
          <a:prstGeom prst="roundRect">
            <a:avLst>
              <a:gd name="adj" fmla="val 8000"/>
            </a:avLst>
          </a:prstGeom>
          <a:solidFill>
            <a:srgbClr val="EEF2F4"/>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03</a:t>
            </a:r>
          </a:p>
          <a:p>
            <a:pPr marL="0" indent="0" algn="ctr">
              <a:lnSpc>
                <a:spcPct val="92000"/>
              </a:lnSpc>
              <a:spcBef>
                <a:spcPts val="0"/>
              </a:spcBef>
              <a:spcAft>
                <a:spcPts val="400"/>
              </a:spcAft>
              <a:buNone/>
            </a:pPr>
            <a:r>
              <a:rPr lang="en-US" sz="2100" b="1" i="0" dirty="0">
                <a:solidFill>
                  <a:srgbClr val="1E3A52"/>
                </a:solidFill>
                <a:latin typeface="Times New Roman"/>
                <a:cs typeface="Times New Roman"/>
              </a:rPr>
              <a:t>Feature engineering</a:t>
            </a:r>
          </a:p>
          <a:p>
            <a:pPr marL="0" indent="0" algn="ctr">
              <a:lnSpc>
                <a:spcPct val="92000"/>
              </a:lnSpc>
              <a:spcBef>
                <a:spcPts val="0"/>
              </a:spcBef>
              <a:spcAft>
                <a:spcPts val="0"/>
              </a:spcAft>
              <a:buNone/>
            </a:pPr>
            <a:r>
              <a:rPr lang="en-US" sz="1900" b="0" i="0" dirty="0">
                <a:solidFill>
                  <a:srgbClr val="1E2A32"/>
                </a:solidFill>
                <a:latin typeface="Times New Roman"/>
                <a:cs typeface="Times New Roman"/>
              </a:rPr>
              <a:t>31 behavioural + 25 service features</a:t>
            </a:r>
          </a:p>
        </p:txBody>
      </p:sp>
      <p:sp>
        <p:nvSpPr>
          <p:cNvPr id="2133" name="Method step 4"/>
          <p:cNvSpPr/>
          <p:nvPr/>
        </p:nvSpPr>
        <p:spPr>
          <a:xfrm>
            <a:off x="558800" y="19786600"/>
            <a:ext cx="2362200" cy="2286000"/>
          </a:xfrm>
          <a:prstGeom prst="roundRect">
            <a:avLst>
              <a:gd name="adj" fmla="val 8000"/>
            </a:avLst>
          </a:prstGeom>
          <a:solidFill>
            <a:srgbClr val="1E3A52"/>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04</a:t>
            </a:r>
          </a:p>
          <a:p>
            <a:pPr marL="0" indent="0" algn="ctr">
              <a:lnSpc>
                <a:spcPct val="92000"/>
              </a:lnSpc>
              <a:spcBef>
                <a:spcPts val="0"/>
              </a:spcBef>
              <a:spcAft>
                <a:spcPts val="400"/>
              </a:spcAft>
              <a:buNone/>
            </a:pPr>
            <a:r>
              <a:rPr lang="en-US" sz="2100" b="1" i="0" dirty="0">
                <a:solidFill>
                  <a:srgbClr val="FFFFFF"/>
                </a:solidFill>
                <a:latin typeface="Times New Roman"/>
                <a:cs typeface="Times New Roman"/>
              </a:rPr>
              <a:t>Model development</a:t>
            </a:r>
          </a:p>
          <a:p>
            <a:pPr marL="0" indent="0" algn="ctr">
              <a:lnSpc>
                <a:spcPct val="92000"/>
              </a:lnSpc>
              <a:spcBef>
                <a:spcPts val="0"/>
              </a:spcBef>
              <a:spcAft>
                <a:spcPts val="0"/>
              </a:spcAft>
              <a:buNone/>
            </a:pPr>
            <a:r>
              <a:rPr lang="en-US" sz="1900" b="0" i="0" dirty="0">
                <a:solidFill>
                  <a:srgbClr val="DCE6EC"/>
                </a:solidFill>
                <a:latin typeface="Times New Roman"/>
                <a:cs typeface="Times New Roman"/>
              </a:rPr>
              <a:t>XGBoost gate + 7-model ensemble</a:t>
            </a:r>
          </a:p>
        </p:txBody>
      </p:sp>
      <p:sp>
        <p:nvSpPr>
          <p:cNvPr id="2134" name="Method step 5"/>
          <p:cNvSpPr/>
          <p:nvPr/>
        </p:nvSpPr>
        <p:spPr>
          <a:xfrm>
            <a:off x="3606800" y="19786600"/>
            <a:ext cx="2362200" cy="2286000"/>
          </a:xfrm>
          <a:prstGeom prst="roundRect">
            <a:avLst>
              <a:gd name="adj" fmla="val 8000"/>
            </a:avLst>
          </a:prstGeom>
          <a:solidFill>
            <a:srgbClr val="EEF2F4"/>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05</a:t>
            </a:r>
          </a:p>
          <a:p>
            <a:pPr marL="0" indent="0" algn="ctr">
              <a:lnSpc>
                <a:spcPct val="92000"/>
              </a:lnSpc>
              <a:spcBef>
                <a:spcPts val="0"/>
              </a:spcBef>
              <a:spcAft>
                <a:spcPts val="400"/>
              </a:spcAft>
              <a:buNone/>
            </a:pPr>
            <a:r>
              <a:rPr lang="en-US" sz="2100" b="1" i="0" dirty="0">
                <a:solidFill>
                  <a:srgbClr val="1E3A52"/>
                </a:solidFill>
                <a:latin typeface="Times New Roman"/>
                <a:cs typeface="Times New Roman"/>
              </a:rPr>
              <a:t>Evaluation</a:t>
            </a:r>
          </a:p>
          <a:p>
            <a:pPr marL="0" indent="0" algn="ctr">
              <a:lnSpc>
                <a:spcPct val="92000"/>
              </a:lnSpc>
              <a:spcBef>
                <a:spcPts val="0"/>
              </a:spcBef>
              <a:spcAft>
                <a:spcPts val="0"/>
              </a:spcAft>
              <a:buNone/>
            </a:pPr>
            <a:r>
              <a:rPr lang="en-US" sz="1900" b="0" i="0" dirty="0">
                <a:solidFill>
                  <a:srgbClr val="1E2A32"/>
                </a:solidFill>
                <a:latin typeface="Times New Roman"/>
                <a:cs typeface="Times New Roman"/>
              </a:rPr>
              <a:t>Macro-F1, paired bootstrap</a:t>
            </a:r>
          </a:p>
        </p:txBody>
      </p:sp>
      <p:sp>
        <p:nvSpPr>
          <p:cNvPr id="2135" name="Method step 6"/>
          <p:cNvSpPr/>
          <p:nvPr/>
        </p:nvSpPr>
        <p:spPr>
          <a:xfrm>
            <a:off x="6654800" y="19786600"/>
            <a:ext cx="2362200" cy="2286000"/>
          </a:xfrm>
          <a:prstGeom prst="roundRect">
            <a:avLst>
              <a:gd name="adj" fmla="val 8000"/>
            </a:avLst>
          </a:prstGeom>
          <a:solidFill>
            <a:srgbClr val="EEF2F4"/>
          </a:solidFill>
          <a:ln>
            <a:noFill/>
          </a:ln>
        </p:spPr>
        <p:txBody>
          <a:bodyPr wrap="square" lIns="127000" tIns="177800" rIns="127000" bIns="152400" rtlCol="0" anchor="t">
            <a:noAutofit/>
          </a:bodyPr>
          <a:lstStyle/>
          <a:p>
            <a:pPr marL="0" indent="0" algn="ctr">
              <a:lnSpc>
                <a:spcPct val="100000"/>
              </a:lnSpc>
              <a:spcBef>
                <a:spcPts val="0"/>
              </a:spcBef>
              <a:spcAft>
                <a:spcPts val="200"/>
              </a:spcAft>
              <a:buNone/>
            </a:pPr>
            <a:r>
              <a:rPr lang="en-US" sz="2800" b="1" i="0" dirty="0">
                <a:solidFill>
                  <a:srgbClr val="D98E45"/>
                </a:solidFill>
                <a:latin typeface="Times New Roman"/>
                <a:cs typeface="Times New Roman"/>
              </a:rPr>
              <a:t>06</a:t>
            </a:r>
          </a:p>
          <a:p>
            <a:pPr marL="0" indent="0" algn="ctr">
              <a:lnSpc>
                <a:spcPct val="92000"/>
              </a:lnSpc>
              <a:spcBef>
                <a:spcPts val="0"/>
              </a:spcBef>
              <a:spcAft>
                <a:spcPts val="400"/>
              </a:spcAft>
              <a:buNone/>
            </a:pPr>
            <a:r>
              <a:rPr lang="en-US" sz="2100" b="1" i="0" dirty="0">
                <a:solidFill>
                  <a:srgbClr val="1E3A52"/>
                </a:solidFill>
                <a:latin typeface="Times New Roman"/>
                <a:cs typeface="Times New Roman"/>
              </a:rPr>
              <a:t>Result analysis</a:t>
            </a:r>
          </a:p>
          <a:p>
            <a:pPr marL="0" indent="0" algn="ctr">
              <a:lnSpc>
                <a:spcPct val="92000"/>
              </a:lnSpc>
              <a:spcBef>
                <a:spcPts val="0"/>
              </a:spcBef>
              <a:spcAft>
                <a:spcPts val="0"/>
              </a:spcAft>
              <a:buNone/>
            </a:pPr>
            <a:r>
              <a:rPr lang="en-US" sz="1900" b="0" i="0" dirty="0">
                <a:solidFill>
                  <a:srgbClr val="1E2A32"/>
                </a:solidFill>
                <a:latin typeface="Times New Roman"/>
                <a:cs typeface="Times New Roman"/>
              </a:rPr>
              <a:t>Ablation, errors, robustness</a:t>
            </a:r>
          </a:p>
        </p:txBody>
      </p:sp>
      <p:cxnSp>
        <p:nvCxnSpPr>
          <p:cNvPr id="2136" name="Method arrow 1"/>
          <p:cNvCxnSpPr/>
          <p:nvPr/>
        </p:nvCxnSpPr>
        <p:spPr>
          <a:xfrm>
            <a:off x="3022600" y="18161000"/>
            <a:ext cx="482600" cy="0"/>
          </a:xfrm>
          <a:prstGeom prst="line">
            <a:avLst/>
          </a:prstGeom>
          <a:ln w="57150">
            <a:solidFill>
              <a:srgbClr val="1E3A52"/>
            </a:solidFill>
            <a:tailEnd type="triangle" w="med" len="med"/>
          </a:ln>
        </p:spPr>
      </p:cxnSp>
      <p:cxnSp>
        <p:nvCxnSpPr>
          <p:cNvPr id="2137" name="Method arrow 2"/>
          <p:cNvCxnSpPr/>
          <p:nvPr/>
        </p:nvCxnSpPr>
        <p:spPr>
          <a:xfrm>
            <a:off x="6070600" y="18161000"/>
            <a:ext cx="482600" cy="0"/>
          </a:xfrm>
          <a:prstGeom prst="line">
            <a:avLst/>
          </a:prstGeom>
          <a:ln w="57150">
            <a:solidFill>
              <a:srgbClr val="1E3A52"/>
            </a:solidFill>
            <a:tailEnd type="triangle" w="med" len="med"/>
          </a:ln>
        </p:spPr>
      </p:cxnSp>
      <p:cxnSp>
        <p:nvCxnSpPr>
          <p:cNvPr id="2138" name="Method arrow 4"/>
          <p:cNvCxnSpPr/>
          <p:nvPr/>
        </p:nvCxnSpPr>
        <p:spPr>
          <a:xfrm>
            <a:off x="3022600" y="20929600"/>
            <a:ext cx="482600" cy="0"/>
          </a:xfrm>
          <a:prstGeom prst="line">
            <a:avLst/>
          </a:prstGeom>
          <a:ln w="57150">
            <a:solidFill>
              <a:srgbClr val="1E3A52"/>
            </a:solidFill>
            <a:tailEnd type="triangle" w="med" len="med"/>
          </a:ln>
        </p:spPr>
      </p:cxnSp>
      <p:cxnSp>
        <p:nvCxnSpPr>
          <p:cNvPr id="2139" name="Method arrow 5"/>
          <p:cNvCxnSpPr/>
          <p:nvPr/>
        </p:nvCxnSpPr>
        <p:spPr>
          <a:xfrm>
            <a:off x="6070600" y="20929600"/>
            <a:ext cx="482600" cy="0"/>
          </a:xfrm>
          <a:prstGeom prst="line">
            <a:avLst/>
          </a:prstGeom>
          <a:ln w="57150">
            <a:solidFill>
              <a:srgbClr val="1E3A52"/>
            </a:solidFill>
            <a:tailEnd type="triangle" w="med" len="med"/>
          </a:ln>
        </p:spPr>
      </p:cxnSp>
      <p:sp>
        <p:nvSpPr>
          <p:cNvPr id="2140" name="Method elbow"/>
          <p:cNvSpPr/>
          <p:nvPr/>
        </p:nvSpPr>
        <p:spPr>
          <a:xfrm>
            <a:off x="1739900" y="19354800"/>
            <a:ext cx="6096000" cy="381000"/>
          </a:xfrm>
          <a:custGeom>
            <a:avLst/>
            <a:gdLst/>
            <a:ahLst/>
            <a:cxnLst/>
            <a:rect l="0" t="0" r="r" b="b"/>
            <a:pathLst>
              <a:path w="6096000" h="381000" fill="none">
                <a:moveTo>
                  <a:pt x="6096000" y="0"/>
                </a:moveTo>
                <a:lnTo>
                  <a:pt x="6096000" y="190500"/>
                </a:lnTo>
                <a:lnTo>
                  <a:pt x="0" y="190500"/>
                </a:lnTo>
                <a:lnTo>
                  <a:pt x="0" y="381000"/>
                </a:lnTo>
              </a:path>
            </a:pathLst>
          </a:custGeom>
          <a:noFill/>
          <a:ln w="57150">
            <a:solidFill>
              <a:srgbClr val="1E3A52"/>
            </a:solidFill>
            <a:round/>
            <a:tailEnd type="triangle" w="med" len="med"/>
          </a:ln>
        </p:spPr>
        <p:txBody>
          <a:bodyPr/>
          <a:lstStyle/>
          <a:p>
            <a:endParaRPr lang="en-US"/>
          </a:p>
        </p:txBody>
      </p:sp>
      <p:sp>
        <p:nvSpPr>
          <p:cNvPr id="2170" name="Prep box 0"/>
          <p:cNvSpPr/>
          <p:nvPr/>
        </p:nvSpPr>
        <p:spPr>
          <a:xfrm>
            <a:off x="2413000" y="25196800"/>
            <a:ext cx="4826000" cy="914400"/>
          </a:xfrm>
          <a:prstGeom prst="roundRect">
            <a:avLst>
              <a:gd name="adj" fmla="val 14000"/>
            </a:avLst>
          </a:prstGeom>
          <a:solidFill>
            <a:srgbClr val="1E3A52"/>
          </a:solidFill>
          <a:ln>
            <a:no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FFFFFF"/>
                </a:solidFill>
                <a:latin typeface="Times New Roman"/>
                <a:cs typeface="Times New Roman"/>
              </a:rPr>
              <a:t>CIC-UNSW-NB15 full release</a:t>
            </a:r>
          </a:p>
          <a:p>
            <a:pPr marL="0" indent="0" algn="ctr">
              <a:lnSpc>
                <a:spcPct val="95000"/>
              </a:lnSpc>
              <a:spcBef>
                <a:spcPts val="0"/>
              </a:spcBef>
              <a:spcAft>
                <a:spcPts val="0"/>
              </a:spcAft>
              <a:buNone/>
            </a:pPr>
            <a:r>
              <a:rPr lang="en-US" sz="1900" b="0" i="0" dirty="0">
                <a:solidFill>
                  <a:srgbClr val="CFE0E9"/>
                </a:solidFill>
                <a:latin typeface="Times New Roman"/>
                <a:cs typeface="Times New Roman"/>
              </a:rPr>
              <a:t>3,540,241 flows · 76 numeric features</a:t>
            </a:r>
          </a:p>
        </p:txBody>
      </p:sp>
      <p:cxnSp>
        <p:nvCxnSpPr>
          <p:cNvPr id="2171" name="Prep arrow 0"/>
          <p:cNvCxnSpPr/>
          <p:nvPr/>
        </p:nvCxnSpPr>
        <p:spPr>
          <a:xfrm>
            <a:off x="4826000" y="26136600"/>
            <a:ext cx="0" cy="266700"/>
          </a:xfrm>
          <a:prstGeom prst="line">
            <a:avLst/>
          </a:prstGeom>
          <a:ln w="31750">
            <a:solidFill>
              <a:srgbClr val="1E3A52"/>
            </a:solidFill>
            <a:tailEnd type="triangle" w="med" len="med"/>
          </a:ln>
        </p:spPr>
      </p:cxnSp>
      <p:sp>
        <p:nvSpPr>
          <p:cNvPr id="2172" name="Prep box 1"/>
          <p:cNvSpPr/>
          <p:nvPr/>
        </p:nvSpPr>
        <p:spPr>
          <a:xfrm>
            <a:off x="2413000" y="26441400"/>
            <a:ext cx="4826000" cy="914400"/>
          </a:xfrm>
          <a:prstGeom prst="roundRect">
            <a:avLst>
              <a:gd name="adj" fmla="val 14000"/>
            </a:avLst>
          </a:prstGeom>
          <a:solidFill>
            <a:srgbClr val="EEF2F4"/>
          </a:solidFill>
          <a:ln w="19050">
            <a:solidFill>
              <a:srgbClr val="9DB4C0"/>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Step 1 · Remove duplicates</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3,540,241 → 2,606,803 flows</a:t>
            </a:r>
          </a:p>
        </p:txBody>
      </p:sp>
      <p:cxnSp>
        <p:nvCxnSpPr>
          <p:cNvPr id="2173" name="Prep arrow 1"/>
          <p:cNvCxnSpPr/>
          <p:nvPr/>
        </p:nvCxnSpPr>
        <p:spPr>
          <a:xfrm>
            <a:off x="4826000" y="27381200"/>
            <a:ext cx="0" cy="266700"/>
          </a:xfrm>
          <a:prstGeom prst="line">
            <a:avLst/>
          </a:prstGeom>
          <a:ln w="31750">
            <a:solidFill>
              <a:srgbClr val="1E3A52"/>
            </a:solidFill>
            <a:tailEnd type="triangle" w="med" len="med"/>
          </a:ln>
        </p:spPr>
      </p:cxnSp>
      <p:sp>
        <p:nvSpPr>
          <p:cNvPr id="2174" name="Prep note 1"/>
          <p:cNvSpPr txBox="1"/>
          <p:nvPr/>
        </p:nvSpPr>
        <p:spPr>
          <a:xfrm>
            <a:off x="558800" y="26390600"/>
            <a:ext cx="1498600" cy="1016000"/>
          </a:xfrm>
          <a:prstGeom prst="rect">
            <a:avLst/>
          </a:prstGeom>
          <a:noFill/>
          <a:ln>
            <a:noFill/>
          </a:ln>
        </p:spPr>
        <p:txBody>
          <a:bodyPr wrap="square" lIns="0" tIns="25400" rIns="0" bIns="25400" rtlCol="0" anchor="ctr">
            <a:noAutofit/>
          </a:bodyPr>
          <a:lstStyle/>
          <a:p>
            <a:pPr marL="0" indent="0" algn="ctr">
              <a:lnSpc>
                <a:spcPct val="95000"/>
              </a:lnSpc>
              <a:spcBef>
                <a:spcPts val="0"/>
              </a:spcBef>
              <a:spcAft>
                <a:spcPts val="0"/>
              </a:spcAft>
              <a:buNone/>
            </a:pPr>
            <a:r>
              <a:rPr lang="en-US" sz="2100" b="1" i="0" dirty="0">
                <a:solidFill>
                  <a:srgbClr val="D98E45"/>
                </a:solidFill>
                <a:latin typeface="Times New Roman"/>
                <a:cs typeface="Times New Roman"/>
              </a:rPr>
              <a:t>933,438</a:t>
            </a:r>
          </a:p>
          <a:p>
            <a:pPr marL="0" indent="0" algn="ctr">
              <a:lnSpc>
                <a:spcPct val="95000"/>
              </a:lnSpc>
              <a:spcBef>
                <a:spcPts val="0"/>
              </a:spcBef>
              <a:spcAft>
                <a:spcPts val="0"/>
              </a:spcAft>
              <a:buNone/>
            </a:pPr>
            <a:r>
              <a:rPr lang="en-US" sz="1800" b="0" i="0" dirty="0">
                <a:solidFill>
                  <a:srgbClr val="4A5A68"/>
                </a:solidFill>
                <a:latin typeface="Times New Roman"/>
                <a:cs typeface="Times New Roman"/>
              </a:rPr>
              <a:t>duplicates removed</a:t>
            </a:r>
          </a:p>
        </p:txBody>
      </p:sp>
      <p:cxnSp>
        <p:nvCxnSpPr>
          <p:cNvPr id="2175" name="Prep leader 1"/>
          <p:cNvCxnSpPr/>
          <p:nvPr/>
        </p:nvCxnSpPr>
        <p:spPr>
          <a:xfrm>
            <a:off x="2082800" y="26898600"/>
            <a:ext cx="304800" cy="0"/>
          </a:xfrm>
          <a:prstGeom prst="line">
            <a:avLst/>
          </a:prstGeom>
          <a:ln w="15875">
            <a:solidFill>
              <a:srgbClr val="8A9AA8"/>
            </a:solidFill>
            <a:prstDash val="dash"/>
          </a:ln>
        </p:spPr>
      </p:cxnSp>
      <p:sp>
        <p:nvSpPr>
          <p:cNvPr id="2176" name="Prep box 2"/>
          <p:cNvSpPr/>
          <p:nvPr/>
        </p:nvSpPr>
        <p:spPr>
          <a:xfrm>
            <a:off x="2413000" y="27686000"/>
            <a:ext cx="4826000" cy="914400"/>
          </a:xfrm>
          <a:prstGeom prst="roundRect">
            <a:avLst>
              <a:gd name="adj" fmla="val 14000"/>
            </a:avLst>
          </a:prstGeom>
          <a:solidFill>
            <a:srgbClr val="EEF2F4"/>
          </a:solidFill>
          <a:ln w="19050">
            <a:solidFill>
              <a:srgbClr val="9DB4C0"/>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Step 2 · Drop constant features</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Zero variance · 76 → 67 features</a:t>
            </a:r>
          </a:p>
        </p:txBody>
      </p:sp>
      <p:cxnSp>
        <p:nvCxnSpPr>
          <p:cNvPr id="2177" name="Prep arrow 2"/>
          <p:cNvCxnSpPr/>
          <p:nvPr/>
        </p:nvCxnSpPr>
        <p:spPr>
          <a:xfrm>
            <a:off x="4826000" y="28625800"/>
            <a:ext cx="0" cy="266700"/>
          </a:xfrm>
          <a:prstGeom prst="line">
            <a:avLst/>
          </a:prstGeom>
          <a:ln w="31750">
            <a:solidFill>
              <a:srgbClr val="1E3A52"/>
            </a:solidFill>
            <a:tailEnd type="triangle" w="med" len="med"/>
          </a:ln>
        </p:spPr>
      </p:cxnSp>
      <p:sp>
        <p:nvSpPr>
          <p:cNvPr id="2178" name="Prep note 2"/>
          <p:cNvSpPr txBox="1"/>
          <p:nvPr/>
        </p:nvSpPr>
        <p:spPr>
          <a:xfrm>
            <a:off x="7620000" y="27635200"/>
            <a:ext cx="1397000" cy="1016000"/>
          </a:xfrm>
          <a:prstGeom prst="rect">
            <a:avLst/>
          </a:prstGeom>
          <a:noFill/>
          <a:ln>
            <a:noFill/>
          </a:ln>
        </p:spPr>
        <p:txBody>
          <a:bodyPr wrap="square" lIns="0" tIns="25400" rIns="0" bIns="25400" rtlCol="0" anchor="ctr">
            <a:noAutofit/>
          </a:bodyPr>
          <a:lstStyle/>
          <a:p>
            <a:pPr marL="0" indent="0" algn="ctr">
              <a:lnSpc>
                <a:spcPct val="95000"/>
              </a:lnSpc>
              <a:spcBef>
                <a:spcPts val="0"/>
              </a:spcBef>
              <a:spcAft>
                <a:spcPts val="0"/>
              </a:spcAft>
              <a:buNone/>
            </a:pPr>
            <a:r>
              <a:rPr lang="en-US" sz="2100" b="1" i="0" dirty="0">
                <a:solidFill>
                  <a:srgbClr val="D98E45"/>
                </a:solidFill>
                <a:latin typeface="Times New Roman"/>
                <a:cs typeface="Times New Roman"/>
              </a:rPr>
              <a:t>9</a:t>
            </a:r>
          </a:p>
          <a:p>
            <a:pPr marL="0" indent="0" algn="ctr">
              <a:lnSpc>
                <a:spcPct val="95000"/>
              </a:lnSpc>
              <a:spcBef>
                <a:spcPts val="0"/>
              </a:spcBef>
              <a:spcAft>
                <a:spcPts val="0"/>
              </a:spcAft>
              <a:buNone/>
            </a:pPr>
            <a:r>
              <a:rPr lang="en-US" sz="1800" b="0" i="0" dirty="0">
                <a:solidFill>
                  <a:srgbClr val="4A5A68"/>
                </a:solidFill>
                <a:latin typeface="Times New Roman"/>
                <a:cs typeface="Times New Roman"/>
              </a:rPr>
              <a:t>features dropped</a:t>
            </a:r>
          </a:p>
        </p:txBody>
      </p:sp>
      <p:cxnSp>
        <p:nvCxnSpPr>
          <p:cNvPr id="2179" name="Prep leader 2"/>
          <p:cNvCxnSpPr/>
          <p:nvPr/>
        </p:nvCxnSpPr>
        <p:spPr>
          <a:xfrm>
            <a:off x="7264400" y="28143200"/>
            <a:ext cx="330200" cy="0"/>
          </a:xfrm>
          <a:prstGeom prst="line">
            <a:avLst/>
          </a:prstGeom>
          <a:ln w="15875">
            <a:solidFill>
              <a:srgbClr val="8A9AA8"/>
            </a:solidFill>
            <a:prstDash val="dash"/>
          </a:ln>
        </p:spPr>
      </p:cxnSp>
      <p:sp>
        <p:nvSpPr>
          <p:cNvPr id="2180" name="Prep box 3"/>
          <p:cNvSpPr/>
          <p:nvPr/>
        </p:nvSpPr>
        <p:spPr>
          <a:xfrm>
            <a:off x="2413000" y="28930600"/>
            <a:ext cx="4826000" cy="914400"/>
          </a:xfrm>
          <a:prstGeom prst="roundRect">
            <a:avLst>
              <a:gd name="adj" fmla="val 14000"/>
            </a:avLst>
          </a:prstGeom>
          <a:solidFill>
            <a:srgbClr val="EEF2F4"/>
          </a:solidFill>
          <a:ln w="19050">
            <a:solidFill>
              <a:srgbClr val="9DB4C0"/>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Step 3 · Prune correlations</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|r| ≥ 0.95 · 67 → 43 features</a:t>
            </a:r>
          </a:p>
        </p:txBody>
      </p:sp>
      <p:cxnSp>
        <p:nvCxnSpPr>
          <p:cNvPr id="2181" name="Prep arrow 3"/>
          <p:cNvCxnSpPr/>
          <p:nvPr/>
        </p:nvCxnSpPr>
        <p:spPr>
          <a:xfrm>
            <a:off x="4826000" y="29870400"/>
            <a:ext cx="0" cy="266700"/>
          </a:xfrm>
          <a:prstGeom prst="line">
            <a:avLst/>
          </a:prstGeom>
          <a:ln w="31750">
            <a:solidFill>
              <a:srgbClr val="1E3A52"/>
            </a:solidFill>
            <a:tailEnd type="triangle" w="med" len="med"/>
          </a:ln>
        </p:spPr>
      </p:cxnSp>
      <p:sp>
        <p:nvSpPr>
          <p:cNvPr id="2182" name="Prep note 3"/>
          <p:cNvSpPr txBox="1"/>
          <p:nvPr/>
        </p:nvSpPr>
        <p:spPr>
          <a:xfrm>
            <a:off x="558800" y="28879800"/>
            <a:ext cx="1498600" cy="1016000"/>
          </a:xfrm>
          <a:prstGeom prst="rect">
            <a:avLst/>
          </a:prstGeom>
          <a:noFill/>
          <a:ln>
            <a:noFill/>
          </a:ln>
        </p:spPr>
        <p:txBody>
          <a:bodyPr wrap="square" lIns="0" tIns="25400" rIns="0" bIns="25400" rtlCol="0" anchor="ctr">
            <a:noAutofit/>
          </a:bodyPr>
          <a:lstStyle/>
          <a:p>
            <a:pPr marL="0" indent="0" algn="ctr">
              <a:lnSpc>
                <a:spcPct val="95000"/>
              </a:lnSpc>
              <a:spcBef>
                <a:spcPts val="0"/>
              </a:spcBef>
              <a:spcAft>
                <a:spcPts val="0"/>
              </a:spcAft>
              <a:buNone/>
            </a:pPr>
            <a:r>
              <a:rPr lang="en-US" sz="2100" b="1" i="0" dirty="0">
                <a:solidFill>
                  <a:srgbClr val="D98E45"/>
                </a:solidFill>
                <a:latin typeface="Times New Roman"/>
                <a:cs typeface="Times New Roman"/>
              </a:rPr>
              <a:t>24</a:t>
            </a:r>
          </a:p>
          <a:p>
            <a:pPr marL="0" indent="0" algn="ctr">
              <a:lnSpc>
                <a:spcPct val="95000"/>
              </a:lnSpc>
              <a:spcBef>
                <a:spcPts val="0"/>
              </a:spcBef>
              <a:spcAft>
                <a:spcPts val="0"/>
              </a:spcAft>
              <a:buNone/>
            </a:pPr>
            <a:r>
              <a:rPr lang="en-US" sz="1800" b="0" i="0" dirty="0">
                <a:solidFill>
                  <a:srgbClr val="4A5A68"/>
                </a:solidFill>
                <a:latin typeface="Times New Roman"/>
                <a:cs typeface="Times New Roman"/>
              </a:rPr>
              <a:t>features dropped</a:t>
            </a:r>
          </a:p>
        </p:txBody>
      </p:sp>
      <p:cxnSp>
        <p:nvCxnSpPr>
          <p:cNvPr id="2183" name="Prep leader 3"/>
          <p:cNvCxnSpPr/>
          <p:nvPr/>
        </p:nvCxnSpPr>
        <p:spPr>
          <a:xfrm>
            <a:off x="2082800" y="29387800"/>
            <a:ext cx="304800" cy="0"/>
          </a:xfrm>
          <a:prstGeom prst="line">
            <a:avLst/>
          </a:prstGeom>
          <a:ln w="15875">
            <a:solidFill>
              <a:srgbClr val="8A9AA8"/>
            </a:solidFill>
            <a:prstDash val="dash"/>
          </a:ln>
        </p:spPr>
      </p:cxnSp>
      <p:sp>
        <p:nvSpPr>
          <p:cNvPr id="2184" name="Prep box 4"/>
          <p:cNvSpPr/>
          <p:nvPr/>
        </p:nvSpPr>
        <p:spPr>
          <a:xfrm>
            <a:off x="2413000" y="30175200"/>
            <a:ext cx="4826000" cy="914400"/>
          </a:xfrm>
          <a:prstGeom prst="roundRect">
            <a:avLst>
              <a:gd name="adj" fmla="val 14000"/>
            </a:avLst>
          </a:prstGeom>
          <a:solidFill>
            <a:srgbClr val="EEF2F4"/>
          </a:solidFill>
          <a:ln w="19050">
            <a:solidFill>
              <a:srgbClr val="9DB4C0"/>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Step 4 · Stratified 80/20 split</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2,085,442 train · 521,361 test flows</a:t>
            </a:r>
          </a:p>
        </p:txBody>
      </p:sp>
      <p:cxnSp>
        <p:nvCxnSpPr>
          <p:cNvPr id="2185" name="Prep arrow 4"/>
          <p:cNvCxnSpPr/>
          <p:nvPr/>
        </p:nvCxnSpPr>
        <p:spPr>
          <a:xfrm>
            <a:off x="4826000" y="31115000"/>
            <a:ext cx="0" cy="266700"/>
          </a:xfrm>
          <a:prstGeom prst="line">
            <a:avLst/>
          </a:prstGeom>
          <a:ln w="31750">
            <a:solidFill>
              <a:srgbClr val="1E3A52"/>
            </a:solidFill>
            <a:tailEnd type="triangle" w="med" len="med"/>
          </a:ln>
        </p:spPr>
      </p:cxnSp>
      <p:sp>
        <p:nvSpPr>
          <p:cNvPr id="2186" name="Prep box 5"/>
          <p:cNvSpPr/>
          <p:nvPr/>
        </p:nvSpPr>
        <p:spPr>
          <a:xfrm>
            <a:off x="2413000" y="31419800"/>
            <a:ext cx="4826000" cy="914400"/>
          </a:xfrm>
          <a:prstGeom prst="roundRect">
            <a:avLst>
              <a:gd name="adj" fmla="val 14000"/>
            </a:avLst>
          </a:prstGeom>
          <a:solidFill>
            <a:srgbClr val="EEF2F4"/>
          </a:solidFill>
          <a:ln w="19050">
            <a:solidFill>
              <a:srgbClr val="9DB4C0"/>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Step 5 · Feature engineering</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+31 behavioural · +25 service features</a:t>
            </a:r>
          </a:p>
        </p:txBody>
      </p:sp>
      <p:cxnSp>
        <p:nvCxnSpPr>
          <p:cNvPr id="2187" name="Prep arrow 5"/>
          <p:cNvCxnSpPr/>
          <p:nvPr/>
        </p:nvCxnSpPr>
        <p:spPr>
          <a:xfrm>
            <a:off x="4826000" y="32359600"/>
            <a:ext cx="0" cy="266700"/>
          </a:xfrm>
          <a:prstGeom prst="line">
            <a:avLst/>
          </a:prstGeom>
          <a:ln w="31750">
            <a:solidFill>
              <a:srgbClr val="1E3A52"/>
            </a:solidFill>
            <a:tailEnd type="triangle" w="med" len="med"/>
          </a:ln>
        </p:spPr>
      </p:cxnSp>
      <p:sp>
        <p:nvSpPr>
          <p:cNvPr id="2188" name="Prep note 5"/>
          <p:cNvSpPr txBox="1"/>
          <p:nvPr/>
        </p:nvSpPr>
        <p:spPr>
          <a:xfrm>
            <a:off x="7620000" y="31369000"/>
            <a:ext cx="1397000" cy="1016000"/>
          </a:xfrm>
          <a:prstGeom prst="rect">
            <a:avLst/>
          </a:prstGeom>
          <a:noFill/>
          <a:ln>
            <a:noFill/>
          </a:ln>
        </p:spPr>
        <p:txBody>
          <a:bodyPr wrap="square" lIns="0" tIns="25400" rIns="0" bIns="25400" rtlCol="0" anchor="ctr">
            <a:noAutofit/>
          </a:bodyPr>
          <a:lstStyle/>
          <a:p>
            <a:pPr marL="0" indent="0" algn="ctr">
              <a:lnSpc>
                <a:spcPct val="95000"/>
              </a:lnSpc>
              <a:spcBef>
                <a:spcPts val="0"/>
              </a:spcBef>
              <a:spcAft>
                <a:spcPts val="0"/>
              </a:spcAft>
              <a:buNone/>
            </a:pPr>
            <a:r>
              <a:rPr lang="en-US" sz="2100" b="1" i="0" dirty="0">
                <a:solidFill>
                  <a:srgbClr val="D98E45"/>
                </a:solidFill>
                <a:latin typeface="Times New Roman"/>
                <a:cs typeface="Times New Roman"/>
              </a:rPr>
              <a:t>43 → 99</a:t>
            </a:r>
          </a:p>
          <a:p>
            <a:pPr marL="0" indent="0" algn="ctr">
              <a:lnSpc>
                <a:spcPct val="95000"/>
              </a:lnSpc>
              <a:spcBef>
                <a:spcPts val="0"/>
              </a:spcBef>
              <a:spcAft>
                <a:spcPts val="0"/>
              </a:spcAft>
              <a:buNone/>
            </a:pPr>
            <a:r>
              <a:rPr lang="en-US" sz="1800" b="0" i="0" dirty="0">
                <a:solidFill>
                  <a:srgbClr val="4A5A68"/>
                </a:solidFill>
                <a:latin typeface="Times New Roman"/>
                <a:cs typeface="Times New Roman"/>
              </a:rPr>
              <a:t>features</a:t>
            </a:r>
          </a:p>
        </p:txBody>
      </p:sp>
      <p:cxnSp>
        <p:nvCxnSpPr>
          <p:cNvPr id="2189" name="Prep leader 5"/>
          <p:cNvCxnSpPr/>
          <p:nvPr/>
        </p:nvCxnSpPr>
        <p:spPr>
          <a:xfrm>
            <a:off x="7264400" y="31877000"/>
            <a:ext cx="330200" cy="0"/>
          </a:xfrm>
          <a:prstGeom prst="line">
            <a:avLst/>
          </a:prstGeom>
          <a:ln w="15875">
            <a:solidFill>
              <a:srgbClr val="8A9AA8"/>
            </a:solidFill>
            <a:prstDash val="dash"/>
          </a:ln>
        </p:spPr>
      </p:cxnSp>
      <p:sp>
        <p:nvSpPr>
          <p:cNvPr id="2190" name="Prep box 6"/>
          <p:cNvSpPr/>
          <p:nvPr/>
        </p:nvSpPr>
        <p:spPr>
          <a:xfrm>
            <a:off x="2413000" y="32664400"/>
            <a:ext cx="4826000" cy="914400"/>
          </a:xfrm>
          <a:prstGeom prst="roundRect">
            <a:avLst>
              <a:gd name="adj" fmla="val 14000"/>
            </a:avLst>
          </a:prstGeom>
          <a:solidFill>
            <a:srgbClr val="FBEBDD"/>
          </a:solidFill>
          <a:ln w="19050">
            <a:solidFill>
              <a:srgbClr val="D98E45"/>
            </a:solidFill>
          </a:ln>
        </p:spPr>
        <p:txBody>
          <a:bodyPr wrap="square" lIns="101600" tIns="25400" rIns="101600" bIns="25400" rtlCol="0" anchor="ctr">
            <a:noAutofit/>
          </a:bodyPr>
          <a:lstStyle/>
          <a:p>
            <a:pPr marL="0" indent="0" algn="ctr">
              <a:lnSpc>
                <a:spcPct val="95000"/>
              </a:lnSpc>
              <a:spcBef>
                <a:spcPts val="0"/>
              </a:spcBef>
              <a:spcAft>
                <a:spcPts val="200"/>
              </a:spcAft>
              <a:buNone/>
            </a:pPr>
            <a:r>
              <a:rPr lang="en-US" sz="2100" b="1" i="0" dirty="0">
                <a:solidFill>
                  <a:srgbClr val="1E3A52"/>
                </a:solidFill>
                <a:latin typeface="Times New Roman"/>
                <a:cs typeface="Times New Roman"/>
              </a:rPr>
              <a:t>Model-ready data</a:t>
            </a:r>
          </a:p>
          <a:p>
            <a:pPr marL="0" indent="0" algn="ctr">
              <a:lnSpc>
                <a:spcPct val="95000"/>
              </a:lnSpc>
              <a:spcBef>
                <a:spcPts val="0"/>
              </a:spcBef>
              <a:spcAft>
                <a:spcPts val="0"/>
              </a:spcAft>
              <a:buNone/>
            </a:pPr>
            <a:r>
              <a:rPr lang="en-US" sz="1900" b="0" i="0" dirty="0">
                <a:solidFill>
                  <a:srgbClr val="1E2A32"/>
                </a:solidFill>
                <a:latin typeface="Times New Roman"/>
                <a:cs typeface="Times New Roman"/>
              </a:rPr>
              <a:t>99 features · leakage-safe split</a:t>
            </a:r>
          </a:p>
        </p:txBody>
      </p:sp>
      <p:grpSp>
        <p:nvGrpSpPr>
          <p:cNvPr id="2516" name="GrowthArrow f2408 0"/>
          <p:cNvGrpSpPr/>
          <p:nvPr/>
        </p:nvGrpSpPr>
        <p:grpSpPr>
          <a:xfrm>
            <a:off x="10738348" y="25908000"/>
            <a:ext cx="5929904" cy="1295400"/>
            <a:chOff x="10738348" y="25908000"/>
            <a:chExt cx="5929904" cy="1295400"/>
          </a:xfrm>
        </p:grpSpPr>
        <p:cxnSp>
          <p:nvCxnSpPr>
            <p:cNvPr id="2517" name="GrowthArrow f2408 0 rise"/>
            <p:cNvCxnSpPr/>
            <p:nvPr/>
          </p:nvCxnSpPr>
          <p:spPr>
            <a:xfrm flipV="1">
              <a:off x="10738348" y="26187400"/>
              <a:ext cx="1" cy="1016000"/>
            </a:xfrm>
            <a:prstGeom prst="line">
              <a:avLst/>
            </a:prstGeom>
            <a:ln w="28575">
              <a:solidFill>
                <a:srgbClr val="5A6B78"/>
              </a:solidFill>
            </a:ln>
          </p:spPr>
        </p:cxnSp>
        <p:cxnSp>
          <p:nvCxnSpPr>
            <p:cNvPr id="2518" name="GrowthArrow f2408 0 line"/>
            <p:cNvCxnSpPr/>
            <p:nvPr/>
          </p:nvCxnSpPr>
          <p:spPr>
            <a:xfrm>
              <a:off x="10738348" y="26187400"/>
              <a:ext cx="5929904" cy="1"/>
            </a:xfrm>
            <a:prstGeom prst="line">
              <a:avLst/>
            </a:prstGeom>
            <a:ln w="28575">
              <a:solidFill>
                <a:srgbClr val="5A6B78"/>
              </a:solidFill>
            </a:ln>
          </p:spPr>
        </p:cxnSp>
        <p:cxnSp>
          <p:nvCxnSpPr>
            <p:cNvPr id="2519" name="GrowthArrow f2408 0 drop"/>
            <p:cNvCxnSpPr/>
            <p:nvPr/>
          </p:nvCxnSpPr>
          <p:spPr>
            <a:xfrm>
              <a:off x="16668252" y="26187400"/>
              <a:ext cx="1" cy="939800"/>
            </a:xfrm>
            <a:prstGeom prst="line">
              <a:avLst/>
            </a:prstGeom>
            <a:ln w="28575">
              <a:solidFill>
                <a:srgbClr val="5A6B78"/>
              </a:solidFill>
              <a:tailEnd type="triangle" w="med" len="med"/>
            </a:ln>
          </p:spPr>
        </p:cxnSp>
        <p:sp>
          <p:nvSpPr>
            <p:cNvPr id="2520" name="GrowthArrow f2408 0 label"/>
            <p:cNvSpPr txBox="1"/>
            <p:nvPr/>
          </p:nvSpPr>
          <p:spPr>
            <a:xfrm>
              <a:off x="12941300" y="25908000"/>
              <a:ext cx="1524000" cy="558800"/>
            </a:xfrm>
            <a:prstGeom prst="rect">
              <a:avLst/>
            </a:prstGeom>
            <a:solidFill>
              <a:srgbClr val="FFFFFF"/>
            </a:solidFill>
          </p:spPr>
          <p:txBody>
            <a:bodyPr wrap="none" lIns="0" tIns="0" rIns="0" bIns="0" anchor="ctr">
              <a:noAutofit/>
            </a:bodyPr>
            <a:lstStyle/>
            <a:p>
              <a:pPr algn="ctr"/>
              <a:r>
                <a:rPr lang="en-US" sz="2400" b="1" dirty="0">
                  <a:solidFill>
                    <a:srgbClr val="1E2A32"/>
                  </a:solidFill>
                  <a:latin typeface="Times New Roman"/>
                </a:rPr>
                <a:t>+0.030</a:t>
              </a:r>
            </a:p>
          </p:txBody>
        </p:sp>
      </p:grpSp>
      <p:graphicFrame>
        <p:nvGraphicFramePr>
          <p:cNvPr id="2530" name="Other datasets table"/>
          <p:cNvGraphicFramePr>
            <a:graphicFrameLocks noGrp="1"/>
          </p:cNvGraphicFramePr>
          <p:nvPr/>
        </p:nvGraphicFramePr>
        <p:xfrm>
          <a:off x="18415000" y="16154400"/>
          <a:ext cx="8458200" cy="4765040"/>
        </p:xfrm>
        <a:graphic>
          <a:graphicData uri="http://schemas.openxmlformats.org/drawingml/2006/table">
            <a:tbl>
              <a:tblPr firstRow="1"/>
              <a:tblGrid>
                <a:gridCol w="2540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gridCol w="2895600">
                  <a:extLst>
                    <a:ext uri="{9D8B030D-6E8A-4147-A177-3AD203B41FA5}">
                      <a16:colId xmlns:a16="http://schemas.microsoft.com/office/drawing/2014/main" val="20003"/>
                    </a:ext>
                  </a:extLst>
                </a:gridCol>
              </a:tblGrid>
              <a:tr h="635000">
                <a:tc>
                  <a:txBody>
                    <a:bodyPr/>
                    <a:lstStyle/>
                    <a:p>
                      <a:pPr marL="0" indent="0" algn="l">
                        <a:buNone/>
                      </a:pPr>
                      <a:r>
                        <a:rPr lang="en-US" sz="2200" b="1" dirty="0">
                          <a:solidFill>
                            <a:srgbClr val="1E3A52"/>
                          </a:solidFill>
                          <a:latin typeface="Times New Roman"/>
                          <a:cs typeface="Times New Roman"/>
                        </a:rPr>
                        <a:t>Dataset</a:t>
                      </a:r>
                    </a:p>
                  </a:txBody>
                  <a:tcPr marL="127000" marR="127000" marT="76200" marB="76200" anchor="ctr">
                    <a:lnL w="0">
                      <a:noFill/>
                    </a:lnL>
                    <a:lnR w="0">
                      <a:noFill/>
                    </a:lnR>
                    <a:lnT w="0">
                      <a:noFill/>
                    </a:lnT>
                    <a:lnB w="9525">
                      <a:solidFill>
                        <a:srgbClr val="1E3A52"/>
                      </a:solidFill>
                    </a:lnB>
                    <a:noFill/>
                  </a:tcPr>
                </a:tc>
                <a:tc>
                  <a:txBody>
                    <a:bodyPr/>
                    <a:lstStyle/>
                    <a:p>
                      <a:pPr marL="0" indent="0" algn="r">
                        <a:buNone/>
                      </a:pPr>
                      <a:r>
                        <a:rPr lang="en-US" sz="2200" b="1" dirty="0">
                          <a:solidFill>
                            <a:srgbClr val="1E3A52"/>
                          </a:solidFill>
                          <a:latin typeface="Times New Roman"/>
                          <a:cs typeface="Times New Roman"/>
                        </a:rPr>
                        <a:t>Macro-F1</a:t>
                      </a:r>
                    </a:p>
                  </a:txBody>
                  <a:tcPr marL="127000" marR="127000" marT="76200" marB="76200" anchor="ctr">
                    <a:lnL w="0">
                      <a:noFill/>
                    </a:lnL>
                    <a:lnR w="0">
                      <a:noFill/>
                    </a:lnR>
                    <a:lnT w="0">
                      <a:noFill/>
                    </a:lnT>
                    <a:lnB w="9525">
                      <a:solidFill>
                        <a:srgbClr val="1E3A52"/>
                      </a:solidFill>
                    </a:lnB>
                    <a:noFill/>
                  </a:tcPr>
                </a:tc>
                <a:tc>
                  <a:txBody>
                    <a:bodyPr/>
                    <a:lstStyle/>
                    <a:p>
                      <a:pPr marL="0" indent="0" algn="r">
                        <a:buNone/>
                      </a:pPr>
                      <a:r>
                        <a:rPr lang="en-US" sz="2200" b="1" dirty="0">
                          <a:solidFill>
                            <a:srgbClr val="1E3A52"/>
                          </a:solidFill>
                          <a:latin typeface="Times New Roman"/>
                          <a:cs typeface="Times New Roman"/>
                        </a:rPr>
                        <a:t>Accuracy</a:t>
                      </a:r>
                    </a:p>
                  </a:txBody>
                  <a:tcPr marL="127000" marR="127000" marT="76200" marB="76200" anchor="ctr">
                    <a:lnL w="0">
                      <a:noFill/>
                    </a:lnL>
                    <a:lnR w="0">
                      <a:noFill/>
                    </a:lnR>
                    <a:lnT w="0">
                      <a:noFill/>
                    </a:lnT>
                    <a:lnB w="9525">
                      <a:solidFill>
                        <a:srgbClr val="1E3A52"/>
                      </a:solidFill>
                    </a:lnB>
                    <a:noFill/>
                  </a:tcPr>
                </a:tc>
                <a:tc>
                  <a:txBody>
                    <a:bodyPr/>
                    <a:lstStyle/>
                    <a:p>
                      <a:pPr marL="0" indent="0" algn="l">
                        <a:buNone/>
                      </a:pPr>
                      <a:r>
                        <a:rPr lang="en-US" sz="2200" b="1" dirty="0">
                          <a:solidFill>
                            <a:srgbClr val="1E3A52"/>
                          </a:solidFill>
                          <a:latin typeface="Times New Roman"/>
                          <a:cs typeface="Times New Roman"/>
                        </a:rPr>
                        <a:t>Key observation</a:t>
                      </a:r>
                    </a:p>
                  </a:txBody>
                  <a:tcPr marL="127000" marR="127000" marT="76200" marB="76200" anchor="ctr">
                    <a:lnL w="0">
                      <a:noFill/>
                    </a:lnL>
                    <a:lnR w="0">
                      <a:noFill/>
                    </a:lnR>
                    <a:lnT w="0">
                      <a:noFill/>
                    </a:lnT>
                    <a:lnB w="9525">
                      <a:solidFill>
                        <a:srgbClr val="1E3A52"/>
                      </a:solidFill>
                    </a:lnB>
                    <a:noFill/>
                  </a:tcPr>
                </a:tc>
                <a:extLst>
                  <a:ext uri="{0D108BD9-81ED-4DB2-BD59-A6C34878D82A}">
                    <a16:rowId xmlns:a16="http://schemas.microsoft.com/office/drawing/2014/main" val="10000"/>
                  </a:ext>
                </a:extLst>
              </a:tr>
              <a:tr h="990600">
                <a:tc>
                  <a:txBody>
                    <a:bodyPr/>
                    <a:lstStyle/>
                    <a:p>
                      <a:pPr marL="0" indent="0" algn="l">
                        <a:buNone/>
                      </a:pPr>
                      <a:r>
                        <a:rPr lang="en-US" sz="2200" b="1" dirty="0">
                          <a:solidFill>
                            <a:srgbClr val="1E2A32"/>
                          </a:solidFill>
                          <a:latin typeface="Times New Roman"/>
                          <a:cs typeface="Times New Roman"/>
                        </a:rPr>
                        <a:t>CIC-UNSW-NB15 full release (this work)</a:t>
                      </a:r>
                    </a:p>
                  </a:txBody>
                  <a:tcPr marL="127000" marR="127000" marT="76200" marB="76200" anchor="ctr">
                    <a:lnL w="0">
                      <a:noFill/>
                    </a:lnL>
                    <a:lnR w="0">
                      <a:noFill/>
                    </a:lnR>
                    <a:lnT w="9525" cap="flat" cmpd="sng" algn="ctr">
                      <a:solidFill>
                        <a:srgbClr val="1E3A52"/>
                      </a:solidFill>
                      <a:prstDash val="solid"/>
                      <a:round/>
                      <a:headEnd type="none" w="med" len="med"/>
                      <a:tailEnd type="none" w="med" len="med"/>
                    </a:lnT>
                    <a:lnB w="9525">
                      <a:solidFill>
                        <a:srgbClr val="D8DEE2"/>
                      </a:solidFill>
                    </a:lnB>
                    <a:solidFill>
                      <a:srgbClr val="FBEBDD"/>
                    </a:solidFill>
                  </a:tcPr>
                </a:tc>
                <a:tc>
                  <a:txBody>
                    <a:bodyPr/>
                    <a:lstStyle/>
                    <a:p>
                      <a:pPr marL="0" indent="0" algn="r">
                        <a:buNone/>
                      </a:pPr>
                      <a:r>
                        <a:rPr lang="en-US" sz="2200" b="0" dirty="0">
                          <a:solidFill>
                            <a:srgbClr val="1E2A32"/>
                          </a:solidFill>
                          <a:latin typeface="Times New Roman"/>
                          <a:cs typeface="Times New Roman"/>
                        </a:rPr>
                        <a:t>0.689</a:t>
                      </a:r>
                    </a:p>
                  </a:txBody>
                  <a:tcPr marL="127000" marR="127000" marT="76200" marB="76200" anchor="ctr">
                    <a:lnL w="0">
                      <a:noFill/>
                    </a:lnL>
                    <a:lnR w="0">
                      <a:noFill/>
                    </a:lnR>
                    <a:lnT w="9525" cap="flat" cmpd="sng" algn="ctr">
                      <a:solidFill>
                        <a:srgbClr val="1E3A52"/>
                      </a:solidFill>
                      <a:prstDash val="solid"/>
                      <a:round/>
                      <a:headEnd type="none" w="med" len="med"/>
                      <a:tailEnd type="none" w="med" len="med"/>
                    </a:lnT>
                    <a:lnB w="9525">
                      <a:solidFill>
                        <a:srgbClr val="D8DEE2"/>
                      </a:solidFill>
                    </a:lnB>
                    <a:solidFill>
                      <a:srgbClr val="FBEBDD"/>
                    </a:solidFill>
                  </a:tcPr>
                </a:tc>
                <a:tc>
                  <a:txBody>
                    <a:bodyPr/>
                    <a:lstStyle/>
                    <a:p>
                      <a:pPr marL="0" indent="0" algn="r">
                        <a:buNone/>
                      </a:pPr>
                      <a:r>
                        <a:rPr lang="en-US" sz="2200" b="0" dirty="0">
                          <a:solidFill>
                            <a:srgbClr val="1E2A32"/>
                          </a:solidFill>
                          <a:latin typeface="Times New Roman"/>
                          <a:cs typeface="Times New Roman"/>
                        </a:rPr>
                        <a:t>0.987</a:t>
                      </a:r>
                    </a:p>
                  </a:txBody>
                  <a:tcPr marL="127000" marR="127000" marT="76200" marB="76200" anchor="ctr">
                    <a:lnL w="0">
                      <a:noFill/>
                    </a:lnL>
                    <a:lnR w="0">
                      <a:noFill/>
                    </a:lnR>
                    <a:lnT w="9525" cap="flat" cmpd="sng" algn="ctr">
                      <a:solidFill>
                        <a:srgbClr val="1E3A52"/>
                      </a:solidFill>
                      <a:prstDash val="solid"/>
                      <a:round/>
                      <a:headEnd type="none" w="med" len="med"/>
                      <a:tailEnd type="none" w="med" len="med"/>
                    </a:lnT>
                    <a:lnB w="9525">
                      <a:solidFill>
                        <a:srgbClr val="D8DEE2"/>
                      </a:solidFill>
                    </a:lnB>
                    <a:solidFill>
                      <a:srgbClr val="FBEBDD"/>
                    </a:solidFill>
                  </a:tcPr>
                </a:tc>
                <a:tc>
                  <a:txBody>
                    <a:bodyPr/>
                    <a:lstStyle/>
                    <a:p>
                      <a:pPr marL="0" indent="0" algn="l">
                        <a:buNone/>
                      </a:pPr>
                      <a:r>
                        <a:rPr lang="en-US" sz="2200" b="0" dirty="0">
                          <a:solidFill>
                            <a:srgbClr val="1E2A32"/>
                          </a:solidFill>
                          <a:latin typeface="Times New Roman"/>
                          <a:cs typeface="Times New Roman"/>
                        </a:rPr>
                        <a:t>Main result, 97.5% benign</a:t>
                      </a:r>
                    </a:p>
                  </a:txBody>
                  <a:tcPr marL="127000" marR="127000" marT="76200" marB="76200" anchor="ctr">
                    <a:lnL w="0">
                      <a:noFill/>
                    </a:lnL>
                    <a:lnR w="0">
                      <a:noFill/>
                    </a:lnR>
                    <a:lnT w="9525" cap="flat" cmpd="sng" algn="ctr">
                      <a:solidFill>
                        <a:srgbClr val="1E3A52"/>
                      </a:solidFill>
                      <a:prstDash val="solid"/>
                      <a:round/>
                      <a:headEnd type="none" w="med" len="med"/>
                      <a:tailEnd type="none" w="med" len="med"/>
                    </a:lnT>
                    <a:lnB w="9525">
                      <a:solidFill>
                        <a:srgbClr val="D8DEE2"/>
                      </a:solidFill>
                    </a:lnB>
                    <a:solidFill>
                      <a:srgbClr val="FBEBDD"/>
                    </a:solidFill>
                  </a:tcPr>
                </a:tc>
                <a:extLst>
                  <a:ext uri="{0D108BD9-81ED-4DB2-BD59-A6C34878D82A}">
                    <a16:rowId xmlns:a16="http://schemas.microsoft.com/office/drawing/2014/main" val="10001"/>
                  </a:ext>
                </a:extLst>
              </a:tr>
              <a:tr h="990600">
                <a:tc>
                  <a:txBody>
                    <a:bodyPr/>
                    <a:lstStyle/>
                    <a:p>
                      <a:pPr marL="0" indent="0" algn="l">
                        <a:buNone/>
                      </a:pPr>
                      <a:r>
                        <a:rPr lang="en-US" sz="2200" b="1" dirty="0">
                          <a:solidFill>
                            <a:srgbClr val="1E2A32"/>
                          </a:solidFill>
                          <a:latin typeface="Times New Roman"/>
                          <a:cs typeface="Times New Roman"/>
                        </a:rPr>
                        <a:t>UNSW-NB15, original release</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0.639</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0.830</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l">
                        <a:buNone/>
                      </a:pPr>
                      <a:r>
                        <a:rPr lang="en-US" sz="2200" b="0" dirty="0">
                          <a:solidFill>
                            <a:srgbClr val="1E2A32"/>
                          </a:solidFill>
                          <a:latin typeface="Times New Roman"/>
                          <a:cs typeface="Times New Roman"/>
                        </a:rPr>
                        <a:t>Service fields dominate</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extLst>
                  <a:ext uri="{0D108BD9-81ED-4DB2-BD59-A6C34878D82A}">
                    <a16:rowId xmlns:a16="http://schemas.microsoft.com/office/drawing/2014/main" val="10002"/>
                  </a:ext>
                </a:extLst>
              </a:tr>
              <a:tr h="990600">
                <a:tc>
                  <a:txBody>
                    <a:bodyPr/>
                    <a:lstStyle/>
                    <a:p>
                      <a:pPr marL="0" indent="0" algn="l">
                        <a:buNone/>
                      </a:pPr>
                      <a:r>
                        <a:rPr lang="en-US" sz="2200" b="1" dirty="0">
                          <a:solidFill>
                            <a:srgbClr val="1E2A32"/>
                          </a:solidFill>
                          <a:latin typeface="Times New Roman"/>
                          <a:cs typeface="Times New Roman"/>
                        </a:rPr>
                        <a:t>CIC-IDS2017, 13 classes</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0.984</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0.999</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l">
                        <a:buNone/>
                      </a:pPr>
                      <a:r>
                        <a:rPr lang="en-US" sz="2200" b="0" dirty="0">
                          <a:solidFill>
                            <a:srgbClr val="1E2A32"/>
                          </a:solidFill>
                          <a:latin typeface="Times New Roman"/>
                          <a:cs typeface="Times New Roman"/>
                        </a:rPr>
                        <a:t>Too easy: 1-NN gets 99.7%</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extLst>
                  <a:ext uri="{0D108BD9-81ED-4DB2-BD59-A6C34878D82A}">
                    <a16:rowId xmlns:a16="http://schemas.microsoft.com/office/drawing/2014/main" val="10003"/>
                  </a:ext>
                </a:extLst>
              </a:tr>
              <a:tr h="990600">
                <a:tc>
                  <a:txBody>
                    <a:bodyPr/>
                    <a:lstStyle/>
                    <a:p>
                      <a:pPr marL="0" indent="0" algn="l">
                        <a:buNone/>
                      </a:pPr>
                      <a:r>
                        <a:rPr lang="en-US" sz="2200" b="1" dirty="0">
                          <a:solidFill>
                            <a:srgbClr val="1E2A32"/>
                          </a:solidFill>
                          <a:latin typeface="Times New Roman"/>
                          <a:cs typeface="Times New Roman"/>
                        </a:rPr>
                        <a:t>TON_IoT, network subset</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0.960</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r">
                        <a:buNone/>
                      </a:pPr>
                      <a:r>
                        <a:rPr lang="en-US" sz="2200" b="0" dirty="0">
                          <a:solidFill>
                            <a:srgbClr val="1E2A32"/>
                          </a:solidFill>
                          <a:latin typeface="Times New Roman"/>
                          <a:cs typeface="Times New Roman"/>
                        </a:rPr>
                        <a:t>0.981</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tc>
                  <a:txBody>
                    <a:bodyPr/>
                    <a:lstStyle/>
                    <a:p>
                      <a:pPr marL="0" indent="0" algn="l">
                        <a:buNone/>
                      </a:pPr>
                      <a:r>
                        <a:rPr lang="en-US" sz="2200" b="0" dirty="0">
                          <a:solidFill>
                            <a:srgbClr val="1E2A32"/>
                          </a:solidFill>
                          <a:latin typeface="Times New Roman"/>
                          <a:cs typeface="Times New Roman"/>
                        </a:rPr>
                        <a:t>Source IP alone flags 99.98% of attacks</a:t>
                      </a:r>
                    </a:p>
                  </a:txBody>
                  <a:tcPr marL="127000" marR="127000" marT="76200" marB="76200" anchor="ctr">
                    <a:lnL w="0">
                      <a:noFill/>
                    </a:lnL>
                    <a:lnR w="0">
                      <a:noFill/>
                    </a:lnR>
                    <a:lnT w="9525" cap="flat" cmpd="sng" algn="ctr">
                      <a:solidFill>
                        <a:srgbClr val="D8DEE2"/>
                      </a:solidFill>
                      <a:prstDash val="solid"/>
                      <a:round/>
                      <a:headEnd type="none" w="med" len="med"/>
                      <a:tailEnd type="none" w="med" len="med"/>
                    </a:lnT>
                    <a:lnB w="9525">
                      <a:solidFill>
                        <a:srgbClr val="D8DEE2"/>
                      </a:solidFill>
                    </a:lnB>
                    <a:noFill/>
                  </a:tcPr>
                </a:tc>
                <a:extLst>
                  <a:ext uri="{0D108BD9-81ED-4DB2-BD59-A6C34878D82A}">
                    <a16:rowId xmlns:a16="http://schemas.microsoft.com/office/drawing/2014/main" val="10004"/>
                  </a:ext>
                </a:extLst>
              </a:tr>
            </a:tbl>
          </a:graphicData>
        </a:graphic>
      </p:graphicFrame>
      <p:sp>
        <p:nvSpPr>
          <p:cNvPr id="2531" name="Table 1 caption"/>
          <p:cNvSpPr txBox="1"/>
          <p:nvPr/>
        </p:nvSpPr>
        <p:spPr>
          <a:xfrm>
            <a:off x="18415000" y="21071840"/>
            <a:ext cx="8458200" cy="381000"/>
          </a:xfrm>
          <a:prstGeom prst="rect">
            <a:avLst/>
          </a:prstGeom>
          <a:noFill/>
        </p:spPr>
        <p:txBody>
          <a:bodyPr wrap="square" lIns="0" tIns="0" rIns="0" bIns="0" rtlCol="0" anchor="t">
            <a:noAutofit/>
          </a:bodyPr>
          <a:lstStyle/>
          <a:p>
            <a:pPr marL="0" indent="0" algn="ctr">
              <a:lnSpc>
                <a:spcPct val="100000"/>
              </a:lnSpc>
              <a:spcBef>
                <a:spcPts val="0"/>
              </a:spcBef>
              <a:spcAft>
                <a:spcPts val="0"/>
              </a:spcAft>
              <a:buNone/>
            </a:pPr>
            <a:r>
              <a:rPr lang="en-US" sz="1900" b="0" i="1" dirty="0">
                <a:solidFill>
                  <a:srgbClr val="203864"/>
                </a:solidFill>
                <a:latin typeface="Times New Roman"/>
                <a:cs typeface="Times New Roman"/>
              </a:rPr>
              <a:t>Table 1: The same pipeline run on three other datasets</a:t>
            </a:r>
          </a:p>
        </p:txBody>
      </p:sp>
      <p:sp>
        <p:nvSpPr>
          <p:cNvPr id="2532" name="Other datasets bullets"/>
          <p:cNvSpPr txBox="1"/>
          <p:nvPr/>
        </p:nvSpPr>
        <p:spPr>
          <a:xfrm>
            <a:off x="18415000" y="21656040"/>
            <a:ext cx="8458200" cy="3175000"/>
          </a:xfrm>
          <a:prstGeom prst="rect">
            <a:avLst/>
          </a:prstGeom>
          <a:noFill/>
        </p:spPr>
        <p:txBody>
          <a:bodyPr wrap="square" lIns="0" tIns="0" rIns="0" bIns="0" rtlCol="0" anchor="t">
            <a:noAutofit/>
          </a:bodyPr>
          <a:lstStyle/>
          <a:p>
            <a:pPr marL="381000" indent="-381000" algn="l">
              <a:lnSpc>
                <a:spcPct val="100000"/>
              </a:lnSpc>
              <a:spcBef>
                <a:spcPts val="0"/>
              </a:spcBef>
              <a:spcAft>
                <a:spcPts val="800"/>
              </a:spcAft>
              <a:buClr>
                <a:srgbClr val="D98E45"/>
              </a:buClr>
              <a:buFont typeface="Arial"/>
              <a:buChar char="▪"/>
            </a:pPr>
            <a:r>
              <a:rPr lang="en-US" sz="2400" b="0" i="0" dirty="0">
                <a:solidFill>
                  <a:srgbClr val="1E2A32"/>
                </a:solidFill>
                <a:latin typeface="Times New Roman"/>
                <a:cs typeface="Times New Roman"/>
              </a:rPr>
              <a:t>On the original UNSW-NB15 release, </a:t>
            </a:r>
            <a:r>
              <a:rPr lang="en-US" sz="2400" b="1" i="0" dirty="0">
                <a:solidFill>
                  <a:srgbClr val="1E2A32"/>
                </a:solidFill>
                <a:latin typeface="Times New Roman"/>
                <a:cs typeface="Times New Roman"/>
              </a:rPr>
              <a:t>service fields</a:t>
            </a:r>
            <a:r>
              <a:rPr lang="en-US" sz="2400" b="0" i="0" dirty="0">
                <a:solidFill>
                  <a:srgbClr val="1E2A32"/>
                </a:solidFill>
                <a:latin typeface="Times New Roman"/>
                <a:cs typeface="Times New Roman"/>
              </a:rPr>
              <a:t> again carried most of the predictive power, confirming the service-identity result</a:t>
            </a:r>
          </a:p>
          <a:p>
            <a:pPr marL="381000" indent="-381000" algn="l">
              <a:lnSpc>
                <a:spcPct val="100000"/>
              </a:lnSpc>
              <a:spcBef>
                <a:spcPts val="0"/>
              </a:spcBef>
              <a:spcAft>
                <a:spcPts val="0"/>
              </a:spcAft>
              <a:buClr>
                <a:srgbClr val="D98E45"/>
              </a:buClr>
              <a:buFont typeface="Arial"/>
              <a:buChar char="▪"/>
            </a:pPr>
            <a:r>
              <a:rPr lang="en-US" sz="2400" b="0" i="0" dirty="0">
                <a:solidFill>
                  <a:srgbClr val="1E2A32"/>
                </a:solidFill>
                <a:latin typeface="Times New Roman"/>
                <a:cs typeface="Times New Roman"/>
              </a:rPr>
              <a:t>High scores on CIC-IDS2017 and TON_IoT come from </a:t>
            </a:r>
            <a:r>
              <a:rPr lang="en-US" sz="2400" b="1" i="0" dirty="0">
                <a:solidFill>
                  <a:srgbClr val="1E2A32"/>
                </a:solidFill>
                <a:latin typeface="Times New Roman"/>
                <a:cs typeface="Times New Roman"/>
              </a:rPr>
              <a:t>easy testbeds</a:t>
            </a:r>
            <a:r>
              <a:rPr lang="en-US" sz="2400" b="0" i="0" dirty="0">
                <a:solidFill>
                  <a:srgbClr val="1E2A32"/>
                </a:solidFill>
                <a:latin typeface="Times New Roman"/>
                <a:cs typeface="Times New Roman"/>
              </a:rPr>
              <a:t>, not a better model, so they cannot serve as fair second tests</a:t>
            </a:r>
          </a:p>
        </p:txBody>
      </p:sp>
    </p:spTree>
    <p:extLst>
      <p:ext uri="{BB962C8B-B14F-4D97-AF65-F5344CB8AC3E}">
        <p14:creationId xmlns:p14="http://schemas.microsoft.com/office/powerpoint/2010/main" val="10171020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4D9BC0-1568-4E07-994D-4212A614E22F}">
  <we:reference id="wa200010001" version="1.0.0.1" store="en-US" storeType="OMEX"/>
  <we:alternateReferences>
    <we:reference id="wa200010001" version="1.0.0.1" store="wa200010001" storeType="OMEX"/>
  </we:alternateReferences>
  <we:properties>
    <we:property name="claude.fileId" value="&quot;f559d59a-59f8-42e5-a724-53bb3af317a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162</TotalTime>
  <Words>1318</Words>
  <Application>Microsoft Office PowerPoint</Application>
  <PresentationFormat>Custom</PresentationFormat>
  <Paragraphs>153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Mazid Ul Haque</dc:creator>
  <cp:lastModifiedBy>Abidur Rahman</cp:lastModifiedBy>
  <cp:revision>23</cp:revision>
  <dcterms:created xsi:type="dcterms:W3CDTF">2025-04-23T14:04:01Z</dcterms:created>
  <dcterms:modified xsi:type="dcterms:W3CDTF">2026-10-25T20:48:28Z</dcterms:modified>
</cp:coreProperties>
</file>
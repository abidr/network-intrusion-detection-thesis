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417" r:id="rId2"/>
    <p:sldId id="420" r:id="rId3"/>
    <p:sldId id="418" r:id="rId4"/>
    <p:sldId id="421" r:id="rId5"/>
    <p:sldId id="422" r:id="rId6"/>
    <p:sldId id="423" r:id="rId7"/>
    <p:sldId id="419" r:id="rId8"/>
    <p:sldId id="424" r:id="rId9"/>
    <p:sldId id="425" r:id="rId10"/>
    <p:sldId id="426" r:id="rId11"/>
    <p:sldId id="427" r:id="rId12"/>
    <p:sldId id="428" r:id="rId13"/>
    <p:sldId id="429" r:id="rId14"/>
    <p:sldId id="430" r:id="rId15"/>
    <p:sldId id="431" r:id="rId16"/>
    <p:sldId id="432" r:id="rId17"/>
    <p:sldId id="433" r:id="rId18"/>
    <p:sldId id="43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039" autoAdjust="0"/>
  </p:normalViewPr>
  <p:slideViewPr>
    <p:cSldViewPr snapToGrid="0">
      <p:cViewPr varScale="1">
        <p:scale>
          <a:sx n="141" d="100"/>
          <a:sy n="141" d="100"/>
        </p:scale>
        <p:origin x="13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A6A6A6"/>
            </a:solidFill>
            <a:ln>
              <a:noFill/>
            </a:ln>
          </c:spPr>
          <c:invertIfNegative val="1"/>
          <c:dPt>
            <c:idx val="0"/>
            <c:invertIfNegative val="1"/>
            <c:bubble3D val="0"/>
            <c:spPr>
              <a:solidFill>
                <a:srgbClr val="4A66AC"/>
              </a:solidFill>
              <a:ln>
                <a:noFill/>
              </a:ln>
            </c:spPr>
            <c:extLst>
              <c:ext xmlns:c16="http://schemas.microsoft.com/office/drawing/2014/chart" uri="{C3380CC4-5D6E-409C-BE32-E72D297353CC}">
                <c16:uniqueId val="{00000001-984E-44FF-9F03-2384BCB17EBA}"/>
              </c:ext>
            </c:extLst>
          </c:dPt>
          <c:dLbls>
            <c:numFmt formatCode="#,##0" sourceLinked="0"/>
            <c:spPr>
              <a:noFill/>
              <a:ln>
                <a:noFill/>
              </a:ln>
              <a:effectLst/>
            </c:spPr>
            <c:txPr>
              <a:bodyPr wrap="none"/>
              <a:lstStyle/>
              <a:p>
                <a:pPr>
                  <a:defRPr sz="1400" b="1">
                    <a:solidFill>
                      <a:srgbClr val="262626"/>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9"/>
              <c:pt idx="0">
                <c:v>Worms</c:v>
              </c:pt>
              <c:pt idx="1">
                <c:v>Analysis</c:v>
              </c:pt>
              <c:pt idx="2">
                <c:v>Backdoor</c:v>
              </c:pt>
              <c:pt idx="3">
                <c:v>Shellcode</c:v>
              </c:pt>
              <c:pt idx="4">
                <c:v>DoS</c:v>
              </c:pt>
              <c:pt idx="5">
                <c:v>Generic</c:v>
              </c:pt>
              <c:pt idx="6">
                <c:v>Reconnaissance</c:v>
              </c:pt>
              <c:pt idx="7">
                <c:v>Fuzzers</c:v>
              </c:pt>
              <c:pt idx="8">
                <c:v>Exploits</c:v>
              </c:pt>
            </c:strLit>
          </c:cat>
          <c:val>
            <c:numLit>
              <c:formatCode>General</c:formatCode>
              <c:ptCount val="9"/>
              <c:pt idx="0">
                <c:v>243</c:v>
              </c:pt>
              <c:pt idx="1">
                <c:v>385</c:v>
              </c:pt>
              <c:pt idx="2">
                <c:v>452</c:v>
              </c:pt>
              <c:pt idx="3">
                <c:v>2102</c:v>
              </c:pt>
              <c:pt idx="4">
                <c:v>4418</c:v>
              </c:pt>
              <c:pt idx="5">
                <c:v>4496</c:v>
              </c:pt>
              <c:pt idx="6">
                <c:v>12035</c:v>
              </c:pt>
              <c:pt idx="7">
                <c:v>26433</c:v>
              </c:pt>
              <c:pt idx="8">
                <c:v>30925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84E-44FF-9F03-2384BCB17EBA}"/>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3C3C1"/>
            </a:solidFill>
          </a:ln>
        </c:spPr>
        <c:txPr>
          <a:bodyPr rot="0" vert="horz"/>
          <a:lstStyle/>
          <a:p>
            <a:pPr>
              <a:defRPr sz="1400" b="0">
                <a:solidFill>
                  <a:srgbClr val="262626"/>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0.02"/>
          <c:y val="0.18"/>
          <c:w val="0.96"/>
          <c:h val="0.7"/>
        </c:manualLayout>
      </c:layout>
      <c:barChart>
        <c:barDir val="col"/>
        <c:grouping val="clustered"/>
        <c:varyColors val="0"/>
        <c:ser>
          <c:idx val="0"/>
          <c:order val="0"/>
          <c:tx>
            <c:v>Values</c:v>
          </c:tx>
          <c:spPr>
            <a:solidFill>
              <a:srgbClr val="A6A6A6"/>
            </a:solidFill>
            <a:ln>
              <a:noFill/>
            </a:ln>
          </c:spPr>
          <c:invertIfNegative val="1"/>
          <c:dPt>
            <c:idx val="3"/>
            <c:invertIfNegative val="1"/>
            <c:bubble3D val="0"/>
            <c:spPr>
              <a:solidFill>
                <a:srgbClr val="4A66AC"/>
              </a:solidFill>
              <a:ln>
                <a:noFill/>
              </a:ln>
            </c:spPr>
            <c:extLst>
              <c:ext xmlns:c16="http://schemas.microsoft.com/office/drawing/2014/chart" uri="{C3380CC4-5D6E-409C-BE32-E72D297353CC}">
                <c16:uniqueId val="{00000001-3452-41D3-8980-D4EAF22DD7BC}"/>
              </c:ext>
            </c:extLst>
          </c:dPt>
          <c:dLbls>
            <c:numFmt formatCode="0.000" sourceLinked="0"/>
            <c:spPr>
              <a:noFill/>
              <a:ln>
                <a:noFill/>
              </a:ln>
              <a:effectLst/>
            </c:spPr>
            <c:txPr>
              <a:bodyPr wrap="none"/>
              <a:lstStyle/>
              <a:p>
                <a:pPr>
                  <a:defRPr sz="1400" b="1">
                    <a:solidFill>
                      <a:srgbClr val="262626"/>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4"/>
              <c:pt idx="0">
                <c:v>Base system</c:v>
              </c:pt>
              <c:pt idx="1">
                <c:v>+ Reject option</c:v>
              </c:pt>
              <c:pt idx="2">
                <c:v>+ Tuned voting</c:v>
              </c:pt>
              <c:pt idx="3">
                <c:v>Final system</c:v>
              </c:pt>
            </c:strLit>
          </c:cat>
          <c:val>
            <c:numLit>
              <c:formatCode>General</c:formatCode>
              <c:ptCount val="4"/>
              <c:pt idx="0">
                <c:v>0.65800000000000003</c:v>
              </c:pt>
              <c:pt idx="1">
                <c:v>0.68500000000000005</c:v>
              </c:pt>
              <c:pt idx="2">
                <c:v>0.68799999999999994</c:v>
              </c:pt>
              <c:pt idx="3">
                <c:v>0.68899999999999995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452-41D3-8980-D4EAF22DD7BC}"/>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3C3C1"/>
            </a:solidFill>
          </a:ln>
        </c:spPr>
        <c:txPr>
          <a:bodyPr rot="0" vert="horz"/>
          <a:lstStyle/>
          <a:p>
            <a:pPr>
              <a:defRPr sz="1400" b="0">
                <a:solidFill>
                  <a:srgbClr val="262626"/>
                </a:solidFill>
                <a:latin typeface="Times New Roman"/>
              </a:defRPr>
            </a:pPr>
            <a:endParaRPr lang="en-US"/>
          </a:p>
        </c:txPr>
        <c:crossAx val="2"/>
        <c:crosses val="autoZero"/>
        <c:auto val="1"/>
        <c:lblAlgn val="ctr"/>
        <c:lblOffset val="100"/>
        <c:noMultiLvlLbl val="1"/>
      </c:catAx>
      <c:valAx>
        <c:axId val="2"/>
        <c:scaling>
          <c:orientation val="minMax"/>
          <c:max val="0.86199999999999999"/>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A6A6A6"/>
            </a:solidFill>
            <a:ln>
              <a:noFill/>
            </a:ln>
          </c:spPr>
          <c:invertIfNegative val="1"/>
          <c:dPt>
            <c:idx val="0"/>
            <c:invertIfNegative val="1"/>
            <c:bubble3D val="0"/>
            <c:spPr>
              <a:solidFill>
                <a:srgbClr val="4A66AC"/>
              </a:solidFill>
              <a:ln>
                <a:noFill/>
              </a:ln>
            </c:spPr>
            <c:extLst>
              <c:ext xmlns:c16="http://schemas.microsoft.com/office/drawing/2014/chart" uri="{C3380CC4-5D6E-409C-BE32-E72D297353CC}">
                <c16:uniqueId val="{00000001-7BE6-4650-BF47-8BF2C2581A26}"/>
              </c:ext>
            </c:extLst>
          </c:dPt>
          <c:dPt>
            <c:idx val="1"/>
            <c:invertIfNegative val="1"/>
            <c:bubble3D val="0"/>
            <c:spPr>
              <a:solidFill>
                <a:srgbClr val="4A66AC"/>
              </a:solidFill>
              <a:ln>
                <a:noFill/>
              </a:ln>
            </c:spPr>
            <c:extLst>
              <c:ext xmlns:c16="http://schemas.microsoft.com/office/drawing/2014/chart" uri="{C3380CC4-5D6E-409C-BE32-E72D297353CC}">
                <c16:uniqueId val="{00000002-7BE6-4650-BF47-8BF2C2581A26}"/>
              </c:ext>
            </c:extLst>
          </c:dPt>
          <c:dLbls>
            <c:numFmt formatCode="0.000" sourceLinked="0"/>
            <c:spPr>
              <a:noFill/>
              <a:ln>
                <a:noFill/>
              </a:ln>
              <a:effectLst/>
            </c:spPr>
            <c:txPr>
              <a:bodyPr wrap="none"/>
              <a:lstStyle/>
              <a:p>
                <a:pPr>
                  <a:defRPr sz="1400" b="1">
                    <a:solidFill>
                      <a:srgbClr val="262626"/>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10"/>
              <c:pt idx="0">
                <c:v>Analysis</c:v>
              </c:pt>
              <c:pt idx="1">
                <c:v>Worms</c:v>
              </c:pt>
              <c:pt idx="2">
                <c:v>DoS</c:v>
              </c:pt>
              <c:pt idx="3">
                <c:v>Fuzzers</c:v>
              </c:pt>
              <c:pt idx="4">
                <c:v>Backdoor</c:v>
              </c:pt>
              <c:pt idx="5">
                <c:v>Shellcode</c:v>
              </c:pt>
              <c:pt idx="6">
                <c:v>Exploits</c:v>
              </c:pt>
              <c:pt idx="7">
                <c:v>Reconnaissance</c:v>
              </c:pt>
              <c:pt idx="8">
                <c:v>Generic</c:v>
              </c:pt>
              <c:pt idx="9">
                <c:v>Benign</c:v>
              </c:pt>
            </c:strLit>
          </c:cat>
          <c:val>
            <c:numLit>
              <c:formatCode>General</c:formatCode>
              <c:ptCount val="10"/>
              <c:pt idx="0">
                <c:v>0.161</c:v>
              </c:pt>
              <c:pt idx="1">
                <c:v>0.57399999999999995</c:v>
              </c:pt>
              <c:pt idx="2">
                <c:v>0.60799999999999998</c:v>
              </c:pt>
              <c:pt idx="3">
                <c:v>0.64</c:v>
              </c:pt>
              <c:pt idx="4">
                <c:v>0.65800000000000003</c:v>
              </c:pt>
              <c:pt idx="5">
                <c:v>0.72499999999999998</c:v>
              </c:pt>
              <c:pt idx="6">
                <c:v>0.82299999999999995</c:v>
              </c:pt>
              <c:pt idx="7">
                <c:v>0.82399999999999995</c:v>
              </c:pt>
              <c:pt idx="8">
                <c:v>0.879</c:v>
              </c:pt>
              <c:pt idx="9">
                <c:v>0.995</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7BE6-4650-BF47-8BF2C2581A26}"/>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3C3C1"/>
            </a:solidFill>
          </a:ln>
        </c:spPr>
        <c:txPr>
          <a:bodyPr rot="0" vert="horz"/>
          <a:lstStyle/>
          <a:p>
            <a:pPr>
              <a:defRPr sz="1400" b="0">
                <a:solidFill>
                  <a:srgbClr val="262626"/>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Values</c:v>
          </c:tx>
          <c:spPr>
            <a:solidFill>
              <a:srgbClr val="A6A6A6"/>
            </a:solidFill>
            <a:ln>
              <a:noFill/>
            </a:ln>
          </c:spPr>
          <c:invertIfNegative val="1"/>
          <c:dPt>
            <c:idx val="5"/>
            <c:invertIfNegative val="1"/>
            <c:bubble3D val="0"/>
            <c:spPr>
              <a:solidFill>
                <a:srgbClr val="4A66AC"/>
              </a:solidFill>
              <a:ln>
                <a:noFill/>
              </a:ln>
            </c:spPr>
            <c:extLst>
              <c:ext xmlns:c16="http://schemas.microsoft.com/office/drawing/2014/chart" uri="{C3380CC4-5D6E-409C-BE32-E72D297353CC}">
                <c16:uniqueId val="{00000001-CC5B-44AC-B809-68E9982D2E53}"/>
              </c:ext>
            </c:extLst>
          </c:dPt>
          <c:dLbls>
            <c:numFmt formatCode="\+0.000" sourceLinked="0"/>
            <c:spPr>
              <a:noFill/>
              <a:ln>
                <a:noFill/>
              </a:ln>
              <a:effectLst/>
            </c:spPr>
            <c:txPr>
              <a:bodyPr wrap="none"/>
              <a:lstStyle/>
              <a:p>
                <a:pPr>
                  <a:defRPr sz="1400" b="1">
                    <a:solidFill>
                      <a:srgbClr val="262626"/>
                    </a:solidFill>
                    <a:latin typeface="Times New Roman"/>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0"/>
              </c:ext>
            </c:extLst>
          </c:dLbls>
          <c:cat>
            <c:strLit>
              <c:ptCount val="6"/>
              <c:pt idx="0">
                <c:v>Hyperparameter tuning</c:v>
              </c:pt>
              <c:pt idx="1">
                <c:v>Ensemble of 7 models</c:v>
              </c:pt>
              <c:pt idx="2">
                <c:v>Two-stage design</c:v>
              </c:pt>
              <c:pt idx="3">
                <c:v>Reject option for benign flows</c:v>
              </c:pt>
              <c:pt idx="4">
                <c:v>Moderate class weighting</c:v>
              </c:pt>
              <c:pt idx="5">
                <c:v>Service features (port, protocol)</c:v>
              </c:pt>
            </c:strLit>
          </c:cat>
          <c:val>
            <c:numLit>
              <c:formatCode>General</c:formatCode>
              <c:ptCount val="6"/>
              <c:pt idx="0">
                <c:v>5.0000000000000001E-3</c:v>
              </c:pt>
              <c:pt idx="1">
                <c:v>1.7999999999999999E-2</c:v>
              </c:pt>
              <c:pt idx="2">
                <c:v>1.7999999999999999E-2</c:v>
              </c:pt>
              <c:pt idx="3">
                <c:v>2.7E-2</c:v>
              </c:pt>
              <c:pt idx="4">
                <c:v>3.9E-2</c:v>
              </c:pt>
              <c:pt idx="5">
                <c:v>9.8000000000000004E-2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C5B-44AC-B809-68E9982D2E53}"/>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3C3C1"/>
            </a:solidFill>
          </a:ln>
        </c:spPr>
        <c:txPr>
          <a:bodyPr rot="0" vert="horz"/>
          <a:lstStyle/>
          <a:p>
            <a:pPr>
              <a:defRPr sz="1400" b="0">
                <a:solidFill>
                  <a:srgbClr val="262626"/>
                </a:solidFill>
                <a:latin typeface="Times New Roman"/>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F1A7F9-5320-4875-9003-CAB21F508495}"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C5B46D-54EB-4AF1-BC1D-71EEB850731F}" type="slidenum">
              <a:rPr lang="en-US" smtClean="0"/>
              <a:t>‹#›</a:t>
            </a:fld>
            <a:endParaRPr lang="en-US"/>
          </a:p>
        </p:txBody>
      </p:sp>
    </p:spTree>
    <p:extLst>
      <p:ext uri="{BB962C8B-B14F-4D97-AF65-F5344CB8AC3E}">
        <p14:creationId xmlns:p14="http://schemas.microsoft.com/office/powerpoint/2010/main" val="83352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members of the board. We are Parthib Datta, Abidur Rahman, Mhamudul Hasan Ovi and Md. Ebnul Ahsan.</a:t>
            </a:r>
          </a:p>
          <a:p>
            <a:r>
              <a:rPr lang="en-US" dirty="0"/>
              <a:t>Today we present our thesis: a two-stage hierarchical multiclass network intrusion detection system, with tempered class weighting and a reject option for imbalanced network flows.</a:t>
            </a:r>
          </a:p>
          <a:p>
            <a:r>
              <a:rPr lang="en-US" dirty="0"/>
              <a:t>(About 20 seconds)</a:t>
            </a:r>
          </a:p>
        </p:txBody>
      </p:sp>
      <p:sp>
        <p:nvSpPr>
          <p:cNvPr id="4" name="Slide Number Placeholder 3"/>
          <p:cNvSpPr>
            <a:spLocks noGrp="1"/>
          </p:cNvSpPr>
          <p:nvPr>
            <p:ph type="sldNum" sz="quarter" idx="5"/>
          </p:nvPr>
        </p:nvSpPr>
        <p:spPr/>
        <p:txBody>
          <a:bodyPr/>
          <a:lstStyle/>
          <a:p>
            <a:fld id="{93C5B46D-54EB-4AF1-BC1D-71EEB850731F}" type="slidenum">
              <a:rPr lang="en-US" smtClean="0"/>
              <a:t>1</a:t>
            </a:fld>
            <a:endParaRPr lang="en-US"/>
          </a:p>
        </p:txBody>
      </p:sp>
    </p:spTree>
    <p:extLst>
      <p:ext uri="{BB962C8B-B14F-4D97-AF65-F5344CB8AC3E}">
        <p14:creationId xmlns:p14="http://schemas.microsoft.com/office/powerpoint/2010/main" val="754994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our presentation is organised.</a:t>
            </a:r>
          </a:p>
          <a:p>
            <a:r>
              <a:rPr lang="en-US" dirty="0"/>
              <a:t>We start with the problem, our objectives and our research questions. Then we explain our methodology, the data and the model we built. After that we show our results, and we finish with the limitations, future work and our conclusion.</a:t>
            </a:r>
          </a:p>
          <a:p>
            <a:r>
              <a:rPr lang="en-US" dirty="0"/>
              <a:t>(About 20 seconds)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Machine-learning intrusion detection systems often report very high accuracy on public benchmarks, sometimes above 99 percent. In practice, these numbers can be misleading, for four reasons.</a:t>
            </a:r>
          </a:p>
          <a:p>
            <a:r>
              <a:rPr lang="en-US" dirty="0"/>
              <a:t>First, class imbalance. Normal traffic dominates network data, so a model can miss rare attacks completely and still look accurate.</a:t>
            </a:r>
          </a:p>
          <a:p>
            <a:r>
              <a:rPr lang="en-US" dirty="0"/>
              <a:t>Second, data leakage. Duplicate records end up in both the training and the test data, so the model is tested on records it has already seen.</a:t>
            </a:r>
          </a:p>
          <a:p>
            <a:r>
              <a:rPr lang="en-US" dirty="0"/>
              <a:t>Third, weak evaluation. Many studies report only accuracy, without per-class results or statistical tests, so it is hard to tell which improvements are real.</a:t>
            </a:r>
          </a:p>
          <a:p>
            <a:r>
              <a:rPr lang="en-US" dirty="0"/>
              <a:t>And fourth, a security team needs to know which type of attack is happening, not only that something is wrong.</a:t>
            </a:r>
          </a:p>
          <a:p>
            <a:r>
              <a:rPr lang="en-US" dirty="0"/>
              <a:t>(About 45 seconds)</a:t>
            </a:r>
          </a:p>
        </p:txBody>
      </p:sp>
      <p:sp>
        <p:nvSpPr>
          <p:cNvPr id="4" name="Slide Number Placeholder 3"/>
          <p:cNvSpPr>
            <a:spLocks noGrp="1"/>
          </p:cNvSpPr>
          <p:nvPr>
            <p:ph type="sldNum" sz="quarter" idx="5"/>
          </p:nvPr>
        </p:nvSpPr>
        <p:spPr/>
        <p:txBody>
          <a:bodyPr/>
          <a:lstStyle/>
          <a:p>
            <a:fld id="{93C5B46D-54EB-4AF1-BC1D-71EEB850731F}" type="slidenum">
              <a:rPr lang="en-US" smtClean="0"/>
              <a:t>3</a:t>
            </a:fld>
            <a:endParaRPr lang="en-US"/>
          </a:p>
        </p:txBody>
      </p:sp>
    </p:spTree>
    <p:extLst>
      <p:ext uri="{BB962C8B-B14F-4D97-AF65-F5344CB8AC3E}">
        <p14:creationId xmlns:p14="http://schemas.microsoft.com/office/powerpoint/2010/main" val="2159827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these problems, we set four objectives.</a:t>
            </a:r>
          </a:p>
          <a:p>
            <a:r>
              <a:rPr lang="en-US" dirty="0"/>
              <a:t>First, fair, leak-free testing: we remove duplicate records before splitting the data, so the model is never tested on data it has already seen.</a:t>
            </a:r>
          </a:p>
          <a:p>
            <a:r>
              <a:rPr lang="en-US" dirty="0"/>
              <a:t>Second, handling rare attacks: we compare different ways of giving rare attack types more weight and find which works best.</a:t>
            </a:r>
          </a:p>
          <a:p>
            <a:r>
              <a:rPr lang="en-US" dirty="0"/>
              <a:t>Third, a two-step detector: first decide whether traffic is an attack, then name the attack type, and measure what each part adds.</a:t>
            </a:r>
          </a:p>
          <a:p>
            <a:r>
              <a:rPr lang="en-US" dirty="0"/>
              <a:t>And fourth, realistic testing: we test on the full dataset, where most traffic is normal, and on slightly altered inputs.</a:t>
            </a:r>
          </a:p>
          <a:p>
            <a:r>
              <a:rPr lang="en-US" dirty="0"/>
              <a:t>All of this uses CIC-UNSW-NB15, a 2024 dataset with normal traffic and nine attack types.</a:t>
            </a:r>
          </a:p>
          <a:p>
            <a:r>
              <a:rPr lang="en-US" dirty="0"/>
              <a:t>(About 40 seconds)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objectives lead to five research questions.</a:t>
            </a:r>
          </a:p>
          <a:p>
            <a:r>
              <a:rPr lang="en-US" dirty="0"/>
              <a:t>One: which way of handling rare attack types works best, and how much extra weight should they get?</a:t>
            </a:r>
          </a:p>
          <a:p>
            <a:r>
              <a:rPr lang="en-US" dirty="0"/>
              <a:t>Two: when does a two-step detector beat a single classifier?</a:t>
            </a:r>
          </a:p>
          <a:p>
            <a:r>
              <a:rPr lang="en-US" dirty="0"/>
              <a:t>Three: is performance limited more by the model, or by the information in the data?</a:t>
            </a:r>
          </a:p>
          <a:p>
            <a:r>
              <a:rPr lang="en-US" dirty="0"/>
              <a:t>Four: how well does the system work when most traffic is normal, and how can false alarms be reduced?</a:t>
            </a:r>
          </a:p>
          <a:p>
            <a:r>
              <a:rPr lang="en-US" dirty="0"/>
              <a:t>And five: how well does the system hold up when its inputs are slightly changed, by random noise or by an attacker?</a:t>
            </a:r>
          </a:p>
          <a:p>
            <a:r>
              <a:rPr lang="en-US" dirty="0"/>
              <a:t>(About 30 seconds)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followed six steps.</a:t>
            </a:r>
          </a:p>
          <a:p>
            <a:r>
              <a:rPr lang="en-US" dirty="0"/>
              <a:t>We collected the data, about 3.5 million network connections. We cleaned it and split it into training and test sets. We added new features. We built a two-stage model. We evaluated it with macro-F1 on unseen test data and checked every gain statistically. And finally, we analysed what each part contributes, where the errors come from, and how robust the system is.</a:t>
            </a:r>
          </a:p>
          <a:p>
            <a:r>
              <a:rPr lang="en-US" dirty="0"/>
              <a:t>The next slides go through the data and the model in more detail.</a:t>
            </a:r>
          </a:p>
          <a:p>
            <a:r>
              <a:rPr lang="en-US" dirty="0"/>
              <a:t>(About 30 seconds)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I'll walk you through our data and our model.</a:t>
            </a:r>
          </a:p>
          <a:p>
            <a:r>
              <a:rPr lang="en-US" dirty="0"/>
              <a:t>We used CIC-UNSW-NB15, a 2024 dataset of about 3.5 million network connections. Each connection is labelled as normal traffic or as one of nine attack types.</a:t>
            </a:r>
          </a:p>
          <a:p>
            <a:r>
              <a:rPr lang="en-US" dirty="0"/>
              <a:t>The chart shows the first challenge: the data is very unbalanced. Exploits and Fuzzers have tens of thousands of connections, but Worms has only 243. For every Worms connection there are more than ten thousand normal ones.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second challenge is duplicates. About a quarter of the records Because accuracy can stay high even when rare attacks are missed, we judge every model by macro-F1. Macro-F1 gives each attack type equal weight.</a:t>
            </a:r>
          </a:p>
          <a:p>
            <a:r>
              <a:rPr lang="en-US" dirty="0"/>
              <a:t>are copies. If a copy lands in both the training and the test data, the model is tested on something it has already seen, and the score looks better than it really is.</a:t>
            </a:r>
          </a:p>
          <a:p>
            <a:r>
              <a:rPr lang="en-US" dirty="0"/>
              <a:t>(About 50 seconds)</a:t>
            </a:r>
          </a:p>
        </p:txBody>
      </p:sp>
      <p:sp>
        <p:nvSpPr>
          <p:cNvPr id="4" name="Slide Number Placeholder 3"/>
          <p:cNvSpPr>
            <a:spLocks noGrp="1"/>
          </p:cNvSpPr>
          <p:nvPr>
            <p:ph type="sldNum" sz="quarter" idx="5"/>
          </p:nvPr>
        </p:nvSpPr>
        <p:spPr/>
        <p:txBody>
          <a:bodyPr/>
          <a:lstStyle/>
          <a:p>
            <a:fld id="{93C5B46D-54EB-4AF1-BC1D-71EEB850731F}" type="slidenum">
              <a:rPr lang="en-US" smtClean="0"/>
              <a:t>7</a:t>
            </a:fld>
            <a:endParaRPr lang="en-US"/>
          </a:p>
        </p:txBody>
      </p:sp>
    </p:spTree>
    <p:extLst>
      <p:ext uri="{BB962C8B-B14F-4D97-AF65-F5344CB8AC3E}">
        <p14:creationId xmlns:p14="http://schemas.microsoft.com/office/powerpoint/2010/main" val="1930823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training anything, we prepared the data in five steps.</a:t>
            </a:r>
          </a:p>
          <a:p>
            <a:r>
              <a:rPr lang="en-US" dirty="0"/>
              <a:t>First, we removed duplicates, which took us from 3.54 to 2.61 million connections. We did this before splitting, so no record can appear on both sides.</a:t>
            </a:r>
          </a:p>
          <a:p>
            <a:r>
              <a:rPr lang="en-US" dirty="0"/>
              <a:t>Second and third, we dropped features that never change and features that repeat others, going from 76 down to 43.</a:t>
            </a:r>
          </a:p>
          <a:p>
            <a:r>
              <a:rPr lang="en-US" dirty="0"/>
              <a:t>Fourth, we split the data 80/20 into training and test sets, keeping the same mix of attack types in both.</a:t>
            </a:r>
          </a:p>
          <a:p>
            <a:r>
              <a:rPr lang="en-US" dirty="0"/>
              <a:t>Finally, we added 56 new features. Thirty-one describe how a connection behaves, and 25 describe which service it targets, giving 99 features in total.</a:t>
            </a:r>
          </a:p>
          <a:p>
            <a:r>
              <a:rPr lang="en-US" dirty="0"/>
              <a:t>(About 40 seconds)</a:t>
            </a:r>
          </a:p>
        </p:txBody>
      </p:sp>
      <p:sp>
        <p:nvSpPr>
          <p:cNvPr id="4" name="Slide Number Placeholder 3"/>
          <p:cNvSpPr>
            <a:spLocks noGrp="1"/>
          </p:cNvSpPr>
          <p:nvPr>
            <p:ph type="sldNum" sz="quarter" idx="5"/>
          </p:nvPr>
        </p:nvSpPr>
        <p:spPr/>
        <p:txBody>
          <a:bodyPr/>
          <a:lstStyle/>
          <a:p>
            <a:fld id="{93C5B46D-54EB-4AF1-BC1D-71EEB850731F}" type="slidenum">
              <a:rPr lang="en-US" smtClean="0"/>
              <a:t>8</a:t>
            </a:fld>
            <a:endParaRPr lang="en-US"/>
          </a:p>
        </p:txBody>
      </p:sp>
    </p:spTree>
    <p:extLst>
      <p:ext uri="{BB962C8B-B14F-4D97-AF65-F5344CB8AC3E}">
        <p14:creationId xmlns:p14="http://schemas.microsoft.com/office/powerpoint/2010/main" val="311639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works in two stages.</a:t>
            </a:r>
          </a:p>
          <a:p>
            <a:r>
              <a:rPr lang="en-US" dirty="0"/>
              <a:t>Stage A is a detection gate. An XGBoost model looks at every connection and asks one question: is this an attack? If it is less than 70% sure, the connection is treated as normal.</a:t>
            </a:r>
          </a:p>
          <a:p>
            <a:r>
              <a:rPr lang="en-US" dirty="0"/>
              <a:t>Flagged connections go to Stage B, a team of seven models that names the attack type. Each model gives rare attacks a different amount of extra weight, so they make different mistakes.</a:t>
            </a:r>
          </a:p>
          <a:p>
            <a:r>
              <a:rPr lang="en-US" dirty="0"/>
              <a:t>The combiner merges their votes. We tested 21 combination rules: static, dynamic and hybrid. The hybrid rule won. It multiplies a learned weight for each model and class by how accurate each model was on similar connections.</a:t>
            </a:r>
          </a:p>
          <a:p>
            <a:r>
              <a:rPr lang="en-US" dirty="0"/>
              <a:t>To keep this choice fair, we split the training data in half. COMB fits the weights, and SELV picks the best rule and the gate threshold, so the test set is used only once.</a:t>
            </a:r>
          </a:p>
          <a:p>
            <a:r>
              <a:rPr lang="en-US" dirty="0"/>
              <a:t>Finally, Stage B can also reject a flow and send it back as normal. This catches normal traffic that Stage A flagged by mistake.</a:t>
            </a:r>
          </a:p>
          <a:p>
            <a:r>
              <a:rPr lang="en-US" dirty="0"/>
              <a:t>Next, we will present our results.</a:t>
            </a:r>
          </a:p>
          <a:p>
            <a:r>
              <a:rPr lang="en-US" dirty="0"/>
              <a:t>(About 60 seconds. If asked: k = 30 similar connections; p = 3 raises local accuracy to the power 3 so the locally best models get a bigger say.)</a:t>
            </a:r>
          </a:p>
        </p:txBody>
      </p:sp>
      <p:sp>
        <p:nvSpPr>
          <p:cNvPr id="4" name="Slide Number Placeholder 3"/>
          <p:cNvSpPr>
            <a:spLocks noGrp="1"/>
          </p:cNvSpPr>
          <p:nvPr>
            <p:ph type="sldNum" sz="quarter" idx="5"/>
          </p:nvPr>
        </p:nvSpPr>
        <p:spPr/>
        <p:txBody>
          <a:bodyPr/>
          <a:lstStyle/>
          <a:p>
            <a:fld id="{93C5B46D-54EB-4AF1-BC1D-71EEB850731F}" type="slidenum">
              <a:rPr lang="en-US" smtClean="0"/>
              <a:t>9</a:t>
            </a:fld>
            <a:endParaRPr lang="en-US"/>
          </a:p>
        </p:txBody>
      </p:sp>
    </p:spTree>
    <p:extLst>
      <p:ext uri="{BB962C8B-B14F-4D97-AF65-F5344CB8AC3E}">
        <p14:creationId xmlns:p14="http://schemas.microsoft.com/office/powerpoint/2010/main" val="42776402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our results. On 521,361 connections the model never saw during training, the final system reaches a macro-F1 of 0.689 and an accuracy of 98.66 percent.</a:t>
            </a:r>
          </a:p>
          <a:p>
            <a:r>
              <a:rPr lang="en-US" dirty="0"/>
              <a:t>The chart shows how we got there. The base system scored 0.658. Adding the reject option raised it to 0.685. Refitting the voting weights to score the whole system, not just Stage B, brought it to 0.688, and the final selected rule reached 0.689. That is a gain of 0.030 overall.</a:t>
            </a:r>
          </a:p>
          <a:p>
            <a:r>
              <a:rPr lang="en-US" dirty="0"/>
              <a:t>The reject option also cut false alarms on normal traffic 2.6 times, from 8,370 to 3,270. This is a trade-off: 1,530 real attacks, mostly Fuzzers, were sent back as normal along with them.</a:t>
            </a:r>
          </a:p>
          <a:p>
            <a:r>
              <a:rPr lang="en-US" dirty="0"/>
              <a:t>(About 45 seconds)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detection score for each traffic type. Normal traffic scores 0.995, and Generic, Reconnaissance and Exploits are all above 0.82.</a:t>
            </a:r>
          </a:p>
          <a:p>
            <a:r>
              <a:rPr lang="en-US" dirty="0"/>
              <a:t>The two weakest types are Worms, at 0.574, and Analysis, at 0.161. 47 of the 77 Analysis attacks in the test set were mistaken for normal traffic, because their connections look almost the same.</a:t>
            </a:r>
          </a:p>
          <a:p>
            <a:r>
              <a:rPr lang="en-US" dirty="0"/>
              <a:t>We checked whether bad labels were to blame. Only 0.35 percent of connections have conflicting labels, so the errors come from attack types that genuinely look alike. Exploits and Fuzzers, for example, were mixed up 1,287 times.</a:t>
            </a:r>
          </a:p>
          <a:p>
            <a:r>
              <a:rPr lang="en-US" dirty="0"/>
              <a:t>(About 40 seconds)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parts of the system made the biggest difference? We measured each part's contribution with a paired statistical test.</a:t>
            </a:r>
          </a:p>
          <a:p>
            <a:r>
              <a:rPr lang="en-US" dirty="0"/>
              <a:t>The largest gain came from the data, not the model. Adding service information, meaning which port and protocol a connection targets, improved macro-F1 by 0.098, about two and a half times more than any modelling change.</a:t>
            </a:r>
          </a:p>
          <a:p>
            <a:r>
              <a:rPr lang="en-US" dirty="0"/>
              <a:t>Next came moderate class weighting, at +0.039. Giving rare attacks a little extra weight helped, but forcing all classes to be equal with SMOTE made results worse. The reject option added 0.027, and the two-stage design and the ensemble each added about 0.018.</a:t>
            </a:r>
          </a:p>
          <a:p>
            <a:r>
              <a:rPr lang="en-US" dirty="0"/>
              <a:t>Hyperparameter tuning across 40 settings added only 0.005, which is too small to be meaningful.</a:t>
            </a:r>
          </a:p>
          <a:p>
            <a:r>
              <a:rPr lang="en-US" dirty="0"/>
              <a:t>(About 45 seconds)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ran the same system on three other public datasets.</a:t>
            </a:r>
          </a:p>
          <a:p>
            <a:r>
              <a:rPr lang="en-US" dirty="0"/>
              <a:t>On the original UNSW-NB15, which is the same traffic described with different features, it scored 0.639, and again service information did most of the work. That supports our main finding.</a:t>
            </a:r>
          </a:p>
          <a:p>
            <a:r>
              <a:rPr lang="en-US" dirty="0"/>
              <a:t>On CIC-IDS2017 and TON_IoT the scores are much higher, 0.984 and 0.960. But these datasets are easy: on CIC-IDS2017 even the simplest model gets 99.7 percent right, and on TON_IoT the sender's IP address alone reveals 99.98 percent of attacks. So the high scores say more about the datasets than about our model.</a:t>
            </a:r>
          </a:p>
          <a:p>
            <a:r>
              <a:rPr lang="en-US" dirty="0"/>
              <a:t>(About 35 seconds)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 has four main limitations.</a:t>
            </a:r>
          </a:p>
          <a:p>
            <a:r>
              <a:rPr lang="en-US" dirty="0"/>
              <a:t>First, our results rest mostly on one dataset, because the other public datasets can be solved by simple rules.</a:t>
            </a:r>
          </a:p>
          <a:p>
            <a:r>
              <a:rPr lang="en-US" dirty="0"/>
              <a:t>Second, the model only sees connection summaries, not packet contents, so Analysis and Worms remain hard to detect.</a:t>
            </a:r>
          </a:p>
          <a:p>
            <a:r>
              <a:rPr lang="en-US" dirty="0"/>
              <a:t>Third, false alarms remain. About one alert in five is still false, and the reject option let 1,530 real attacks through.</a:t>
            </a:r>
          </a:p>
          <a:p>
            <a:r>
              <a:rPr lang="en-US" dirty="0"/>
              <a:t>And fourth, the system is sensitive to small changes. Small random changes to the input cut macro-F1 from 0.687 to 0.609, and a targeted attacker could hide 97 percent of attacks from the detection gate.</a:t>
            </a:r>
          </a:p>
          <a:p>
            <a:r>
              <a:rPr lang="en-US" dirty="0"/>
              <a:t>(About 35 seconds)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limitations point to four directions for future work.</a:t>
            </a:r>
          </a:p>
          <a:p>
            <a:r>
              <a:rPr lang="en-US" dirty="0"/>
              <a:t>First, train on one network and test on another, to see whether the system still works in a new environment.</a:t>
            </a:r>
          </a:p>
          <a:p>
            <a:r>
              <a:rPr lang="en-US" dirty="0"/>
              <a:t>Second, add features from packet contents, to help detect Analysis and Worms.</a:t>
            </a:r>
          </a:p>
          <a:p>
            <a:r>
              <a:rPr lang="en-US" dirty="0"/>
              <a:t>Third, explain each alert with SHAP, so analysts can see why a connection was flagged and spot false alarms faster.</a:t>
            </a:r>
          </a:p>
          <a:p>
            <a:r>
              <a:rPr lang="en-US" dirty="0"/>
              <a:t>And fourth, train the model on deliberately altered attacks, so it is harder to fool.</a:t>
            </a:r>
          </a:p>
          <a:p>
            <a:r>
              <a:rPr lang="en-US" dirty="0"/>
              <a:t>(About 30 seconds)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have three main takeaways.</a:t>
            </a:r>
          </a:p>
          <a:p>
            <a:r>
              <a:rPr lang="en-US" dirty="0"/>
              <a:t>First, the system works on realistic traffic. On unseen data it reaches a macro-F1 of 0.689 and an accuracy of 98.66 percent, with 2.6 times fewer false alarms.</a:t>
            </a:r>
          </a:p>
          <a:p>
            <a:r>
              <a:rPr lang="en-US" dirty="0"/>
              <a:t>Second, a little extra weight on rare attacks works best. Moderate weighting, at alpha equal to 0.25, added 0.039 and beat both SMOTE and fully balanced weights.</a:t>
            </a:r>
          </a:p>
          <a:p>
            <a:r>
              <a:rPr lang="en-US" dirty="0"/>
              <a:t>And third, better data beats a bigger model. Service information added 0.098, the largest gain, while model tuning added almost nothing.</a:t>
            </a:r>
          </a:p>
          <a:p>
            <a:r>
              <a:rPr lang="en-US" dirty="0"/>
              <a:t>(About 35 seconds)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references for our work, including the datasets, XGBoost and SMOTE, and the studies on evaluation pitfalls and adversarial attacks that shaped our approach. The full list is in the thesis report.</a:t>
            </a:r>
          </a:p>
          <a:p>
            <a:r>
              <a:rPr lang="en-US" dirty="0"/>
              <a:t>(About 10 seconds; no need to read the list aloud)</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are happy to take your questions.</a:t>
            </a:r>
          </a:p>
          <a:p>
            <a:r>
              <a:rPr lang="en-US" dirty="0"/>
              <a:t>(Likely questions: why macro-F1 instead of accuracy; why the reject option is a trade-off and not a free win; what k = 30 and p = 3 mean in the hybrid combiner; why CIC-IDS2017 and TON_IoT scores are higher.)</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40" name="Rectangle 6"/>
          <p:cNvSpPr/>
          <p:nvPr/>
        </p:nvSpPr>
        <p:spPr>
          <a:xfrm>
            <a:off x="457200" y="457200"/>
            <a:ext cx="11277600" cy="1574800"/>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150" name="Group 4"/>
          <p:cNvGrpSpPr/>
          <p:nvPr/>
        </p:nvGrpSpPr>
        <p:grpSpPr>
          <a:xfrm>
            <a:off x="457200" y="2032000"/>
            <a:ext cx="11277600" cy="127000"/>
            <a:chOff x="284163" y="1577847"/>
            <a:chExt cx="8576373" cy="137411"/>
          </a:xfrm>
        </p:grpSpPr>
        <p:sp>
          <p:nvSpPr>
            <p:cNvPr id="151"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2"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3"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60" name="Rectangle 12"/>
          <p:cNvSpPr/>
          <p:nvPr/>
        </p:nvSpPr>
        <p:spPr>
          <a:xfrm>
            <a:off x="457200" y="6248400"/>
            <a:ext cx="11277600" cy="17780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0"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10312400" y="533400"/>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15CC8D-D1C8-A2AD-EAB7-9F6391282812}"/>
              </a:ext>
            </a:extLst>
          </p:cNvPr>
          <p:cNvSpPr>
            <a:spLocks noGrp="1"/>
          </p:cNvSpPr>
          <p:nvPr>
            <p:ph type="ctrTitle"/>
          </p:nvPr>
        </p:nvSpPr>
        <p:spPr>
          <a:xfrm>
            <a:off x="711200" y="558800"/>
            <a:ext cx="9398000" cy="1371600"/>
          </a:xfrm>
        </p:spPr>
        <p:txBody>
          <a:bodyPr anchor="ctr"/>
          <a:lstStyle>
            <a:lvl1pPr algn="l">
              <a:buNone/>
              <a:defRPr>
                <a:solidFill>
                  <a:srgbClr val="FFFFFF"/>
                </a:solidFill>
              </a:defRPr>
            </a:lvl1pPr>
          </a:lstStyle>
          <a:p>
            <a:r>
              <a:rPr lang="en-US"/>
              <a:t>Click to edit Master title style</a:t>
            </a:r>
          </a:p>
        </p:txBody>
      </p:sp>
      <p:sp>
        <p:nvSpPr>
          <p:cNvPr id="3" name="Subtitle 2">
            <a:extLst>
              <a:ext uri="{FF2B5EF4-FFF2-40B4-BE49-F238E27FC236}">
                <a16:creationId xmlns:a16="http://schemas.microsoft.com/office/drawing/2014/main" id="{243D133A-9034-2330-C183-67C45CA4F7EF}"/>
              </a:ext>
            </a:extLst>
          </p:cNvPr>
          <p:cNvSpPr>
            <a:spLocks noGrp="1"/>
          </p:cNvSpPr>
          <p:nvPr>
            <p:ph type="subTitle" idx="1"/>
          </p:nvPr>
        </p:nvSpPr>
        <p:spPr>
          <a:xfrm>
            <a:off x="711200" y="2413000"/>
            <a:ext cx="10769600" cy="3556000"/>
          </a:xfrm>
        </p:spPr>
        <p:txBody>
          <a:bodyPr/>
          <a:lstStyle>
            <a:lvl1pPr algn="l">
              <a:buNone/>
              <a:defRPr>
                <a:solidFill>
                  <a:srgbClr val="262626"/>
                </a:solidFill>
              </a:defRPr>
            </a:lvl1pPr>
          </a:lstStyle>
          <a:p>
            <a:r>
              <a:rPr lang="en-US"/>
              <a:t>Click to edit Master subtitle style</a:t>
            </a:r>
          </a:p>
        </p:txBody>
      </p:sp>
      <p:sp>
        <p:nvSpPr>
          <p:cNvPr id="4" name="Date Placeholder 3">
            <a:extLst>
              <a:ext uri="{FF2B5EF4-FFF2-40B4-BE49-F238E27FC236}">
                <a16:creationId xmlns:a16="http://schemas.microsoft.com/office/drawing/2014/main" id="{90377058-648C-883A-1929-8AEC67F6E4F7}"/>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27293802-EB96-6C4C-6295-7511A64427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7A4F5-BD7F-9B64-7DB6-3993A9DC8A4D}"/>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275625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1772A-2C85-0831-D14A-3B3A203A52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B57A30-9170-178B-DDFC-5EBB5B36A7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E96184-3A7B-3056-2A70-A872640CEE27}"/>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C94662B2-7E28-3017-16FE-E769CE4CBB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4F959-CCEC-5DBC-9681-4E5605A3F7F4}"/>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432636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cSld name="Section Header">
    <p:spTree>
      <p:nvGrpSpPr>
        <p:cNvPr id="1" name=""/>
        <p:cNvGrpSpPr/>
        <p:nvPr/>
      </p:nvGrpSpPr>
      <p:grpSpPr>
        <a:xfrm>
          <a:off x="0" y="0"/>
          <a:ext cx="0" cy="0"/>
          <a:chOff x="0" y="0"/>
          <a:chExt cx="0" cy="0"/>
        </a:xfrm>
      </p:grpSpPr>
      <p:sp>
        <p:nvSpPr>
          <p:cNvPr id="140" name="Rectangle 6"/>
          <p:cNvSpPr/>
          <p:nvPr/>
        </p:nvSpPr>
        <p:spPr>
          <a:xfrm>
            <a:off x="457200" y="457200"/>
            <a:ext cx="11277600" cy="1574800"/>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150" name="Group 4"/>
          <p:cNvGrpSpPr/>
          <p:nvPr/>
        </p:nvGrpSpPr>
        <p:grpSpPr>
          <a:xfrm>
            <a:off x="457200" y="2032000"/>
            <a:ext cx="11277600" cy="127000"/>
            <a:chOff x="284163" y="1577847"/>
            <a:chExt cx="8576373" cy="137411"/>
          </a:xfrm>
        </p:grpSpPr>
        <p:sp>
          <p:nvSpPr>
            <p:cNvPr id="151"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2"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3"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60" name="Rectangle 12"/>
          <p:cNvSpPr/>
          <p:nvPr/>
        </p:nvSpPr>
        <p:spPr>
          <a:xfrm>
            <a:off x="457200" y="6248400"/>
            <a:ext cx="11277600" cy="177800"/>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0"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10312400" y="533400"/>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D9E1D1D-4BF2-3DE3-CCD2-910A97D957C7}"/>
              </a:ext>
            </a:extLst>
          </p:cNvPr>
          <p:cNvSpPr>
            <a:spLocks noGrp="1"/>
          </p:cNvSpPr>
          <p:nvPr>
            <p:ph type="title"/>
          </p:nvPr>
        </p:nvSpPr>
        <p:spPr>
          <a:xfrm>
            <a:off x="711200" y="558800"/>
            <a:ext cx="9398000" cy="1371600"/>
          </a:xfrm>
        </p:spPr>
        <p:txBody>
          <a:bodyPr anchor="ctr"/>
          <a:lstStyle>
            <a:lvl1pPr algn="l">
              <a:buNone/>
              <a:defRPr>
                <a:solidFill>
                  <a:srgbClr val="FFFFFF"/>
                </a:solidFill>
              </a:defRPr>
            </a:lvl1pPr>
          </a:lstStyle>
          <a:p>
            <a:r>
              <a:rPr lang="en-US"/>
              <a:t>Click to edit Master title style</a:t>
            </a:r>
          </a:p>
        </p:txBody>
      </p:sp>
      <p:sp>
        <p:nvSpPr>
          <p:cNvPr id="3" name="Text Placeholder 2">
            <a:extLst>
              <a:ext uri="{FF2B5EF4-FFF2-40B4-BE49-F238E27FC236}">
                <a16:creationId xmlns:a16="http://schemas.microsoft.com/office/drawing/2014/main" id="{E7A628EB-74CB-DE12-DBD7-A26A84F2CFA6}"/>
              </a:ext>
            </a:extLst>
          </p:cNvPr>
          <p:cNvSpPr>
            <a:spLocks noGrp="1"/>
          </p:cNvSpPr>
          <p:nvPr>
            <p:ph type="body" idx="1"/>
          </p:nvPr>
        </p:nvSpPr>
        <p:spPr>
          <a:xfrm>
            <a:off x="711200" y="2413000"/>
            <a:ext cx="10769600" cy="3556000"/>
          </a:xfrm>
        </p:spPr>
        <p:txBody>
          <a:bodyPr/>
          <a:lstStyle>
            <a:lvl1pPr algn="l">
              <a:buNone/>
              <a:defRPr>
                <a:solidFill>
                  <a:srgbClr val="262626"/>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147A0F44-9675-90AF-8DB0-52972DD2CF70}"/>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9170E06A-366B-0CA5-B5C4-D5E33ADD80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011C3E-FDDE-1898-9247-8FC460480F0C}"/>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3969251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241BA-AB67-BBAD-F2CC-57834774F6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85CF52-3703-C9D9-9BCF-36DF25C249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7FB9E1-01B6-A877-921B-D99ED4485E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23635B-6F62-EDF1-F825-30E36B8316CD}"/>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6" name="Footer Placeholder 5">
            <a:extLst>
              <a:ext uri="{FF2B5EF4-FFF2-40B4-BE49-F238E27FC236}">
                <a16:creationId xmlns:a16="http://schemas.microsoft.com/office/drawing/2014/main" id="{AB6CD828-40AE-9DA3-7CB0-7C6D181603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834E5A-F73A-A878-5A3E-974A1D76B0DB}"/>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101411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8DADA-05E8-4A3B-F874-CD60122B1371}"/>
              </a:ext>
            </a:extLst>
          </p:cNvPr>
          <p:cNvSpPr>
            <a:spLocks noGrp="1"/>
          </p:cNvSpPr>
          <p:nvPr>
            <p:ph type="title"/>
          </p:nvPr>
        </p:nvSpPr>
        <p:spPr>
          <a:xfrm>
            <a:off x="609600" y="558800"/>
            <a:ext cx="9702800" cy="7620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BA342150-3C4D-E970-34E4-9217268AE8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3FBEE9-CA21-BD8C-0789-D9AF6BE205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51CBCC-9A77-12A5-3D54-D4DBABBE05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73B5A8-FCF6-3CD6-9FE4-291EB06F39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B4CDE1-AFB9-5044-4E7C-FAE52CAA2CB9}"/>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8" name="Footer Placeholder 7">
            <a:extLst>
              <a:ext uri="{FF2B5EF4-FFF2-40B4-BE49-F238E27FC236}">
                <a16:creationId xmlns:a16="http://schemas.microsoft.com/office/drawing/2014/main" id="{C60BCF53-C704-593C-B52B-40C1B33915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8A2887B-97FA-E9D6-1C24-5FD74FD12FA3}"/>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4189797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31C04-BDE9-D4D7-A798-D1D46CF54B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AFB3C8-8CA6-D94F-6CCF-7FE08AE0E339}"/>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4" name="Footer Placeholder 3">
            <a:extLst>
              <a:ext uri="{FF2B5EF4-FFF2-40B4-BE49-F238E27FC236}">
                <a16:creationId xmlns:a16="http://schemas.microsoft.com/office/drawing/2014/main" id="{17D05A77-A931-4884-43DA-0FEB9F3AD1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6B7BEC-5077-664D-DFE6-2DD363249731}"/>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2431140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3886D7-7806-FB07-725B-48734F569BA2}"/>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3" name="Footer Placeholder 2">
            <a:extLst>
              <a:ext uri="{FF2B5EF4-FFF2-40B4-BE49-F238E27FC236}">
                <a16:creationId xmlns:a16="http://schemas.microsoft.com/office/drawing/2014/main" id="{F82E6F97-CF62-547A-1BC7-823156F9FE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4D1E7F-A3AD-F6C5-FAF4-B424AA6A5830}"/>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1097374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5C803-23FE-D44A-E694-687F996FD2FD}"/>
              </a:ext>
            </a:extLst>
          </p:cNvPr>
          <p:cNvSpPr>
            <a:spLocks noGrp="1"/>
          </p:cNvSpPr>
          <p:nvPr>
            <p:ph type="title"/>
          </p:nvPr>
        </p:nvSpPr>
        <p:spPr>
          <a:xfrm>
            <a:off x="609600" y="558800"/>
            <a:ext cx="9702800" cy="7620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7E805A-8E47-C213-5B0A-90D65AE48F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DB3409-718D-BD44-477C-2F762253E5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9C56C-64C6-4DCA-9E33-3D1EB7CC06EB}"/>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6" name="Footer Placeholder 5">
            <a:extLst>
              <a:ext uri="{FF2B5EF4-FFF2-40B4-BE49-F238E27FC236}">
                <a16:creationId xmlns:a16="http://schemas.microsoft.com/office/drawing/2014/main" id="{302B53B2-B766-D3A5-D077-C2AF9EB18F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D467AA-29E5-FCFC-E2BE-64ADBEDA965B}"/>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3133138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55D5D-2CC2-B5AF-5300-9F9CE5F581A2}"/>
              </a:ext>
            </a:extLst>
          </p:cNvPr>
          <p:cNvSpPr>
            <a:spLocks noGrp="1"/>
          </p:cNvSpPr>
          <p:nvPr>
            <p:ph type="title"/>
          </p:nvPr>
        </p:nvSpPr>
        <p:spPr>
          <a:xfrm>
            <a:off x="609600" y="558800"/>
            <a:ext cx="9702800" cy="7620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19AD42-E680-D437-1346-D6FA59FB9CB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F7E0AE-C3A0-3C08-878D-C5E268BB22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70BD5B-E556-0B58-022F-D16C3943B40E}"/>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6" name="Footer Placeholder 5">
            <a:extLst>
              <a:ext uri="{FF2B5EF4-FFF2-40B4-BE49-F238E27FC236}">
                <a16:creationId xmlns:a16="http://schemas.microsoft.com/office/drawing/2014/main" id="{32B0E198-B05C-B607-BB29-5E4385F06A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D59F45-694C-BA3B-AE3E-F130560AA394}"/>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271214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BDAB-54D3-68C0-BC3B-6E6AD13E7D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8BD16A-C8FF-2276-158A-3FD3E34D50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DFE8F7-60C5-0A6F-1760-D4E278B13A1F}"/>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2822680C-7178-34E3-64A3-505602B2E9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92F93-73AB-FE73-739C-220F6C541B1A}"/>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1387880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C4BBB-AF37-0113-21AB-9570AED22D29}"/>
              </a:ext>
            </a:extLst>
          </p:cNvPr>
          <p:cNvSpPr>
            <a:spLocks noGrp="1"/>
          </p:cNvSpPr>
          <p:nvPr>
            <p:ph type="title" orient="vert"/>
          </p:nvPr>
        </p:nvSpPr>
        <p:spPr>
          <a:xfrm>
            <a:off x="609600" y="558800"/>
            <a:ext cx="9702800" cy="762000"/>
          </a:xfrm>
        </p:spPr>
        <p:txBody>
          <a:bodyPr vert="eaVert" anchor="b"/>
          <a:lstStyle/>
          <a:p>
            <a:r>
              <a:rPr lang="en-US"/>
              <a:t>Click to edit Master title style</a:t>
            </a:r>
          </a:p>
        </p:txBody>
      </p:sp>
      <p:sp>
        <p:nvSpPr>
          <p:cNvPr id="3" name="Vertical Text Placeholder 2">
            <a:extLst>
              <a:ext uri="{FF2B5EF4-FFF2-40B4-BE49-F238E27FC236}">
                <a16:creationId xmlns:a16="http://schemas.microsoft.com/office/drawing/2014/main" id="{1C4AD2BA-974F-20FA-A02A-1419B8A265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3D7EC-D6CD-38B4-8EF9-AD6CDD66DA6A}"/>
              </a:ext>
            </a:extLst>
          </p:cNvPr>
          <p:cNvSpPr>
            <a:spLocks noGrp="1"/>
          </p:cNvSpPr>
          <p:nvPr>
            <p:ph type="dt" sz="half" idx="10"/>
          </p:nvPr>
        </p:nvSpPr>
        <p:spPr/>
        <p:txBody>
          <a:body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7A696C75-E4D4-FA75-63E5-1CE3E08C2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4EA26-DACB-23A9-C3ED-45F6974B9A8C}"/>
              </a:ext>
            </a:extLst>
          </p:cNvPr>
          <p:cNvSpPr>
            <a:spLocks noGrp="1"/>
          </p:cNvSpPr>
          <p:nvPr>
            <p:ph type="sldNum" sz="quarter" idx="12"/>
          </p:nvPr>
        </p:nvSpPr>
        <p:spPr/>
        <p:txBody>
          <a:bodyPr/>
          <a:lstStyle/>
          <a:p>
            <a:fld id="{C7F0390B-6E29-48DF-B134-99D6A0365BB5}" type="slidenum">
              <a:rPr lang="en-US" smtClean="0"/>
              <a:t>‹#›</a:t>
            </a:fld>
            <a:endParaRPr lang="en-US"/>
          </a:p>
        </p:txBody>
      </p:sp>
    </p:spTree>
    <p:extLst>
      <p:ext uri="{BB962C8B-B14F-4D97-AF65-F5344CB8AC3E}">
        <p14:creationId xmlns:p14="http://schemas.microsoft.com/office/powerpoint/2010/main" val="2544285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0" name="Deco"/>
          <p:cNvGrpSpPr/>
          <p:nvPr userDrawn="1"/>
        </p:nvGrpSpPr>
        <p:grpSpPr>
          <a:xfrm>
            <a:off x="0" y="0"/>
            <a:ext cx="12192000" cy="6858000"/>
            <a:chOff x="0" y="0"/>
            <a:chExt cx="12192000" cy="6858000"/>
          </a:xfrm>
        </p:grpSpPr>
        <p:sp>
          <p:nvSpPr>
            <p:cNvPr id="92" name="FooterRule"/>
            <p:cNvSpPr/>
            <p:nvPr userDrawn="1"/>
          </p:nvSpPr>
          <p:spPr>
            <a:xfrm>
              <a:off x="609600" y="6400800"/>
              <a:ext cx="10972800" cy="0"/>
            </a:xfrm>
            <a:prstGeom prst="line">
              <a:avLst/>
            </a:prstGeom>
            <a:ln w="6350">
              <a:solidFill>
                <a:srgbClr val="D9D9D9"/>
              </a:solidFill>
            </a:ln>
          </p:spPr>
          <p:txBody>
            <a:bodyPr/>
            <a:lstStyle/>
            <a:p>
              <a:endParaRPr lang="en-US"/>
            </a:p>
          </p:txBody>
        </p:sp>
      </p:grpSp>
      <p:sp>
        <p:nvSpPr>
          <p:cNvPr id="2" name="Title Placeholder 1">
            <a:extLst>
              <a:ext uri="{FF2B5EF4-FFF2-40B4-BE49-F238E27FC236}">
                <a16:creationId xmlns:a16="http://schemas.microsoft.com/office/drawing/2014/main" id="{534D6CB4-B339-9A89-9EC9-383E09D1FF0E}"/>
              </a:ext>
            </a:extLst>
          </p:cNvPr>
          <p:cNvSpPr>
            <a:spLocks noGrp="1"/>
          </p:cNvSpPr>
          <p:nvPr>
            <p:ph type="title"/>
          </p:nvPr>
        </p:nvSpPr>
        <p:spPr>
          <a:xfrm>
            <a:off x="609600" y="558800"/>
            <a:ext cx="9702800" cy="787400"/>
          </a:xfrm>
          <a:prstGeom prst="rect">
            <a:avLst/>
          </a:prstGeom>
        </p:spPr>
        <p:txBody>
          <a:bodyPr vert="horz" lIns="0" tIns="45720" rIns="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4F2D8202-BA3D-9046-C6D8-62BBDBBB2540}"/>
              </a:ext>
            </a:extLst>
          </p:cNvPr>
          <p:cNvSpPr>
            <a:spLocks noGrp="1"/>
          </p:cNvSpPr>
          <p:nvPr>
            <p:ph type="body" idx="1"/>
          </p:nvPr>
        </p:nvSpPr>
        <p:spPr>
          <a:xfrm>
            <a:off x="609600" y="1422400"/>
            <a:ext cx="10972800" cy="4826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4967B6-6E9A-2A47-73EE-55F016603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D6AEB3-B107-4411-80BD-0AAF24B5DB78}" type="datetimeFigureOut">
              <a:rPr lang="en-US" smtClean="0"/>
              <a:t>10/28/2026</a:t>
            </a:fld>
            <a:endParaRPr lang="en-US"/>
          </a:p>
        </p:txBody>
      </p:sp>
      <p:sp>
        <p:nvSpPr>
          <p:cNvPr id="5" name="Footer Placeholder 4">
            <a:extLst>
              <a:ext uri="{FF2B5EF4-FFF2-40B4-BE49-F238E27FC236}">
                <a16:creationId xmlns:a16="http://schemas.microsoft.com/office/drawing/2014/main" id="{B1E4B541-70F7-9B7B-EAEA-ADDB4F4B003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CD2979-0694-09B5-69F7-D0EEFE36AE2A}"/>
              </a:ext>
            </a:extLst>
          </p:cNvPr>
          <p:cNvSpPr>
            <a:spLocks noGrp="1"/>
          </p:cNvSpPr>
          <p:nvPr>
            <p:ph type="sldNum" sz="quarter" idx="4"/>
          </p:nvPr>
        </p:nvSpPr>
        <p:spPr>
          <a:xfrm>
            <a:off x="10363200" y="6438900"/>
            <a:ext cx="1219200" cy="254000"/>
          </a:xfrm>
          <a:prstGeom prst="rect">
            <a:avLst/>
          </a:prstGeom>
        </p:spPr>
        <p:txBody>
          <a:bodyPr vert="horz" lIns="0" tIns="0" rIns="0" bIns="0" rtlCol="0" anchor="ctr"/>
          <a:lstStyle>
            <a:lvl1pPr algn="r">
              <a:defRPr sz="1000">
                <a:solidFill>
                  <a:srgbClr val="595959"/>
                </a:solidFill>
              </a:defRPr>
            </a:lvl1pPr>
          </a:lstStyle>
          <a:p>
            <a:fld id="{C7F0390B-6E29-48DF-B134-99D6A0365BB5}" type="slidenum">
              <a:rPr lang="en-US" smtClean="0"/>
              <a:t>‹#›</a:t>
            </a:fld>
            <a:endParaRPr lang="en-US"/>
          </a:p>
        </p:txBody>
      </p:sp>
      <p:grpSp>
        <p:nvGrpSpPr>
          <p:cNvPr id="120" name="Group 4"/>
          <p:cNvGrpSpPr/>
          <p:nvPr/>
        </p:nvGrpSpPr>
        <p:grpSpPr>
          <a:xfrm>
            <a:off x="609600" y="381000"/>
            <a:ext cx="9804400" cy="101600"/>
            <a:chOff x="284163" y="1577847"/>
            <a:chExt cx="8576373" cy="137411"/>
          </a:xfrm>
        </p:grpSpPr>
        <p:sp>
          <p:nvSpPr>
            <p:cNvPr id="121"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2"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3"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13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13" cstate="email">
            <a:extLst>
              <a:ext uri="{28A0092B-C50C-407E-A947-70E740481C1C}">
                <a14:useLocalDpi xmlns:a14="http://schemas.microsoft.com/office/drawing/2010/main" val="0"/>
              </a:ext>
            </a:extLst>
          </a:blip>
          <a:srcRect/>
          <a:stretch>
            <a:fillRect/>
          </a:stretch>
        </p:blipFill>
        <p:spPr bwMode="auto">
          <a:xfrm>
            <a:off x="10617200" y="63500"/>
            <a:ext cx="1016000" cy="10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4075653"/>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2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9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9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9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9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875AB-4622-1556-1734-C875B8DE7E0A}"/>
              </a:ext>
            </a:extLst>
          </p:cNvPr>
          <p:cNvSpPr>
            <a:spLocks noGrp="1"/>
          </p:cNvSpPr>
          <p:nvPr>
            <p:ph type="ctrTitle"/>
          </p:nvPr>
        </p:nvSpPr>
        <p:spPr>
          <a:xfrm>
            <a:off x="711200" y="558800"/>
            <a:ext cx="9398000" cy="1371600"/>
          </a:xfrm>
        </p:spPr>
        <p:txBody>
          <a:bodyPr lIns="0" tIns="0" rIns="0" bIns="0" anchor="ctr">
            <a:noAutofit/>
          </a:bodyPr>
          <a:lstStyle/>
          <a:p>
            <a:pPr algn="l">
              <a:lnSpc>
                <a:spcPct val="95000"/>
              </a:lnSpc>
            </a:pPr>
            <a:r>
              <a:rPr lang="en-US" sz="2400" b="1" dirty="0">
                <a:solidFill>
                  <a:srgbClr val="FFFFFF"/>
                </a:solidFill>
              </a:rPr>
              <a:t>A Two-Stage Hierarchical Multiclass Network Intrusion Detection System with Tempered Class Weighting and a Reject Option for Imbalanced Network Flows</a:t>
            </a:r>
          </a:p>
        </p:txBody>
      </p:sp>
      <p:sp>
        <p:nvSpPr>
          <p:cNvPr id="3" name="Subtitle 2">
            <a:extLst>
              <a:ext uri="{FF2B5EF4-FFF2-40B4-BE49-F238E27FC236}">
                <a16:creationId xmlns:a16="http://schemas.microsoft.com/office/drawing/2014/main" id="{6FA0FCEA-250C-58D1-36BC-E9102BFF8BC8}"/>
              </a:ext>
            </a:extLst>
          </p:cNvPr>
          <p:cNvSpPr>
            <a:spLocks noGrp="1"/>
          </p:cNvSpPr>
          <p:nvPr>
            <p:ph type="subTitle" idx="1"/>
          </p:nvPr>
        </p:nvSpPr>
        <p:spPr>
          <a:xfrm>
            <a:off x="711200" y="3200400"/>
            <a:ext cx="4699000" cy="2159000"/>
          </a:xfrm>
        </p:spPr>
        <p:txBody>
          <a:bodyPr wrap="square" lIns="0" tIns="0" rIns="0" bIns="0" anchor="t">
            <a:noAutofit/>
          </a:bodyPr>
          <a:lstStyle/>
          <a:p>
            <a:pPr algn="l">
              <a:spcBef>
                <a:spcPts val="0"/>
              </a:spcBef>
              <a:buNone/>
            </a:pPr>
            <a:r>
              <a:rPr lang="en-US" sz="2400" b="1" dirty="0">
                <a:solidFill>
                  <a:srgbClr val="4A66AC"/>
                </a:solidFill>
              </a:rPr>
              <a:t>Undergraduate Thesis Defense</a:t>
            </a:r>
          </a:p>
          <a:p>
            <a:pPr algn="l">
              <a:spcBef>
                <a:spcPts val="600"/>
              </a:spcBef>
              <a:buNone/>
            </a:pPr>
            <a:r>
              <a:rPr lang="en-US" sz="1800" dirty="0">
                <a:solidFill>
                  <a:srgbClr val="262626"/>
                </a:solidFill>
              </a:rPr>
              <a:t>Summer 2025–2026</a:t>
            </a:r>
          </a:p>
          <a:p>
            <a:pPr algn="l">
              <a:spcBef>
                <a:spcPts val="1800"/>
              </a:spcBef>
              <a:buNone/>
            </a:pPr>
            <a:r>
              <a:rPr lang="en-US" sz="1600" dirty="0">
                <a:solidFill>
                  <a:srgbClr val="595959"/>
                </a:solidFill>
              </a:rPr>
              <a:t>Department of Computer Science</a:t>
            </a:r>
          </a:p>
          <a:p>
            <a:pPr algn="l">
              <a:spcBef>
                <a:spcPts val="200"/>
              </a:spcBef>
              <a:buNone/>
            </a:pPr>
            <a:r>
              <a:rPr lang="en-US" sz="1600" dirty="0">
                <a:solidFill>
                  <a:srgbClr val="595959"/>
                </a:solidFill>
              </a:rPr>
              <a:t>Faculty of Science and Technology</a:t>
            </a:r>
          </a:p>
          <a:p>
            <a:pPr algn="l">
              <a:spcBef>
                <a:spcPts val="200"/>
              </a:spcBef>
              <a:buNone/>
            </a:pPr>
            <a:r>
              <a:rPr lang="en-US" sz="1600" dirty="0">
                <a:solidFill>
                  <a:srgbClr val="595959"/>
                </a:solidFill>
              </a:rPr>
              <a:t>American International University-Bangladesh</a:t>
            </a:r>
          </a:p>
        </p:txBody>
      </p:sp>
      <p:graphicFrame>
        <p:nvGraphicFramePr>
          <p:cNvPr id="20" name="Team table"/>
          <p:cNvGraphicFramePr>
            <a:graphicFrameLocks noGrp="1"/>
          </p:cNvGraphicFramePr>
          <p:nvPr/>
        </p:nvGraphicFramePr>
        <p:xfrm>
          <a:off x="5969000" y="3175000"/>
          <a:ext cx="5511800" cy="2159000"/>
        </p:xfrm>
        <a:graphic>
          <a:graphicData uri="http://schemas.openxmlformats.org/drawingml/2006/table">
            <a:tbl>
              <a:tblPr firstRow="1"/>
              <a:tblGrid>
                <a:gridCol w="3683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31800">
                <a:tc>
                  <a:txBody>
                    <a:bodyPr/>
                    <a:lstStyle/>
                    <a:p>
                      <a:pPr algn="l"/>
                      <a:r>
                        <a:rPr lang="en-US" sz="1600" b="1" dirty="0">
                          <a:solidFill>
                            <a:srgbClr val="FFFFFF"/>
                          </a:solidFill>
                        </a:rPr>
                        <a:t>Student name</a:t>
                      </a:r>
                    </a:p>
                  </a:txBody>
                  <a:tcPr marL="152400" marR="152400" marT="50800" marB="50800" anchor="ctr">
                    <a:lnL w="0">
                      <a:noFill/>
                    </a:lnL>
                    <a:lnR w="0">
                      <a:noFill/>
                    </a:lnR>
                    <a:lnT w="0">
                      <a:noFill/>
                    </a:lnT>
                    <a:lnB w="0">
                      <a:noFill/>
                    </a:lnB>
                    <a:solidFill>
                      <a:srgbClr val="404040"/>
                    </a:solidFill>
                  </a:tcPr>
                </a:tc>
                <a:tc>
                  <a:txBody>
                    <a:bodyPr/>
                    <a:lstStyle/>
                    <a:p>
                      <a:pPr algn="r"/>
                      <a:r>
                        <a:rPr lang="en-US" sz="1600" b="1" dirty="0">
                          <a:solidFill>
                            <a:srgbClr val="FFFFFF"/>
                          </a:solidFill>
                        </a:rPr>
                        <a:t>ID</a:t>
                      </a:r>
                    </a:p>
                  </a:txBody>
                  <a:tcPr marL="152400" marR="152400" marT="50800" marB="50800" anchor="ctr">
                    <a:lnL w="0">
                      <a:noFill/>
                    </a:lnL>
                    <a:lnR w="0">
                      <a:noFill/>
                    </a:lnR>
                    <a:lnT w="0">
                      <a:noFill/>
                    </a:lnT>
                    <a:lnB w="0">
                      <a:noFill/>
                    </a:lnB>
                    <a:solidFill>
                      <a:srgbClr val="404040"/>
                    </a:solidFill>
                  </a:tcPr>
                </a:tc>
                <a:extLst>
                  <a:ext uri="{0D108BD9-81ED-4DB2-BD59-A6C34878D82A}">
                    <a16:rowId xmlns:a16="http://schemas.microsoft.com/office/drawing/2014/main" val="10000"/>
                  </a:ext>
                </a:extLst>
              </a:tr>
              <a:tr h="431800">
                <a:tc>
                  <a:txBody>
                    <a:bodyPr/>
                    <a:lstStyle/>
                    <a:p>
                      <a:pPr algn="l"/>
                      <a:r>
                        <a:rPr lang="en-US" sz="1600" dirty="0">
                          <a:solidFill>
                            <a:srgbClr val="262626"/>
                          </a:solidFill>
                        </a:rPr>
                        <a:t>Parthib Datta</a:t>
                      </a:r>
                    </a:p>
                  </a:txBody>
                  <a:tcPr marL="152400" marR="152400" marT="50800" marB="50800" anchor="ctr">
                    <a:lnL w="0">
                      <a:noFill/>
                    </a:lnL>
                    <a:lnR w="0">
                      <a:noFill/>
                    </a:lnR>
                    <a:lnT w="0">
                      <a:noFill/>
                    </a:lnT>
                    <a:lnB w="9525">
                      <a:solidFill>
                        <a:srgbClr val="D9D9D9"/>
                      </a:solidFill>
                    </a:lnB>
                    <a:noFill/>
                  </a:tcPr>
                </a:tc>
                <a:tc>
                  <a:txBody>
                    <a:bodyPr/>
                    <a:lstStyle/>
                    <a:p>
                      <a:pPr algn="r"/>
                      <a:r>
                        <a:rPr lang="en-US" sz="1600" dirty="0">
                          <a:solidFill>
                            <a:srgbClr val="262626"/>
                          </a:solidFill>
                        </a:rPr>
                        <a:t>22-47465-2</a:t>
                      </a:r>
                    </a:p>
                  </a:txBody>
                  <a:tcPr marL="152400" marR="152400" marT="50800" marB="50800" anchor="ctr">
                    <a:lnL w="0">
                      <a:noFill/>
                    </a:lnL>
                    <a:lnR w="0">
                      <a:noFill/>
                    </a:lnR>
                    <a:lnT w="0">
                      <a:noFill/>
                    </a:lnT>
                    <a:lnB w="9525">
                      <a:solidFill>
                        <a:srgbClr val="D9D9D9"/>
                      </a:solidFill>
                    </a:lnB>
                    <a:noFill/>
                  </a:tcPr>
                </a:tc>
                <a:extLst>
                  <a:ext uri="{0D108BD9-81ED-4DB2-BD59-A6C34878D82A}">
                    <a16:rowId xmlns:a16="http://schemas.microsoft.com/office/drawing/2014/main" val="10001"/>
                  </a:ext>
                </a:extLst>
              </a:tr>
              <a:tr h="431800">
                <a:tc>
                  <a:txBody>
                    <a:bodyPr/>
                    <a:lstStyle/>
                    <a:p>
                      <a:pPr algn="l"/>
                      <a:r>
                        <a:rPr lang="en-US" sz="1600" dirty="0">
                          <a:solidFill>
                            <a:srgbClr val="262626"/>
                          </a:solidFill>
                        </a:rPr>
                        <a:t>Abidur Rahman</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tc>
                  <a:txBody>
                    <a:bodyPr/>
                    <a:lstStyle/>
                    <a:p>
                      <a:pPr algn="r"/>
                      <a:r>
                        <a:rPr lang="en-US" sz="1600" dirty="0">
                          <a:solidFill>
                            <a:srgbClr val="262626"/>
                          </a:solidFill>
                        </a:rPr>
                        <a:t>22-47460-2</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2"/>
                  </a:ext>
                </a:extLst>
              </a:tr>
              <a:tr h="431800">
                <a:tc>
                  <a:txBody>
                    <a:bodyPr/>
                    <a:lstStyle/>
                    <a:p>
                      <a:pPr algn="l"/>
                      <a:r>
                        <a:rPr lang="en-US" sz="1600" dirty="0">
                          <a:solidFill>
                            <a:srgbClr val="262626"/>
                          </a:solidFill>
                        </a:rPr>
                        <a:t>Mhamudul Hasan Ovi</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tc>
                  <a:txBody>
                    <a:bodyPr/>
                    <a:lstStyle/>
                    <a:p>
                      <a:pPr algn="r"/>
                      <a:r>
                        <a:rPr lang="en-US" sz="1600" dirty="0">
                          <a:solidFill>
                            <a:srgbClr val="262626"/>
                          </a:solidFill>
                        </a:rPr>
                        <a:t>22-47381-2</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3"/>
                  </a:ext>
                </a:extLst>
              </a:tr>
              <a:tr h="431800">
                <a:tc>
                  <a:txBody>
                    <a:bodyPr/>
                    <a:lstStyle/>
                    <a:p>
                      <a:pPr algn="l"/>
                      <a:r>
                        <a:rPr lang="en-US" sz="1600" dirty="0">
                          <a:solidFill>
                            <a:srgbClr val="262626"/>
                          </a:solidFill>
                        </a:rPr>
                        <a:t>Md. Ebnul Ahsan</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tc>
                  <a:txBody>
                    <a:bodyPr/>
                    <a:lstStyle/>
                    <a:p>
                      <a:pPr algn="r"/>
                      <a:r>
                        <a:rPr lang="en-US" sz="1600" dirty="0">
                          <a:solidFill>
                            <a:srgbClr val="262626"/>
                          </a:solidFill>
                        </a:rPr>
                        <a:t>22-47464-2</a:t>
                      </a:r>
                    </a:p>
                  </a:txBody>
                  <a:tcPr marL="152400" marR="152400" marT="50800" marB="50800" anchor="ctr">
                    <a:lnL w="0">
                      <a:noFill/>
                    </a:lnL>
                    <a:lnR w="0">
                      <a:noFill/>
                    </a:lnR>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02514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BDD3E-0793-A9A8-DCAF-6D9226A3C6D8}"/>
              </a:ext>
            </a:extLst>
          </p:cNvPr>
          <p:cNvSpPr>
            <a:spLocks noGrp="1"/>
          </p:cNvSpPr>
          <p:nvPr>
            <p:ph type="title"/>
          </p:nvPr>
        </p:nvSpPr>
        <p:spPr/>
        <p:txBody>
          <a:bodyPr/>
          <a:lstStyle/>
          <a:p>
            <a:r>
              <a:rPr lang="en-US"/>
              <a:t>Table of contents</a:t>
            </a:r>
          </a:p>
        </p:txBody>
      </p:sp>
      <p:sp>
        <p:nvSpPr>
          <p:cNvPr id="200" name="Slide Number"/>
          <p:cNvSpPr>
            <a:spLocks noGrp="1"/>
          </p:cNvSpPr>
          <p:nvPr>
            <p:ph type="sldNum" sz="quarter" idx="12"/>
          </p:nvPr>
        </p:nvSpPr>
        <p:spPr/>
        <p:txBody>
          <a:bodyPr/>
          <a:lstStyle/>
          <a:p>
            <a:fld id="{B6F15528-21DE-4FAA-801E-634DDDAF4B2B}" type="slidenum">
              <a:rPr lang="en-US"/>
              <a:t>2</a:t>
            </a:fld>
            <a:endParaRPr lang="en-US"/>
          </a:p>
        </p:txBody>
      </p:sp>
      <p:sp>
        <p:nvSpPr>
          <p:cNvPr id="40" name="Text 40"/>
          <p:cNvSpPr txBox="1"/>
          <p:nvPr/>
        </p:nvSpPr>
        <p:spPr>
          <a:xfrm>
            <a:off x="609600" y="15494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01</a:t>
            </a:r>
          </a:p>
        </p:txBody>
      </p:sp>
      <p:sp>
        <p:nvSpPr>
          <p:cNvPr id="41" name="Text 41"/>
          <p:cNvSpPr txBox="1"/>
          <p:nvPr/>
        </p:nvSpPr>
        <p:spPr>
          <a:xfrm>
            <a:off x="1422400" y="15494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Problem Definition</a:t>
            </a:r>
          </a:p>
        </p:txBody>
      </p:sp>
      <p:cxnSp>
        <p:nvCxnSpPr>
          <p:cNvPr id="43" name="Line 43"/>
          <p:cNvCxnSpPr/>
          <p:nvPr/>
        </p:nvCxnSpPr>
        <p:spPr>
          <a:xfrm>
            <a:off x="609600" y="2209800"/>
            <a:ext cx="5181600" cy="0"/>
          </a:xfrm>
          <a:prstGeom prst="line">
            <a:avLst/>
          </a:prstGeom>
          <a:ln w="9525">
            <a:solidFill>
              <a:srgbClr val="D9D9D9"/>
            </a:solidFill>
          </a:ln>
        </p:spPr>
      </p:cxnSp>
      <p:sp>
        <p:nvSpPr>
          <p:cNvPr id="44" name="Text 44"/>
          <p:cNvSpPr txBox="1"/>
          <p:nvPr/>
        </p:nvSpPr>
        <p:spPr>
          <a:xfrm>
            <a:off x="609600" y="22733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02</a:t>
            </a:r>
          </a:p>
        </p:txBody>
      </p:sp>
      <p:sp>
        <p:nvSpPr>
          <p:cNvPr id="45" name="Text 45"/>
          <p:cNvSpPr txBox="1"/>
          <p:nvPr/>
        </p:nvSpPr>
        <p:spPr>
          <a:xfrm>
            <a:off x="1422400" y="22733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Objectives</a:t>
            </a:r>
          </a:p>
        </p:txBody>
      </p:sp>
      <p:cxnSp>
        <p:nvCxnSpPr>
          <p:cNvPr id="47" name="Line 47"/>
          <p:cNvCxnSpPr/>
          <p:nvPr/>
        </p:nvCxnSpPr>
        <p:spPr>
          <a:xfrm>
            <a:off x="609600" y="2933700"/>
            <a:ext cx="5181600" cy="0"/>
          </a:xfrm>
          <a:prstGeom prst="line">
            <a:avLst/>
          </a:prstGeom>
          <a:ln w="9525">
            <a:solidFill>
              <a:srgbClr val="D9D9D9"/>
            </a:solidFill>
          </a:ln>
        </p:spPr>
      </p:cxnSp>
      <p:sp>
        <p:nvSpPr>
          <p:cNvPr id="48" name="Text 48"/>
          <p:cNvSpPr txBox="1"/>
          <p:nvPr/>
        </p:nvSpPr>
        <p:spPr>
          <a:xfrm>
            <a:off x="609600" y="29972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03</a:t>
            </a:r>
          </a:p>
        </p:txBody>
      </p:sp>
      <p:sp>
        <p:nvSpPr>
          <p:cNvPr id="49" name="Text 49"/>
          <p:cNvSpPr txBox="1"/>
          <p:nvPr/>
        </p:nvSpPr>
        <p:spPr>
          <a:xfrm>
            <a:off x="1422400" y="29972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Research Questions</a:t>
            </a:r>
          </a:p>
        </p:txBody>
      </p:sp>
      <p:cxnSp>
        <p:nvCxnSpPr>
          <p:cNvPr id="51" name="Line 51"/>
          <p:cNvCxnSpPr/>
          <p:nvPr/>
        </p:nvCxnSpPr>
        <p:spPr>
          <a:xfrm>
            <a:off x="609600" y="3657600"/>
            <a:ext cx="5181600" cy="0"/>
          </a:xfrm>
          <a:prstGeom prst="line">
            <a:avLst/>
          </a:prstGeom>
          <a:ln w="9525">
            <a:solidFill>
              <a:srgbClr val="D9D9D9"/>
            </a:solidFill>
          </a:ln>
        </p:spPr>
      </p:cxnSp>
      <p:sp>
        <p:nvSpPr>
          <p:cNvPr id="52" name="Text 52"/>
          <p:cNvSpPr txBox="1"/>
          <p:nvPr/>
        </p:nvSpPr>
        <p:spPr>
          <a:xfrm>
            <a:off x="609600" y="37211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04</a:t>
            </a:r>
          </a:p>
        </p:txBody>
      </p:sp>
      <p:sp>
        <p:nvSpPr>
          <p:cNvPr id="53" name="Text 53"/>
          <p:cNvSpPr txBox="1"/>
          <p:nvPr/>
        </p:nvSpPr>
        <p:spPr>
          <a:xfrm>
            <a:off x="1422400" y="37211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Research Methodology</a:t>
            </a:r>
          </a:p>
        </p:txBody>
      </p:sp>
      <p:cxnSp>
        <p:nvCxnSpPr>
          <p:cNvPr id="55" name="Line 55"/>
          <p:cNvCxnSpPr/>
          <p:nvPr/>
        </p:nvCxnSpPr>
        <p:spPr>
          <a:xfrm>
            <a:off x="609600" y="4381500"/>
            <a:ext cx="5181600" cy="0"/>
          </a:xfrm>
          <a:prstGeom prst="line">
            <a:avLst/>
          </a:prstGeom>
          <a:ln w="9525">
            <a:solidFill>
              <a:srgbClr val="D9D9D9"/>
            </a:solidFill>
          </a:ln>
        </p:spPr>
      </p:cxnSp>
      <p:sp>
        <p:nvSpPr>
          <p:cNvPr id="56" name="Text 56"/>
          <p:cNvSpPr txBox="1"/>
          <p:nvPr/>
        </p:nvSpPr>
        <p:spPr>
          <a:xfrm>
            <a:off x="609600" y="44450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05</a:t>
            </a:r>
          </a:p>
        </p:txBody>
      </p:sp>
      <p:sp>
        <p:nvSpPr>
          <p:cNvPr id="57" name="Text 57"/>
          <p:cNvSpPr txBox="1"/>
          <p:nvPr/>
        </p:nvSpPr>
        <p:spPr>
          <a:xfrm>
            <a:off x="1422400" y="44450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Data Collection &amp; Analysis</a:t>
            </a:r>
          </a:p>
        </p:txBody>
      </p:sp>
      <p:cxnSp>
        <p:nvCxnSpPr>
          <p:cNvPr id="59" name="Line 59"/>
          <p:cNvCxnSpPr/>
          <p:nvPr/>
        </p:nvCxnSpPr>
        <p:spPr>
          <a:xfrm>
            <a:off x="609600" y="5105400"/>
            <a:ext cx="5181600" cy="0"/>
          </a:xfrm>
          <a:prstGeom prst="line">
            <a:avLst/>
          </a:prstGeom>
          <a:ln w="9525">
            <a:solidFill>
              <a:srgbClr val="D9D9D9"/>
            </a:solidFill>
          </a:ln>
        </p:spPr>
      </p:cxnSp>
      <p:sp>
        <p:nvSpPr>
          <p:cNvPr id="60" name="Text 60"/>
          <p:cNvSpPr txBox="1"/>
          <p:nvPr/>
        </p:nvSpPr>
        <p:spPr>
          <a:xfrm>
            <a:off x="609600" y="51689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06</a:t>
            </a:r>
          </a:p>
        </p:txBody>
      </p:sp>
      <p:sp>
        <p:nvSpPr>
          <p:cNvPr id="61" name="Text 61"/>
          <p:cNvSpPr txBox="1"/>
          <p:nvPr/>
        </p:nvSpPr>
        <p:spPr>
          <a:xfrm>
            <a:off x="1422400" y="51689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Our Proposed Model</a:t>
            </a:r>
          </a:p>
        </p:txBody>
      </p:sp>
      <p:cxnSp>
        <p:nvCxnSpPr>
          <p:cNvPr id="63" name="Line 63"/>
          <p:cNvCxnSpPr/>
          <p:nvPr/>
        </p:nvCxnSpPr>
        <p:spPr>
          <a:xfrm>
            <a:off x="609600" y="5829300"/>
            <a:ext cx="5181600" cy="0"/>
          </a:xfrm>
          <a:prstGeom prst="line">
            <a:avLst/>
          </a:prstGeom>
          <a:ln w="9525">
            <a:solidFill>
              <a:srgbClr val="D9D9D9"/>
            </a:solidFill>
          </a:ln>
        </p:spPr>
      </p:cxnSp>
      <p:sp>
        <p:nvSpPr>
          <p:cNvPr id="64" name="Text 64"/>
          <p:cNvSpPr txBox="1"/>
          <p:nvPr/>
        </p:nvSpPr>
        <p:spPr>
          <a:xfrm>
            <a:off x="6400800" y="15494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07</a:t>
            </a:r>
          </a:p>
        </p:txBody>
      </p:sp>
      <p:sp>
        <p:nvSpPr>
          <p:cNvPr id="65" name="Text 65"/>
          <p:cNvSpPr txBox="1"/>
          <p:nvPr/>
        </p:nvSpPr>
        <p:spPr>
          <a:xfrm>
            <a:off x="7213600" y="15494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Results</a:t>
            </a:r>
          </a:p>
        </p:txBody>
      </p:sp>
      <p:cxnSp>
        <p:nvCxnSpPr>
          <p:cNvPr id="67" name="Line 67"/>
          <p:cNvCxnSpPr/>
          <p:nvPr/>
        </p:nvCxnSpPr>
        <p:spPr>
          <a:xfrm>
            <a:off x="6400800" y="2209800"/>
            <a:ext cx="5181600" cy="0"/>
          </a:xfrm>
          <a:prstGeom prst="line">
            <a:avLst/>
          </a:prstGeom>
          <a:ln w="9525">
            <a:solidFill>
              <a:srgbClr val="D9D9D9"/>
            </a:solidFill>
          </a:ln>
        </p:spPr>
      </p:cxnSp>
      <p:sp>
        <p:nvSpPr>
          <p:cNvPr id="68" name="Text 68"/>
          <p:cNvSpPr txBox="1"/>
          <p:nvPr/>
        </p:nvSpPr>
        <p:spPr>
          <a:xfrm>
            <a:off x="6400800" y="22733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08</a:t>
            </a:r>
          </a:p>
        </p:txBody>
      </p:sp>
      <p:sp>
        <p:nvSpPr>
          <p:cNvPr id="69" name="Text 69"/>
          <p:cNvSpPr txBox="1"/>
          <p:nvPr/>
        </p:nvSpPr>
        <p:spPr>
          <a:xfrm>
            <a:off x="7213600" y="22733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Limitations</a:t>
            </a:r>
          </a:p>
        </p:txBody>
      </p:sp>
      <p:cxnSp>
        <p:nvCxnSpPr>
          <p:cNvPr id="71" name="Line 71"/>
          <p:cNvCxnSpPr/>
          <p:nvPr/>
        </p:nvCxnSpPr>
        <p:spPr>
          <a:xfrm>
            <a:off x="6400800" y="2933700"/>
            <a:ext cx="5181600" cy="0"/>
          </a:xfrm>
          <a:prstGeom prst="line">
            <a:avLst/>
          </a:prstGeom>
          <a:ln w="9525">
            <a:solidFill>
              <a:srgbClr val="D9D9D9"/>
            </a:solidFill>
          </a:ln>
        </p:spPr>
      </p:cxnSp>
      <p:sp>
        <p:nvSpPr>
          <p:cNvPr id="72" name="Text 72"/>
          <p:cNvSpPr txBox="1"/>
          <p:nvPr/>
        </p:nvSpPr>
        <p:spPr>
          <a:xfrm>
            <a:off x="6400800" y="29972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09</a:t>
            </a:r>
          </a:p>
        </p:txBody>
      </p:sp>
      <p:sp>
        <p:nvSpPr>
          <p:cNvPr id="73" name="Text 73"/>
          <p:cNvSpPr txBox="1"/>
          <p:nvPr/>
        </p:nvSpPr>
        <p:spPr>
          <a:xfrm>
            <a:off x="7213600" y="29972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Future Work</a:t>
            </a:r>
          </a:p>
        </p:txBody>
      </p:sp>
      <p:cxnSp>
        <p:nvCxnSpPr>
          <p:cNvPr id="75" name="Line 75"/>
          <p:cNvCxnSpPr/>
          <p:nvPr/>
        </p:nvCxnSpPr>
        <p:spPr>
          <a:xfrm>
            <a:off x="6400800" y="3657600"/>
            <a:ext cx="5181600" cy="0"/>
          </a:xfrm>
          <a:prstGeom prst="line">
            <a:avLst/>
          </a:prstGeom>
          <a:ln w="9525">
            <a:solidFill>
              <a:srgbClr val="D9D9D9"/>
            </a:solidFill>
          </a:ln>
        </p:spPr>
      </p:cxnSp>
      <p:sp>
        <p:nvSpPr>
          <p:cNvPr id="76" name="Text 76"/>
          <p:cNvSpPr txBox="1"/>
          <p:nvPr/>
        </p:nvSpPr>
        <p:spPr>
          <a:xfrm>
            <a:off x="6400800" y="37211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10</a:t>
            </a:r>
          </a:p>
        </p:txBody>
      </p:sp>
      <p:sp>
        <p:nvSpPr>
          <p:cNvPr id="77" name="Text 77"/>
          <p:cNvSpPr txBox="1"/>
          <p:nvPr/>
        </p:nvSpPr>
        <p:spPr>
          <a:xfrm>
            <a:off x="7213600" y="37211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Conclusion</a:t>
            </a:r>
          </a:p>
        </p:txBody>
      </p:sp>
      <p:cxnSp>
        <p:nvCxnSpPr>
          <p:cNvPr id="79" name="Line 79"/>
          <p:cNvCxnSpPr/>
          <p:nvPr/>
        </p:nvCxnSpPr>
        <p:spPr>
          <a:xfrm>
            <a:off x="6400800" y="4381500"/>
            <a:ext cx="5181600" cy="0"/>
          </a:xfrm>
          <a:prstGeom prst="line">
            <a:avLst/>
          </a:prstGeom>
          <a:ln w="9525">
            <a:solidFill>
              <a:srgbClr val="D9D9D9"/>
            </a:solidFill>
          </a:ln>
        </p:spPr>
      </p:cxnSp>
      <p:sp>
        <p:nvSpPr>
          <p:cNvPr id="80" name="Text 80"/>
          <p:cNvSpPr txBox="1"/>
          <p:nvPr/>
        </p:nvSpPr>
        <p:spPr>
          <a:xfrm>
            <a:off x="6400800" y="4445000"/>
            <a:ext cx="711200" cy="622300"/>
          </a:xfrm>
          <a:prstGeom prst="rect">
            <a:avLst/>
          </a:prstGeom>
          <a:noFill/>
        </p:spPr>
        <p:txBody>
          <a:bodyPr wrap="square" lIns="0" tIns="0" rIns="0" bIns="0" anchor="ctr">
            <a:noAutofit/>
          </a:bodyPr>
          <a:lstStyle/>
          <a:p>
            <a:pPr algn="l">
              <a:spcBef>
                <a:spcPts val="0"/>
              </a:spcBef>
              <a:buNone/>
            </a:pPr>
            <a:r>
              <a:rPr lang="en-US" sz="2800" b="1" dirty="0">
                <a:solidFill>
                  <a:srgbClr val="4A66AC"/>
                </a:solidFill>
              </a:rPr>
              <a:t>11</a:t>
            </a:r>
          </a:p>
        </p:txBody>
      </p:sp>
      <p:sp>
        <p:nvSpPr>
          <p:cNvPr id="81" name="Text 81"/>
          <p:cNvSpPr txBox="1"/>
          <p:nvPr/>
        </p:nvSpPr>
        <p:spPr>
          <a:xfrm>
            <a:off x="7213600" y="4445000"/>
            <a:ext cx="4368800" cy="622300"/>
          </a:xfrm>
          <a:prstGeom prst="rect">
            <a:avLst/>
          </a:prstGeom>
          <a:noFill/>
        </p:spPr>
        <p:txBody>
          <a:bodyPr wrap="square" lIns="0" tIns="0" rIns="0" bIns="0" anchor="ctr">
            <a:noAutofit/>
          </a:bodyPr>
          <a:lstStyle/>
          <a:p>
            <a:pPr algn="l">
              <a:spcBef>
                <a:spcPts val="0"/>
              </a:spcBef>
              <a:buNone/>
            </a:pPr>
            <a:r>
              <a:rPr lang="en-US" sz="2000" b="1" dirty="0">
                <a:solidFill>
                  <a:srgbClr val="262626"/>
                </a:solidFill>
              </a:rPr>
              <a:t>References</a:t>
            </a:r>
          </a:p>
        </p:txBody>
      </p:sp>
      <p:cxnSp>
        <p:nvCxnSpPr>
          <p:cNvPr id="83" name="Line 83"/>
          <p:cNvCxnSpPr/>
          <p:nvPr/>
        </p:nvCxnSpPr>
        <p:spPr>
          <a:xfrm>
            <a:off x="6400800" y="5105400"/>
            <a:ext cx="5181600" cy="0"/>
          </a:xfrm>
          <a:prstGeom prst="line">
            <a:avLst/>
          </a:prstGeom>
          <a:ln w="9525">
            <a:solidFill>
              <a:srgbClr val="D9D9D9"/>
            </a:solidFill>
          </a:ln>
        </p:spPr>
      </p:cxnSp>
    </p:spTree>
    <p:extLst>
      <p:ext uri="{BB962C8B-B14F-4D97-AF65-F5344CB8AC3E}">
        <p14:creationId xmlns:p14="http://schemas.microsoft.com/office/powerpoint/2010/main" val="265371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6C63-1063-C14A-3F54-FA09B690E465}"/>
              </a:ext>
            </a:extLst>
          </p:cNvPr>
          <p:cNvSpPr>
            <a:spLocks noGrp="1"/>
          </p:cNvSpPr>
          <p:nvPr>
            <p:ph type="title"/>
          </p:nvPr>
        </p:nvSpPr>
        <p:spPr/>
        <p:txBody>
          <a:bodyPr/>
          <a:lstStyle/>
          <a:p>
            <a:r>
              <a:rPr lang="en-US"/>
              <a:t>Problem Definition</a:t>
            </a:r>
          </a:p>
        </p:txBody>
      </p:sp>
      <p:sp>
        <p:nvSpPr>
          <p:cNvPr id="200" name="Slide Number"/>
          <p:cNvSpPr>
            <a:spLocks noGrp="1"/>
          </p:cNvSpPr>
          <p:nvPr>
            <p:ph type="sldNum" sz="quarter" idx="12"/>
          </p:nvPr>
        </p:nvSpPr>
        <p:spPr/>
        <p:txBody>
          <a:bodyPr/>
          <a:lstStyle/>
          <a:p>
            <a:fld id="{B6F15528-21DE-4FAA-801E-634DDDAF4B2B}" type="slidenum">
              <a:rPr lang="en-US"/>
              <a:t>3</a:t>
            </a:fld>
            <a:endParaRPr lang="en-US" dirty="0"/>
          </a:p>
        </p:txBody>
      </p:sp>
      <p:sp>
        <p:nvSpPr>
          <p:cNvPr id="40" name="Problem text"/>
          <p:cNvSpPr txBox="1"/>
          <p:nvPr/>
        </p:nvSpPr>
        <p:spPr>
          <a:xfrm>
            <a:off x="609600" y="1651000"/>
            <a:ext cx="10972800" cy="4445000"/>
          </a:xfrm>
          <a:prstGeom prst="rect">
            <a:avLst/>
          </a:prstGeom>
          <a:noFill/>
        </p:spPr>
        <p:txBody>
          <a:bodyPr wrap="square" lIns="0" tIns="0" rIns="0" bIns="0" anchor="t">
            <a:noAutofit/>
          </a:bodyPr>
          <a:lstStyle/>
          <a:p>
            <a:pPr marL="0" indent="0">
              <a:lnSpc>
                <a:spcPct val="110000"/>
              </a:lnSpc>
              <a:spcBef>
                <a:spcPts val="0"/>
              </a:spcBef>
              <a:buNone/>
            </a:pPr>
            <a:r>
              <a:rPr lang="en-US" sz="2000" dirty="0">
                <a:solidFill>
                  <a:srgbClr val="262626"/>
                </a:solidFill>
              </a:rPr>
              <a:t>Machine-learning intrusion detection systems often report very high accuracy on public benchmarks, but these results can be misleading in practice.</a:t>
            </a:r>
          </a:p>
          <a:p>
            <a:pPr marL="304800" indent="-304800">
              <a:lnSpc>
                <a:spcPct val="110000"/>
              </a:lnSpc>
              <a:spcBef>
                <a:spcPts val="1400"/>
              </a:spcBef>
              <a:buFont typeface="Arial"/>
              <a:buChar char="•"/>
            </a:pPr>
            <a:r>
              <a:rPr lang="en-US" sz="2000" b="1" dirty="0">
                <a:solidFill>
                  <a:srgbClr val="262626"/>
                </a:solidFill>
              </a:rPr>
              <a:t>Class imbalance: </a:t>
            </a:r>
            <a:r>
              <a:rPr lang="en-US" sz="2000" dirty="0">
                <a:solidFill>
                  <a:srgbClr val="262626"/>
                </a:solidFill>
              </a:rPr>
              <a:t>normal traffic dominates network data, so rare attack types can go undetected while overall accuracy stays high.</a:t>
            </a:r>
          </a:p>
          <a:p>
            <a:pPr marL="304800" indent="-304800">
              <a:lnSpc>
                <a:spcPct val="110000"/>
              </a:lnSpc>
              <a:spcBef>
                <a:spcPts val="1400"/>
              </a:spcBef>
              <a:buFont typeface="Arial"/>
              <a:buChar char="•"/>
            </a:pPr>
            <a:r>
              <a:rPr lang="en-US" sz="2000" b="1" dirty="0">
                <a:solidFill>
                  <a:srgbClr val="262626"/>
                </a:solidFill>
              </a:rPr>
              <a:t>Data leakage: </a:t>
            </a:r>
            <a:r>
              <a:rPr lang="en-US" sz="2000" dirty="0">
                <a:solidFill>
                  <a:srgbClr val="262626"/>
                </a:solidFill>
              </a:rPr>
              <a:t>duplicate records shared between training and test data make reported scores look better than they are.</a:t>
            </a:r>
          </a:p>
          <a:p>
            <a:pPr marL="304800" indent="-304800">
              <a:lnSpc>
                <a:spcPct val="110000"/>
              </a:lnSpc>
              <a:spcBef>
                <a:spcPts val="1400"/>
              </a:spcBef>
              <a:buFont typeface="Arial"/>
              <a:buChar char="•"/>
            </a:pPr>
            <a:r>
              <a:rPr lang="en-US" sz="2000" b="1" dirty="0">
                <a:solidFill>
                  <a:srgbClr val="262626"/>
                </a:solidFill>
              </a:rPr>
              <a:t>Weak evaluation: </a:t>
            </a:r>
            <a:r>
              <a:rPr lang="en-US" sz="2000" dirty="0">
                <a:solidFill>
                  <a:srgbClr val="262626"/>
                </a:solidFill>
              </a:rPr>
              <a:t>many studies report only accuracy, without per-class results or statistical tests, so improvements are hard to verify.</a:t>
            </a:r>
          </a:p>
          <a:p>
            <a:pPr marL="304800" indent="-304800">
              <a:lnSpc>
                <a:spcPct val="110000"/>
              </a:lnSpc>
              <a:spcBef>
                <a:spcPts val="1400"/>
              </a:spcBef>
              <a:buFont typeface="Arial"/>
              <a:buChar char="•"/>
            </a:pPr>
            <a:r>
              <a:rPr lang="en-US" sz="2000" b="1" dirty="0">
                <a:solidFill>
                  <a:srgbClr val="262626"/>
                </a:solidFill>
              </a:rPr>
              <a:t>Attack identification: </a:t>
            </a:r>
            <a:r>
              <a:rPr lang="en-US" sz="2000" dirty="0">
                <a:solidFill>
                  <a:srgbClr val="262626"/>
                </a:solidFill>
              </a:rPr>
              <a:t>security teams need to know which type of attack is happening, not only that something is wrong.</a:t>
            </a:r>
          </a:p>
        </p:txBody>
      </p:sp>
    </p:spTree>
    <p:extLst>
      <p:ext uri="{BB962C8B-B14F-4D97-AF65-F5344CB8AC3E}">
        <p14:creationId xmlns:p14="http://schemas.microsoft.com/office/powerpoint/2010/main" val="2447736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A5C6-9ADA-FF57-D490-149B07082683}"/>
              </a:ext>
            </a:extLst>
          </p:cNvPr>
          <p:cNvSpPr>
            <a:spLocks noGrp="1"/>
          </p:cNvSpPr>
          <p:nvPr>
            <p:ph type="title"/>
          </p:nvPr>
        </p:nvSpPr>
        <p:spPr/>
        <p:txBody>
          <a:bodyPr/>
          <a:lstStyle/>
          <a:p>
            <a:r>
              <a:rPr lang="en-US" dirty="0"/>
              <a:t>Objectives</a:t>
            </a:r>
          </a:p>
        </p:txBody>
      </p:sp>
      <p:sp>
        <p:nvSpPr>
          <p:cNvPr id="200" name="Slide Number"/>
          <p:cNvSpPr>
            <a:spLocks noGrp="1"/>
          </p:cNvSpPr>
          <p:nvPr>
            <p:ph type="sldNum" sz="quarter" idx="12"/>
          </p:nvPr>
        </p:nvSpPr>
        <p:spPr/>
        <p:txBody>
          <a:bodyPr/>
          <a:lstStyle/>
          <a:p>
            <a:fld id="{C7F0390B-6E29-48DF-B134-99D6A0365BB5}" type="slidenum">
              <a:rPr lang="en-US"/>
              <a:t>4</a:t>
            </a:fld>
            <a:endParaRPr lang="en-US"/>
          </a:p>
        </p:txBody>
      </p:sp>
      <p:sp>
        <p:nvSpPr>
          <p:cNvPr id="40" name="Text 40"/>
          <p:cNvSpPr/>
          <p:nvPr/>
        </p:nvSpPr>
        <p:spPr>
          <a:xfrm>
            <a:off x="609600" y="1676400"/>
            <a:ext cx="2514600" cy="3429000"/>
          </a:xfrm>
          <a:prstGeom prst="rect">
            <a:avLst/>
          </a:prstGeom>
          <a:solidFill>
            <a:srgbClr val="EEF2F8"/>
          </a:solidFill>
          <a:ln>
            <a:noFill/>
          </a:ln>
        </p:spPr>
        <p:txBody>
          <a:bodyPr wrap="square" lIns="0" tIns="0" rIns="0" bIns="0" anchor="t">
            <a:noAutofit/>
          </a:bodyPr>
          <a:lstStyle/>
          <a:p>
            <a:endParaRPr lang="en-US"/>
          </a:p>
        </p:txBody>
      </p:sp>
      <p:sp>
        <p:nvSpPr>
          <p:cNvPr id="41" name="Text 41"/>
          <p:cNvSpPr/>
          <p:nvPr/>
        </p:nvSpPr>
        <p:spPr>
          <a:xfrm>
            <a:off x="609600" y="1676400"/>
            <a:ext cx="2514600" cy="63500"/>
          </a:xfrm>
          <a:prstGeom prst="rect">
            <a:avLst/>
          </a:prstGeom>
          <a:solidFill>
            <a:srgbClr val="4A66AC"/>
          </a:solidFill>
          <a:ln>
            <a:noFill/>
          </a:ln>
        </p:spPr>
        <p:txBody>
          <a:bodyPr wrap="square" lIns="0" tIns="0" rIns="0" bIns="0" anchor="t">
            <a:noAutofit/>
          </a:bodyPr>
          <a:lstStyle/>
          <a:p>
            <a:endParaRPr lang="en-US"/>
          </a:p>
        </p:txBody>
      </p:sp>
      <p:sp>
        <p:nvSpPr>
          <p:cNvPr id="42" name="Text 42"/>
          <p:cNvSpPr txBox="1"/>
          <p:nvPr/>
        </p:nvSpPr>
        <p:spPr>
          <a:xfrm>
            <a:off x="812800" y="1905000"/>
            <a:ext cx="2108200" cy="635000"/>
          </a:xfrm>
          <a:prstGeom prst="rect">
            <a:avLst/>
          </a:prstGeom>
          <a:noFill/>
          <a:ln>
            <a:noFill/>
          </a:ln>
        </p:spPr>
        <p:txBody>
          <a:bodyPr wrap="square" lIns="0" tIns="0" rIns="0" bIns="0" anchor="t">
            <a:noAutofit/>
          </a:bodyPr>
          <a:lstStyle/>
          <a:p>
            <a:pPr algn="l">
              <a:lnSpc>
                <a:spcPct val="100000"/>
              </a:lnSpc>
              <a:spcBef>
                <a:spcPts val="0"/>
              </a:spcBef>
              <a:buNone/>
            </a:pPr>
            <a:r>
              <a:rPr lang="en-US" sz="3600" b="1" dirty="0">
                <a:solidFill>
                  <a:srgbClr val="4A66AC"/>
                </a:solidFill>
                <a:latin typeface="+mj-lt"/>
              </a:rPr>
              <a:t>01</a:t>
            </a:r>
          </a:p>
        </p:txBody>
      </p:sp>
      <p:sp>
        <p:nvSpPr>
          <p:cNvPr id="43" name="Text 43"/>
          <p:cNvSpPr txBox="1"/>
          <p:nvPr/>
        </p:nvSpPr>
        <p:spPr>
          <a:xfrm>
            <a:off x="812800" y="2641600"/>
            <a:ext cx="2108200" cy="711200"/>
          </a:xfrm>
          <a:prstGeom prst="rect">
            <a:avLst/>
          </a:prstGeom>
          <a:noFill/>
          <a:ln>
            <a:noFill/>
          </a:ln>
        </p:spPr>
        <p:txBody>
          <a:bodyPr wrap="square" lIns="0" tIns="0" rIns="0" bIns="0" anchor="t">
            <a:noAutofit/>
          </a:bodyPr>
          <a:lstStyle/>
          <a:p>
            <a:pPr algn="l">
              <a:lnSpc>
                <a:spcPct val="95000"/>
              </a:lnSpc>
              <a:spcBef>
                <a:spcPts val="0"/>
              </a:spcBef>
              <a:buNone/>
            </a:pPr>
            <a:r>
              <a:rPr lang="en-US" sz="2000" b="1" dirty="0">
                <a:solidFill>
                  <a:srgbClr val="404040"/>
                </a:solidFill>
                <a:latin typeface="+mj-lt"/>
              </a:rPr>
              <a:t>Fair, leak-free testing</a:t>
            </a:r>
          </a:p>
        </p:txBody>
      </p:sp>
      <p:sp>
        <p:nvSpPr>
          <p:cNvPr id="44" name="Text 44"/>
          <p:cNvSpPr txBox="1"/>
          <p:nvPr/>
        </p:nvSpPr>
        <p:spPr>
          <a:xfrm>
            <a:off x="812800" y="3429000"/>
            <a:ext cx="2108200" cy="1574800"/>
          </a:xfrm>
          <a:prstGeom prst="rect">
            <a:avLst/>
          </a:prstGeom>
          <a:noFill/>
          <a:ln>
            <a:noFill/>
          </a:ln>
        </p:spPr>
        <p:txBody>
          <a:bodyPr wrap="square" lIns="0" tIns="0" rIns="0" bIns="0" anchor="t">
            <a:noAutofit/>
          </a:bodyPr>
          <a:lstStyle/>
          <a:p>
            <a:pPr algn="l">
              <a:lnSpc>
                <a:spcPct val="110000"/>
              </a:lnSpc>
              <a:spcBef>
                <a:spcPts val="0"/>
              </a:spcBef>
              <a:buNone/>
            </a:pPr>
            <a:r>
              <a:rPr lang="en-US" sz="1600" dirty="0">
                <a:solidFill>
                  <a:srgbClr val="262626"/>
                </a:solidFill>
              </a:rPr>
              <a:t>Remove duplicate records before splitting the data, so the model is never tested on data it has already seen.</a:t>
            </a:r>
          </a:p>
        </p:txBody>
      </p:sp>
      <p:sp>
        <p:nvSpPr>
          <p:cNvPr id="45" name="Text 45"/>
          <p:cNvSpPr/>
          <p:nvPr/>
        </p:nvSpPr>
        <p:spPr>
          <a:xfrm>
            <a:off x="3429000" y="1676400"/>
            <a:ext cx="2514600" cy="3429000"/>
          </a:xfrm>
          <a:prstGeom prst="rect">
            <a:avLst/>
          </a:prstGeom>
          <a:solidFill>
            <a:srgbClr val="EEF2F8"/>
          </a:solidFill>
          <a:ln>
            <a:noFill/>
          </a:ln>
        </p:spPr>
        <p:txBody>
          <a:bodyPr wrap="square" lIns="0" tIns="0" rIns="0" bIns="0" anchor="t">
            <a:noAutofit/>
          </a:bodyPr>
          <a:lstStyle/>
          <a:p>
            <a:endParaRPr lang="en-US"/>
          </a:p>
        </p:txBody>
      </p:sp>
      <p:sp>
        <p:nvSpPr>
          <p:cNvPr id="46" name="Text 46"/>
          <p:cNvSpPr/>
          <p:nvPr/>
        </p:nvSpPr>
        <p:spPr>
          <a:xfrm>
            <a:off x="3429000" y="1676400"/>
            <a:ext cx="2514600" cy="63500"/>
          </a:xfrm>
          <a:prstGeom prst="rect">
            <a:avLst/>
          </a:prstGeom>
          <a:solidFill>
            <a:srgbClr val="4A66AC"/>
          </a:solidFill>
          <a:ln>
            <a:noFill/>
          </a:ln>
        </p:spPr>
        <p:txBody>
          <a:bodyPr wrap="square" lIns="0" tIns="0" rIns="0" bIns="0" anchor="t">
            <a:noAutofit/>
          </a:bodyPr>
          <a:lstStyle/>
          <a:p>
            <a:endParaRPr lang="en-US"/>
          </a:p>
        </p:txBody>
      </p:sp>
      <p:sp>
        <p:nvSpPr>
          <p:cNvPr id="47" name="Text 47"/>
          <p:cNvSpPr txBox="1"/>
          <p:nvPr/>
        </p:nvSpPr>
        <p:spPr>
          <a:xfrm>
            <a:off x="3632200" y="1905000"/>
            <a:ext cx="2108200" cy="635000"/>
          </a:xfrm>
          <a:prstGeom prst="rect">
            <a:avLst/>
          </a:prstGeom>
          <a:noFill/>
          <a:ln>
            <a:noFill/>
          </a:ln>
        </p:spPr>
        <p:txBody>
          <a:bodyPr wrap="square" lIns="0" tIns="0" rIns="0" bIns="0" anchor="t">
            <a:noAutofit/>
          </a:bodyPr>
          <a:lstStyle/>
          <a:p>
            <a:pPr algn="l">
              <a:lnSpc>
                <a:spcPct val="100000"/>
              </a:lnSpc>
              <a:spcBef>
                <a:spcPts val="0"/>
              </a:spcBef>
              <a:buNone/>
            </a:pPr>
            <a:r>
              <a:rPr lang="en-US" sz="3600" b="1" dirty="0">
                <a:solidFill>
                  <a:srgbClr val="4A66AC"/>
                </a:solidFill>
                <a:latin typeface="+mj-lt"/>
              </a:rPr>
              <a:t>02</a:t>
            </a:r>
          </a:p>
        </p:txBody>
      </p:sp>
      <p:sp>
        <p:nvSpPr>
          <p:cNvPr id="48" name="Text 48"/>
          <p:cNvSpPr txBox="1"/>
          <p:nvPr/>
        </p:nvSpPr>
        <p:spPr>
          <a:xfrm>
            <a:off x="3632200" y="2641600"/>
            <a:ext cx="2108200" cy="711200"/>
          </a:xfrm>
          <a:prstGeom prst="rect">
            <a:avLst/>
          </a:prstGeom>
          <a:noFill/>
          <a:ln>
            <a:noFill/>
          </a:ln>
        </p:spPr>
        <p:txBody>
          <a:bodyPr wrap="square" lIns="0" tIns="0" rIns="0" bIns="0" anchor="t">
            <a:noAutofit/>
          </a:bodyPr>
          <a:lstStyle/>
          <a:p>
            <a:pPr algn="l">
              <a:lnSpc>
                <a:spcPct val="95000"/>
              </a:lnSpc>
              <a:spcBef>
                <a:spcPts val="0"/>
              </a:spcBef>
              <a:buNone/>
            </a:pPr>
            <a:r>
              <a:rPr lang="en-US" sz="2000" b="1" dirty="0">
                <a:solidFill>
                  <a:srgbClr val="404040"/>
                </a:solidFill>
                <a:latin typeface="+mj-lt"/>
              </a:rPr>
              <a:t>Handle rare attacks</a:t>
            </a:r>
          </a:p>
        </p:txBody>
      </p:sp>
      <p:sp>
        <p:nvSpPr>
          <p:cNvPr id="49" name="Text 49"/>
          <p:cNvSpPr txBox="1"/>
          <p:nvPr/>
        </p:nvSpPr>
        <p:spPr>
          <a:xfrm>
            <a:off x="3632200" y="3429000"/>
            <a:ext cx="2108200" cy="1574800"/>
          </a:xfrm>
          <a:prstGeom prst="rect">
            <a:avLst/>
          </a:prstGeom>
          <a:noFill/>
          <a:ln>
            <a:noFill/>
          </a:ln>
        </p:spPr>
        <p:txBody>
          <a:bodyPr wrap="square" lIns="0" tIns="0" rIns="0" bIns="0" anchor="t">
            <a:noAutofit/>
          </a:bodyPr>
          <a:lstStyle/>
          <a:p>
            <a:pPr algn="l">
              <a:lnSpc>
                <a:spcPct val="110000"/>
              </a:lnSpc>
              <a:spcBef>
                <a:spcPts val="0"/>
              </a:spcBef>
              <a:buNone/>
            </a:pPr>
            <a:r>
              <a:rPr lang="en-US" sz="1600" dirty="0">
                <a:solidFill>
                  <a:srgbClr val="262626"/>
                </a:solidFill>
              </a:rPr>
              <a:t>Compare ways of giving rare attack types more weight, and find which detects them best.</a:t>
            </a:r>
          </a:p>
        </p:txBody>
      </p:sp>
      <p:sp>
        <p:nvSpPr>
          <p:cNvPr id="50" name="Text 50"/>
          <p:cNvSpPr/>
          <p:nvPr/>
        </p:nvSpPr>
        <p:spPr>
          <a:xfrm>
            <a:off x="6248400" y="1676400"/>
            <a:ext cx="2514600" cy="3429000"/>
          </a:xfrm>
          <a:prstGeom prst="rect">
            <a:avLst/>
          </a:prstGeom>
          <a:solidFill>
            <a:srgbClr val="EEF2F8"/>
          </a:solidFill>
          <a:ln>
            <a:noFill/>
          </a:ln>
        </p:spPr>
        <p:txBody>
          <a:bodyPr wrap="square" lIns="0" tIns="0" rIns="0" bIns="0" anchor="t">
            <a:noAutofit/>
          </a:bodyPr>
          <a:lstStyle/>
          <a:p>
            <a:endParaRPr lang="en-US"/>
          </a:p>
        </p:txBody>
      </p:sp>
      <p:sp>
        <p:nvSpPr>
          <p:cNvPr id="51" name="Text 51"/>
          <p:cNvSpPr/>
          <p:nvPr/>
        </p:nvSpPr>
        <p:spPr>
          <a:xfrm>
            <a:off x="6248400" y="1676400"/>
            <a:ext cx="2514600" cy="63500"/>
          </a:xfrm>
          <a:prstGeom prst="rect">
            <a:avLst/>
          </a:prstGeom>
          <a:solidFill>
            <a:srgbClr val="4A66AC"/>
          </a:solidFill>
          <a:ln>
            <a:noFill/>
          </a:ln>
        </p:spPr>
        <p:txBody>
          <a:bodyPr wrap="square" lIns="0" tIns="0" rIns="0" bIns="0" anchor="t">
            <a:noAutofit/>
          </a:bodyPr>
          <a:lstStyle/>
          <a:p>
            <a:endParaRPr lang="en-US"/>
          </a:p>
        </p:txBody>
      </p:sp>
      <p:sp>
        <p:nvSpPr>
          <p:cNvPr id="52" name="Text 52"/>
          <p:cNvSpPr txBox="1"/>
          <p:nvPr/>
        </p:nvSpPr>
        <p:spPr>
          <a:xfrm>
            <a:off x="6451600" y="1905000"/>
            <a:ext cx="2108200" cy="635000"/>
          </a:xfrm>
          <a:prstGeom prst="rect">
            <a:avLst/>
          </a:prstGeom>
          <a:noFill/>
          <a:ln>
            <a:noFill/>
          </a:ln>
        </p:spPr>
        <p:txBody>
          <a:bodyPr wrap="square" lIns="0" tIns="0" rIns="0" bIns="0" anchor="t">
            <a:noAutofit/>
          </a:bodyPr>
          <a:lstStyle/>
          <a:p>
            <a:pPr algn="l">
              <a:lnSpc>
                <a:spcPct val="100000"/>
              </a:lnSpc>
              <a:spcBef>
                <a:spcPts val="0"/>
              </a:spcBef>
              <a:buNone/>
            </a:pPr>
            <a:r>
              <a:rPr lang="en-US" sz="3600" b="1" dirty="0">
                <a:solidFill>
                  <a:srgbClr val="4A66AC"/>
                </a:solidFill>
                <a:latin typeface="+mj-lt"/>
              </a:rPr>
              <a:t>03</a:t>
            </a:r>
          </a:p>
        </p:txBody>
      </p:sp>
      <p:sp>
        <p:nvSpPr>
          <p:cNvPr id="53" name="Text 53"/>
          <p:cNvSpPr txBox="1"/>
          <p:nvPr/>
        </p:nvSpPr>
        <p:spPr>
          <a:xfrm>
            <a:off x="6451600" y="2641600"/>
            <a:ext cx="2108200" cy="711200"/>
          </a:xfrm>
          <a:prstGeom prst="rect">
            <a:avLst/>
          </a:prstGeom>
          <a:noFill/>
          <a:ln>
            <a:noFill/>
          </a:ln>
        </p:spPr>
        <p:txBody>
          <a:bodyPr wrap="square" lIns="0" tIns="0" rIns="0" bIns="0" anchor="t">
            <a:noAutofit/>
          </a:bodyPr>
          <a:lstStyle/>
          <a:p>
            <a:pPr algn="l">
              <a:lnSpc>
                <a:spcPct val="95000"/>
              </a:lnSpc>
              <a:spcBef>
                <a:spcPts val="0"/>
              </a:spcBef>
              <a:buNone/>
            </a:pPr>
            <a:r>
              <a:rPr lang="en-US" sz="2000" b="1" dirty="0">
                <a:solidFill>
                  <a:srgbClr val="404040"/>
                </a:solidFill>
                <a:latin typeface="+mj-lt"/>
              </a:rPr>
              <a:t>Two-step detector</a:t>
            </a:r>
          </a:p>
        </p:txBody>
      </p:sp>
      <p:sp>
        <p:nvSpPr>
          <p:cNvPr id="54" name="Text 54"/>
          <p:cNvSpPr txBox="1"/>
          <p:nvPr/>
        </p:nvSpPr>
        <p:spPr>
          <a:xfrm>
            <a:off x="6451600" y="3429000"/>
            <a:ext cx="2108200" cy="1574800"/>
          </a:xfrm>
          <a:prstGeom prst="rect">
            <a:avLst/>
          </a:prstGeom>
          <a:noFill/>
          <a:ln>
            <a:noFill/>
          </a:ln>
        </p:spPr>
        <p:txBody>
          <a:bodyPr wrap="square" lIns="0" tIns="0" rIns="0" bIns="0" anchor="t">
            <a:noAutofit/>
          </a:bodyPr>
          <a:lstStyle/>
          <a:p>
            <a:pPr algn="l">
              <a:lnSpc>
                <a:spcPct val="110000"/>
              </a:lnSpc>
              <a:spcBef>
                <a:spcPts val="0"/>
              </a:spcBef>
              <a:buNone/>
            </a:pPr>
            <a:r>
              <a:rPr lang="en-US" sz="1600" dirty="0">
                <a:solidFill>
                  <a:srgbClr val="262626"/>
                </a:solidFill>
              </a:rPr>
              <a:t>First decide whether traffic is an attack, then name the attack type, and measure what each part adds.</a:t>
            </a:r>
          </a:p>
        </p:txBody>
      </p:sp>
      <p:sp>
        <p:nvSpPr>
          <p:cNvPr id="55" name="Text 55"/>
          <p:cNvSpPr/>
          <p:nvPr/>
        </p:nvSpPr>
        <p:spPr>
          <a:xfrm>
            <a:off x="9067800" y="1676400"/>
            <a:ext cx="2514600" cy="3429000"/>
          </a:xfrm>
          <a:prstGeom prst="rect">
            <a:avLst/>
          </a:prstGeom>
          <a:solidFill>
            <a:srgbClr val="EEF2F8"/>
          </a:solidFill>
          <a:ln>
            <a:noFill/>
          </a:ln>
        </p:spPr>
        <p:txBody>
          <a:bodyPr wrap="square" lIns="0" tIns="0" rIns="0" bIns="0" anchor="t">
            <a:noAutofit/>
          </a:bodyPr>
          <a:lstStyle/>
          <a:p>
            <a:endParaRPr lang="en-US"/>
          </a:p>
        </p:txBody>
      </p:sp>
      <p:sp>
        <p:nvSpPr>
          <p:cNvPr id="56" name="Text 56"/>
          <p:cNvSpPr/>
          <p:nvPr/>
        </p:nvSpPr>
        <p:spPr>
          <a:xfrm>
            <a:off x="9067800" y="1676400"/>
            <a:ext cx="2514600" cy="63500"/>
          </a:xfrm>
          <a:prstGeom prst="rect">
            <a:avLst/>
          </a:prstGeom>
          <a:solidFill>
            <a:srgbClr val="4A66AC"/>
          </a:solidFill>
          <a:ln>
            <a:noFill/>
          </a:ln>
        </p:spPr>
        <p:txBody>
          <a:bodyPr wrap="square" lIns="0" tIns="0" rIns="0" bIns="0" anchor="t">
            <a:noAutofit/>
          </a:bodyPr>
          <a:lstStyle/>
          <a:p>
            <a:endParaRPr lang="en-US"/>
          </a:p>
        </p:txBody>
      </p:sp>
      <p:sp>
        <p:nvSpPr>
          <p:cNvPr id="57" name="Text 57"/>
          <p:cNvSpPr txBox="1"/>
          <p:nvPr/>
        </p:nvSpPr>
        <p:spPr>
          <a:xfrm>
            <a:off x="9271000" y="1905000"/>
            <a:ext cx="2108200" cy="635000"/>
          </a:xfrm>
          <a:prstGeom prst="rect">
            <a:avLst/>
          </a:prstGeom>
          <a:noFill/>
          <a:ln>
            <a:noFill/>
          </a:ln>
        </p:spPr>
        <p:txBody>
          <a:bodyPr wrap="square" lIns="0" tIns="0" rIns="0" bIns="0" anchor="t">
            <a:noAutofit/>
          </a:bodyPr>
          <a:lstStyle/>
          <a:p>
            <a:pPr algn="l">
              <a:lnSpc>
                <a:spcPct val="100000"/>
              </a:lnSpc>
              <a:spcBef>
                <a:spcPts val="0"/>
              </a:spcBef>
              <a:buNone/>
            </a:pPr>
            <a:r>
              <a:rPr lang="en-US" sz="3600" b="1" dirty="0">
                <a:solidFill>
                  <a:srgbClr val="4A66AC"/>
                </a:solidFill>
                <a:latin typeface="+mj-lt"/>
              </a:rPr>
              <a:t>04</a:t>
            </a:r>
          </a:p>
        </p:txBody>
      </p:sp>
      <p:sp>
        <p:nvSpPr>
          <p:cNvPr id="58" name="Text 58"/>
          <p:cNvSpPr txBox="1"/>
          <p:nvPr/>
        </p:nvSpPr>
        <p:spPr>
          <a:xfrm>
            <a:off x="9271000" y="2641600"/>
            <a:ext cx="2108200" cy="711200"/>
          </a:xfrm>
          <a:prstGeom prst="rect">
            <a:avLst/>
          </a:prstGeom>
          <a:noFill/>
          <a:ln>
            <a:noFill/>
          </a:ln>
        </p:spPr>
        <p:txBody>
          <a:bodyPr wrap="square" lIns="0" tIns="0" rIns="0" bIns="0" anchor="t">
            <a:noAutofit/>
          </a:bodyPr>
          <a:lstStyle/>
          <a:p>
            <a:pPr algn="l">
              <a:lnSpc>
                <a:spcPct val="95000"/>
              </a:lnSpc>
              <a:spcBef>
                <a:spcPts val="0"/>
              </a:spcBef>
              <a:buNone/>
            </a:pPr>
            <a:r>
              <a:rPr lang="en-US" sz="2000" b="1" dirty="0">
                <a:solidFill>
                  <a:srgbClr val="404040"/>
                </a:solidFill>
                <a:latin typeface="+mj-lt"/>
              </a:rPr>
              <a:t>Realistic testing</a:t>
            </a:r>
          </a:p>
        </p:txBody>
      </p:sp>
      <p:sp>
        <p:nvSpPr>
          <p:cNvPr id="59" name="Text 59"/>
          <p:cNvSpPr txBox="1"/>
          <p:nvPr/>
        </p:nvSpPr>
        <p:spPr>
          <a:xfrm>
            <a:off x="9271000" y="3429000"/>
            <a:ext cx="2108200" cy="1574800"/>
          </a:xfrm>
          <a:prstGeom prst="rect">
            <a:avLst/>
          </a:prstGeom>
          <a:noFill/>
          <a:ln>
            <a:noFill/>
          </a:ln>
        </p:spPr>
        <p:txBody>
          <a:bodyPr wrap="square" lIns="0" tIns="0" rIns="0" bIns="0" anchor="t">
            <a:noAutofit/>
          </a:bodyPr>
          <a:lstStyle/>
          <a:p>
            <a:pPr algn="l">
              <a:lnSpc>
                <a:spcPct val="110000"/>
              </a:lnSpc>
              <a:spcBef>
                <a:spcPts val="0"/>
              </a:spcBef>
              <a:buNone/>
            </a:pPr>
            <a:r>
              <a:rPr lang="en-US" sz="1600" dirty="0">
                <a:solidFill>
                  <a:srgbClr val="262626"/>
                </a:solidFill>
              </a:rPr>
              <a:t>Test on the full dataset, where most traffic is normal, and on slightly altered inputs.</a:t>
            </a:r>
          </a:p>
        </p:txBody>
      </p:sp>
      <p:sp>
        <p:nvSpPr>
          <p:cNvPr id="80" name="Text 80"/>
          <p:cNvSpPr txBox="1"/>
          <p:nvPr/>
        </p:nvSpPr>
        <p:spPr>
          <a:xfrm>
            <a:off x="609600" y="5308600"/>
            <a:ext cx="10972800" cy="762000"/>
          </a:xfrm>
          <a:prstGeom prst="rect">
            <a:avLst/>
          </a:prstGeom>
          <a:solidFill>
            <a:srgbClr val="404040"/>
          </a:solidFill>
          <a:ln>
            <a:noFill/>
          </a:ln>
        </p:spPr>
        <p:txBody>
          <a:bodyPr wrap="square" lIns="228600" tIns="0" rIns="228600" bIns="0" anchor="ctr">
            <a:noAutofit/>
          </a:bodyPr>
          <a:lstStyle/>
          <a:p>
            <a:pPr algn="l">
              <a:spcBef>
                <a:spcPts val="0"/>
              </a:spcBef>
              <a:buNone/>
            </a:pPr>
            <a:r>
              <a:rPr lang="en-US" sz="1400" b="1" spc="100" dirty="0">
                <a:solidFill>
                  <a:srgbClr val="ACCBF9"/>
                </a:solidFill>
              </a:rPr>
              <a:t>DATASET   </a:t>
            </a:r>
            <a:r>
              <a:rPr lang="en-US" sz="1600" dirty="0">
                <a:solidFill>
                  <a:srgbClr val="FFFFFF"/>
                </a:solidFill>
              </a:rPr>
              <a:t>CIC-UNSW-NB15 (2024): network connections described by 76 measurements each, covering normal traffic and nine attack types</a:t>
            </a:r>
          </a:p>
        </p:txBody>
      </p:sp>
    </p:spTree>
    <p:extLst>
      <p:ext uri="{BB962C8B-B14F-4D97-AF65-F5344CB8AC3E}">
        <p14:creationId xmlns:p14="http://schemas.microsoft.com/office/powerpoint/2010/main" val="1641798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03E1-074E-C9A0-AE05-93CB94AB9CC0}"/>
              </a:ext>
            </a:extLst>
          </p:cNvPr>
          <p:cNvSpPr>
            <a:spLocks noGrp="1"/>
          </p:cNvSpPr>
          <p:nvPr>
            <p:ph type="title"/>
          </p:nvPr>
        </p:nvSpPr>
        <p:spPr/>
        <p:txBody>
          <a:bodyPr/>
          <a:lstStyle/>
          <a:p>
            <a:r>
              <a:rPr lang="en-US" dirty="0"/>
              <a:t>Research Questions</a:t>
            </a:r>
          </a:p>
        </p:txBody>
      </p:sp>
      <p:sp>
        <p:nvSpPr>
          <p:cNvPr id="200" name="Slide Number"/>
          <p:cNvSpPr>
            <a:spLocks noGrp="1"/>
          </p:cNvSpPr>
          <p:nvPr>
            <p:ph type="sldNum" sz="quarter" idx="12"/>
          </p:nvPr>
        </p:nvSpPr>
        <p:spPr/>
        <p:txBody>
          <a:bodyPr/>
          <a:lstStyle/>
          <a:p>
            <a:fld id="{B6F15528-21DE-4FAA-801E-634DDDAF4B2B}" type="slidenum">
              <a:rPr lang="en-US"/>
              <a:t>5</a:t>
            </a:fld>
            <a:endParaRPr lang="en-US"/>
          </a:p>
        </p:txBody>
      </p:sp>
      <p:sp>
        <p:nvSpPr>
          <p:cNvPr id="43" name="Text 43"/>
          <p:cNvSpPr txBox="1"/>
          <p:nvPr/>
        </p:nvSpPr>
        <p:spPr>
          <a:xfrm>
            <a:off x="609600" y="1828800"/>
            <a:ext cx="10972800" cy="787400"/>
          </a:xfrm>
          <a:prstGeom prst="rect">
            <a:avLst/>
          </a:prstGeom>
          <a:noFill/>
          <a:ln>
            <a:noFill/>
          </a:ln>
        </p:spPr>
        <p:txBody>
          <a:bodyPr wrap="square" lIns="0" tIns="0" rIns="0" bIns="0" anchor="ctr">
            <a:noAutofit/>
          </a:bodyPr>
          <a:lstStyle/>
          <a:p>
            <a:pPr algn="l">
              <a:spcBef>
                <a:spcPts val="0"/>
              </a:spcBef>
              <a:buNone/>
            </a:pPr>
            <a:r>
              <a:rPr lang="en-US" dirty="0">
                <a:solidFill>
                  <a:srgbClr val="262626"/>
                </a:solidFill>
              </a:rPr>
              <a:t>Which way of handling rare attack types works best, and how much extra weight should they get?</a:t>
            </a:r>
          </a:p>
        </p:txBody>
      </p:sp>
      <p:cxnSp>
        <p:nvCxnSpPr>
          <p:cNvPr id="45" name="Line 45"/>
          <p:cNvCxnSpPr/>
          <p:nvPr/>
        </p:nvCxnSpPr>
        <p:spPr>
          <a:xfrm>
            <a:off x="609600" y="2667000"/>
            <a:ext cx="10972800" cy="0"/>
          </a:xfrm>
          <a:prstGeom prst="line">
            <a:avLst/>
          </a:prstGeom>
          <a:ln w="9525">
            <a:solidFill>
              <a:srgbClr val="D9D9D9"/>
            </a:solidFill>
          </a:ln>
        </p:spPr>
      </p:cxnSp>
      <p:sp>
        <p:nvSpPr>
          <p:cNvPr id="47" name="Text 47"/>
          <p:cNvSpPr txBox="1"/>
          <p:nvPr/>
        </p:nvSpPr>
        <p:spPr>
          <a:xfrm>
            <a:off x="609600" y="2717800"/>
            <a:ext cx="10972800" cy="787400"/>
          </a:xfrm>
          <a:prstGeom prst="rect">
            <a:avLst/>
          </a:prstGeom>
          <a:noFill/>
          <a:ln>
            <a:noFill/>
          </a:ln>
        </p:spPr>
        <p:txBody>
          <a:bodyPr wrap="square" lIns="0" tIns="0" rIns="0" bIns="0" anchor="ctr">
            <a:noAutofit/>
          </a:bodyPr>
          <a:lstStyle/>
          <a:p>
            <a:pPr algn="l">
              <a:spcBef>
                <a:spcPts val="0"/>
              </a:spcBef>
              <a:buNone/>
            </a:pPr>
            <a:r>
              <a:rPr lang="en-US" dirty="0">
                <a:solidFill>
                  <a:srgbClr val="262626"/>
                </a:solidFill>
              </a:rPr>
              <a:t>When does a two-step detector (attack or not, then which attack) beat a single classifier?</a:t>
            </a:r>
          </a:p>
        </p:txBody>
      </p:sp>
      <p:cxnSp>
        <p:nvCxnSpPr>
          <p:cNvPr id="49" name="Line 49"/>
          <p:cNvCxnSpPr/>
          <p:nvPr/>
        </p:nvCxnSpPr>
        <p:spPr>
          <a:xfrm>
            <a:off x="609600" y="3556000"/>
            <a:ext cx="10972800" cy="0"/>
          </a:xfrm>
          <a:prstGeom prst="line">
            <a:avLst/>
          </a:prstGeom>
          <a:ln w="9525">
            <a:solidFill>
              <a:srgbClr val="D9D9D9"/>
            </a:solidFill>
          </a:ln>
        </p:spPr>
      </p:cxnSp>
      <p:sp>
        <p:nvSpPr>
          <p:cNvPr id="51" name="Text 51"/>
          <p:cNvSpPr txBox="1"/>
          <p:nvPr/>
        </p:nvSpPr>
        <p:spPr>
          <a:xfrm>
            <a:off x="609600" y="3606800"/>
            <a:ext cx="10972800" cy="787400"/>
          </a:xfrm>
          <a:prstGeom prst="rect">
            <a:avLst/>
          </a:prstGeom>
          <a:noFill/>
          <a:ln>
            <a:noFill/>
          </a:ln>
        </p:spPr>
        <p:txBody>
          <a:bodyPr wrap="square" lIns="0" tIns="0" rIns="0" bIns="0" anchor="ctr">
            <a:noAutofit/>
          </a:bodyPr>
          <a:lstStyle/>
          <a:p>
            <a:pPr algn="l">
              <a:spcBef>
                <a:spcPts val="0"/>
              </a:spcBef>
              <a:buNone/>
            </a:pPr>
            <a:r>
              <a:rPr lang="en-US" dirty="0">
                <a:solidFill>
                  <a:srgbClr val="262626"/>
                </a:solidFill>
              </a:rPr>
              <a:t>Is performance limited more by the model or by the information in the data?</a:t>
            </a:r>
          </a:p>
        </p:txBody>
      </p:sp>
      <p:cxnSp>
        <p:nvCxnSpPr>
          <p:cNvPr id="53" name="Line 53"/>
          <p:cNvCxnSpPr/>
          <p:nvPr/>
        </p:nvCxnSpPr>
        <p:spPr>
          <a:xfrm>
            <a:off x="609600" y="4445000"/>
            <a:ext cx="10972800" cy="0"/>
          </a:xfrm>
          <a:prstGeom prst="line">
            <a:avLst/>
          </a:prstGeom>
          <a:ln w="9525">
            <a:solidFill>
              <a:srgbClr val="D9D9D9"/>
            </a:solidFill>
          </a:ln>
        </p:spPr>
      </p:cxnSp>
      <p:sp>
        <p:nvSpPr>
          <p:cNvPr id="55" name="Text 55"/>
          <p:cNvSpPr txBox="1"/>
          <p:nvPr/>
        </p:nvSpPr>
        <p:spPr>
          <a:xfrm>
            <a:off x="609600" y="4495800"/>
            <a:ext cx="10972800" cy="787400"/>
          </a:xfrm>
          <a:prstGeom prst="rect">
            <a:avLst/>
          </a:prstGeom>
          <a:noFill/>
          <a:ln>
            <a:noFill/>
          </a:ln>
        </p:spPr>
        <p:txBody>
          <a:bodyPr wrap="square" lIns="0" tIns="0" rIns="0" bIns="0" anchor="ctr">
            <a:noAutofit/>
          </a:bodyPr>
          <a:lstStyle/>
          <a:p>
            <a:pPr algn="l">
              <a:spcBef>
                <a:spcPts val="0"/>
              </a:spcBef>
              <a:buNone/>
            </a:pPr>
            <a:r>
              <a:rPr lang="en-US" dirty="0">
                <a:solidFill>
                  <a:srgbClr val="262626"/>
                </a:solidFill>
              </a:rPr>
              <a:t>How well does the system work when most traffic is normal, and how can false alarms be reduced?</a:t>
            </a:r>
          </a:p>
        </p:txBody>
      </p:sp>
      <p:cxnSp>
        <p:nvCxnSpPr>
          <p:cNvPr id="57" name="Line 57"/>
          <p:cNvCxnSpPr/>
          <p:nvPr/>
        </p:nvCxnSpPr>
        <p:spPr>
          <a:xfrm>
            <a:off x="609600" y="5334000"/>
            <a:ext cx="10972800" cy="0"/>
          </a:xfrm>
          <a:prstGeom prst="line">
            <a:avLst/>
          </a:prstGeom>
          <a:ln w="9525">
            <a:solidFill>
              <a:srgbClr val="D9D9D9"/>
            </a:solidFill>
          </a:ln>
        </p:spPr>
      </p:cxnSp>
      <p:sp>
        <p:nvSpPr>
          <p:cNvPr id="59" name="Text 59"/>
          <p:cNvSpPr txBox="1"/>
          <p:nvPr/>
        </p:nvSpPr>
        <p:spPr>
          <a:xfrm>
            <a:off x="609600" y="5384800"/>
            <a:ext cx="10972800" cy="787400"/>
          </a:xfrm>
          <a:prstGeom prst="rect">
            <a:avLst/>
          </a:prstGeom>
          <a:noFill/>
          <a:ln>
            <a:noFill/>
          </a:ln>
        </p:spPr>
        <p:txBody>
          <a:bodyPr wrap="square" lIns="0" tIns="0" rIns="0" bIns="0" anchor="ctr">
            <a:noAutofit/>
          </a:bodyPr>
          <a:lstStyle/>
          <a:p>
            <a:pPr algn="l">
              <a:spcBef>
                <a:spcPts val="0"/>
              </a:spcBef>
              <a:buNone/>
            </a:pPr>
            <a:r>
              <a:rPr lang="en-US" dirty="0">
                <a:solidFill>
                  <a:srgbClr val="262626"/>
                </a:solidFill>
              </a:rPr>
              <a:t>How well does the system hold up when inputs are slightly changed, by random noise or by an attacker?</a:t>
            </a:r>
          </a:p>
        </p:txBody>
      </p:sp>
    </p:spTree>
    <p:extLst>
      <p:ext uri="{BB962C8B-B14F-4D97-AF65-F5344CB8AC3E}">
        <p14:creationId xmlns:p14="http://schemas.microsoft.com/office/powerpoint/2010/main" val="4047222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3FAF-E9A3-8FEF-3FCA-A5BC319F7DB2}"/>
              </a:ext>
            </a:extLst>
          </p:cNvPr>
          <p:cNvSpPr>
            <a:spLocks noGrp="1"/>
          </p:cNvSpPr>
          <p:nvPr>
            <p:ph type="title"/>
          </p:nvPr>
        </p:nvSpPr>
        <p:spPr/>
        <p:txBody>
          <a:bodyPr>
            <a:normAutofit/>
          </a:bodyPr>
          <a:lstStyle/>
          <a:p>
            <a:r>
              <a:rPr lang="en-US" dirty="0"/>
              <a:t>Research Methodology</a:t>
            </a:r>
          </a:p>
          <a:p>
            <a:pPr>
              <a:spcBef>
                <a:spcPts val="200"/>
              </a:spcBef>
            </a:pPr>
            <a:r>
              <a:rPr lang="en-US" sz="1600" b="0" dirty="0">
                <a:solidFill>
                  <a:srgbClr val="595959"/>
                </a:solidFill>
              </a:rPr>
              <a:t>Six steps, from collecting the data to analysing the results</a:t>
            </a:r>
          </a:p>
        </p:txBody>
      </p:sp>
      <p:sp>
        <p:nvSpPr>
          <p:cNvPr id="200" name="Slide Number"/>
          <p:cNvSpPr>
            <a:spLocks noGrp="1"/>
          </p:cNvSpPr>
          <p:nvPr>
            <p:ph type="sldNum" sz="quarter" idx="12"/>
          </p:nvPr>
        </p:nvSpPr>
        <p:spPr/>
        <p:txBody>
          <a:bodyPr/>
          <a:lstStyle/>
          <a:p>
            <a:fld id="{B6F15528-21DE-4FAA-801E-634DDDAF4B2B}" type="slidenum">
              <a:rPr lang="en-US"/>
              <a:t>6</a:t>
            </a:fld>
            <a:endParaRPr lang="en-US"/>
          </a:p>
        </p:txBody>
      </p:sp>
      <p:sp>
        <p:nvSpPr>
          <p:cNvPr id="40" name="Text 40"/>
          <p:cNvSpPr/>
          <p:nvPr/>
        </p:nvSpPr>
        <p:spPr>
          <a:xfrm>
            <a:off x="609600" y="15748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41" name="Text 41"/>
          <p:cNvSpPr/>
          <p:nvPr/>
        </p:nvSpPr>
        <p:spPr>
          <a:xfrm>
            <a:off x="609600" y="1574800"/>
            <a:ext cx="63500" cy="2133600"/>
          </a:xfrm>
          <a:prstGeom prst="rect">
            <a:avLst/>
          </a:prstGeom>
          <a:solidFill>
            <a:srgbClr val="4A66AC"/>
          </a:solidFill>
          <a:ln>
            <a:noFill/>
          </a:ln>
        </p:spPr>
        <p:txBody>
          <a:bodyPr wrap="square" lIns="0" tIns="0" rIns="0" bIns="0" anchor="t">
            <a:noAutofit/>
          </a:bodyPr>
          <a:lstStyle/>
          <a:p>
            <a:endParaRPr lang="en-US"/>
          </a:p>
        </p:txBody>
      </p:sp>
      <p:sp>
        <p:nvSpPr>
          <p:cNvPr id="42" name="Text 42"/>
          <p:cNvSpPr txBox="1"/>
          <p:nvPr/>
        </p:nvSpPr>
        <p:spPr>
          <a:xfrm>
            <a:off x="863600" y="17526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01</a:t>
            </a:r>
          </a:p>
        </p:txBody>
      </p:sp>
      <p:sp>
        <p:nvSpPr>
          <p:cNvPr id="43" name="Text 43"/>
          <p:cNvSpPr txBox="1"/>
          <p:nvPr/>
        </p:nvSpPr>
        <p:spPr>
          <a:xfrm>
            <a:off x="863600" y="22860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Data collection</a:t>
            </a:r>
          </a:p>
        </p:txBody>
      </p:sp>
      <p:sp>
        <p:nvSpPr>
          <p:cNvPr id="44" name="Text 44"/>
          <p:cNvSpPr txBox="1"/>
          <p:nvPr/>
        </p:nvSpPr>
        <p:spPr>
          <a:xfrm>
            <a:off x="863600" y="26924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CIC-UNSW-NB15: 3.54 million network connections, normal traffic plus nine attack types</a:t>
            </a:r>
          </a:p>
        </p:txBody>
      </p:sp>
      <p:sp>
        <p:nvSpPr>
          <p:cNvPr id="45" name="Text 45"/>
          <p:cNvSpPr/>
          <p:nvPr/>
        </p:nvSpPr>
        <p:spPr>
          <a:xfrm rot="5400000">
            <a:off x="4133850" y="2540000"/>
            <a:ext cx="177800" cy="203200"/>
          </a:xfrm>
          <a:prstGeom prst="triangle">
            <a:avLst/>
          </a:prstGeom>
          <a:solidFill>
            <a:srgbClr val="4A66AC"/>
          </a:solidFill>
          <a:ln>
            <a:noFill/>
          </a:ln>
        </p:spPr>
        <p:txBody>
          <a:bodyPr wrap="square" lIns="0" tIns="0" rIns="0" bIns="0" anchor="t">
            <a:noAutofit/>
          </a:bodyPr>
          <a:lstStyle/>
          <a:p>
            <a:endParaRPr lang="en-US"/>
          </a:p>
        </p:txBody>
      </p:sp>
      <p:sp>
        <p:nvSpPr>
          <p:cNvPr id="46" name="Text 46"/>
          <p:cNvSpPr/>
          <p:nvPr/>
        </p:nvSpPr>
        <p:spPr>
          <a:xfrm>
            <a:off x="4368800" y="15748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47" name="Text 47"/>
          <p:cNvSpPr/>
          <p:nvPr/>
        </p:nvSpPr>
        <p:spPr>
          <a:xfrm>
            <a:off x="4368800" y="1574800"/>
            <a:ext cx="63500" cy="2133600"/>
          </a:xfrm>
          <a:prstGeom prst="rect">
            <a:avLst/>
          </a:prstGeom>
          <a:solidFill>
            <a:srgbClr val="4A66AC"/>
          </a:solidFill>
          <a:ln>
            <a:noFill/>
          </a:ln>
        </p:spPr>
        <p:txBody>
          <a:bodyPr wrap="square" lIns="0" tIns="0" rIns="0" bIns="0" anchor="t">
            <a:noAutofit/>
          </a:bodyPr>
          <a:lstStyle/>
          <a:p>
            <a:endParaRPr lang="en-US"/>
          </a:p>
        </p:txBody>
      </p:sp>
      <p:sp>
        <p:nvSpPr>
          <p:cNvPr id="48" name="Text 48"/>
          <p:cNvSpPr txBox="1"/>
          <p:nvPr/>
        </p:nvSpPr>
        <p:spPr>
          <a:xfrm>
            <a:off x="4622800" y="17526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02</a:t>
            </a:r>
          </a:p>
        </p:txBody>
      </p:sp>
      <p:sp>
        <p:nvSpPr>
          <p:cNvPr id="49" name="Text 49"/>
          <p:cNvSpPr txBox="1"/>
          <p:nvPr/>
        </p:nvSpPr>
        <p:spPr>
          <a:xfrm>
            <a:off x="4622800" y="22860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Preprocessing</a:t>
            </a:r>
          </a:p>
        </p:txBody>
      </p:sp>
      <p:sp>
        <p:nvSpPr>
          <p:cNvPr id="50" name="Text 50"/>
          <p:cNvSpPr txBox="1"/>
          <p:nvPr/>
        </p:nvSpPr>
        <p:spPr>
          <a:xfrm>
            <a:off x="4622800" y="26924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Remove duplicates and unhelpful features, then split 80% for training, 20% for testing</a:t>
            </a:r>
          </a:p>
        </p:txBody>
      </p:sp>
      <p:sp>
        <p:nvSpPr>
          <p:cNvPr id="51" name="Text 51"/>
          <p:cNvSpPr/>
          <p:nvPr/>
        </p:nvSpPr>
        <p:spPr>
          <a:xfrm rot="5400000">
            <a:off x="7893050" y="2540000"/>
            <a:ext cx="177800" cy="203200"/>
          </a:xfrm>
          <a:prstGeom prst="triangle">
            <a:avLst/>
          </a:prstGeom>
          <a:solidFill>
            <a:srgbClr val="4A66AC"/>
          </a:solidFill>
          <a:ln>
            <a:noFill/>
          </a:ln>
        </p:spPr>
        <p:txBody>
          <a:bodyPr wrap="square" lIns="0" tIns="0" rIns="0" bIns="0" anchor="t">
            <a:noAutofit/>
          </a:bodyPr>
          <a:lstStyle/>
          <a:p>
            <a:endParaRPr lang="en-US"/>
          </a:p>
        </p:txBody>
      </p:sp>
      <p:sp>
        <p:nvSpPr>
          <p:cNvPr id="52" name="Text 52"/>
          <p:cNvSpPr/>
          <p:nvPr/>
        </p:nvSpPr>
        <p:spPr>
          <a:xfrm>
            <a:off x="8128000" y="15748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53" name="Text 53"/>
          <p:cNvSpPr/>
          <p:nvPr/>
        </p:nvSpPr>
        <p:spPr>
          <a:xfrm>
            <a:off x="8128000" y="1574800"/>
            <a:ext cx="63500" cy="2133600"/>
          </a:xfrm>
          <a:prstGeom prst="rect">
            <a:avLst/>
          </a:prstGeom>
          <a:solidFill>
            <a:srgbClr val="4A66AC"/>
          </a:solidFill>
          <a:ln>
            <a:noFill/>
          </a:ln>
        </p:spPr>
        <p:txBody>
          <a:bodyPr wrap="square" lIns="0" tIns="0" rIns="0" bIns="0" anchor="t">
            <a:noAutofit/>
          </a:bodyPr>
          <a:lstStyle/>
          <a:p>
            <a:endParaRPr lang="en-US"/>
          </a:p>
        </p:txBody>
      </p:sp>
      <p:sp>
        <p:nvSpPr>
          <p:cNvPr id="54" name="Text 54"/>
          <p:cNvSpPr txBox="1"/>
          <p:nvPr/>
        </p:nvSpPr>
        <p:spPr>
          <a:xfrm>
            <a:off x="8382000" y="17526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03</a:t>
            </a:r>
          </a:p>
        </p:txBody>
      </p:sp>
      <p:sp>
        <p:nvSpPr>
          <p:cNvPr id="55" name="Text 55"/>
          <p:cNvSpPr txBox="1"/>
          <p:nvPr/>
        </p:nvSpPr>
        <p:spPr>
          <a:xfrm>
            <a:off x="8382000" y="22860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Feature engineering</a:t>
            </a:r>
          </a:p>
        </p:txBody>
      </p:sp>
      <p:sp>
        <p:nvSpPr>
          <p:cNvPr id="56" name="Text 56"/>
          <p:cNvSpPr txBox="1"/>
          <p:nvPr/>
        </p:nvSpPr>
        <p:spPr>
          <a:xfrm>
            <a:off x="8382000" y="26924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Add 31 behaviour features and 25 service features, 99 in total</a:t>
            </a:r>
          </a:p>
        </p:txBody>
      </p:sp>
      <p:sp>
        <p:nvSpPr>
          <p:cNvPr id="57" name="Text 57"/>
          <p:cNvSpPr/>
          <p:nvPr/>
        </p:nvSpPr>
        <p:spPr>
          <a:xfrm>
            <a:off x="609600" y="40640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58" name="Text 58"/>
          <p:cNvSpPr/>
          <p:nvPr/>
        </p:nvSpPr>
        <p:spPr>
          <a:xfrm>
            <a:off x="609600" y="4064000"/>
            <a:ext cx="63500" cy="2133600"/>
          </a:xfrm>
          <a:prstGeom prst="rect">
            <a:avLst/>
          </a:prstGeom>
          <a:solidFill>
            <a:srgbClr val="4A66AC"/>
          </a:solidFill>
          <a:ln>
            <a:noFill/>
          </a:ln>
        </p:spPr>
        <p:txBody>
          <a:bodyPr wrap="square" lIns="0" tIns="0" rIns="0" bIns="0" anchor="t">
            <a:noAutofit/>
          </a:bodyPr>
          <a:lstStyle/>
          <a:p>
            <a:endParaRPr lang="en-US"/>
          </a:p>
        </p:txBody>
      </p:sp>
      <p:sp>
        <p:nvSpPr>
          <p:cNvPr id="59" name="Text 59"/>
          <p:cNvSpPr txBox="1"/>
          <p:nvPr/>
        </p:nvSpPr>
        <p:spPr>
          <a:xfrm>
            <a:off x="863600" y="42418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04</a:t>
            </a:r>
          </a:p>
        </p:txBody>
      </p:sp>
      <p:sp>
        <p:nvSpPr>
          <p:cNvPr id="60" name="Text 60"/>
          <p:cNvSpPr txBox="1"/>
          <p:nvPr/>
        </p:nvSpPr>
        <p:spPr>
          <a:xfrm>
            <a:off x="863600" y="47752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Model development</a:t>
            </a:r>
          </a:p>
        </p:txBody>
      </p:sp>
      <p:sp>
        <p:nvSpPr>
          <p:cNvPr id="61" name="Text 61"/>
          <p:cNvSpPr txBox="1"/>
          <p:nvPr/>
        </p:nvSpPr>
        <p:spPr>
          <a:xfrm>
            <a:off x="863600" y="51816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One model spots attacks; a team of seven models names the attack type</a:t>
            </a:r>
          </a:p>
        </p:txBody>
      </p:sp>
      <p:sp>
        <p:nvSpPr>
          <p:cNvPr id="62" name="Text 62"/>
          <p:cNvSpPr/>
          <p:nvPr/>
        </p:nvSpPr>
        <p:spPr>
          <a:xfrm rot="5400000">
            <a:off x="4133850" y="5029200"/>
            <a:ext cx="177800" cy="203200"/>
          </a:xfrm>
          <a:prstGeom prst="triangle">
            <a:avLst/>
          </a:prstGeom>
          <a:solidFill>
            <a:srgbClr val="4A66AC"/>
          </a:solidFill>
          <a:ln>
            <a:noFill/>
          </a:ln>
        </p:spPr>
        <p:txBody>
          <a:bodyPr wrap="square" lIns="0" tIns="0" rIns="0" bIns="0" anchor="t">
            <a:noAutofit/>
          </a:bodyPr>
          <a:lstStyle/>
          <a:p>
            <a:endParaRPr lang="en-US"/>
          </a:p>
        </p:txBody>
      </p:sp>
      <p:sp>
        <p:nvSpPr>
          <p:cNvPr id="63" name="Text 63"/>
          <p:cNvSpPr/>
          <p:nvPr/>
        </p:nvSpPr>
        <p:spPr>
          <a:xfrm>
            <a:off x="4368800" y="40640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64" name="Text 64"/>
          <p:cNvSpPr/>
          <p:nvPr/>
        </p:nvSpPr>
        <p:spPr>
          <a:xfrm>
            <a:off x="4368800" y="4064000"/>
            <a:ext cx="63500" cy="2133600"/>
          </a:xfrm>
          <a:prstGeom prst="rect">
            <a:avLst/>
          </a:prstGeom>
          <a:solidFill>
            <a:srgbClr val="4A66AC"/>
          </a:solidFill>
          <a:ln>
            <a:noFill/>
          </a:ln>
        </p:spPr>
        <p:txBody>
          <a:bodyPr wrap="square" lIns="0" tIns="0" rIns="0" bIns="0" anchor="t">
            <a:noAutofit/>
          </a:bodyPr>
          <a:lstStyle/>
          <a:p>
            <a:endParaRPr lang="en-US"/>
          </a:p>
        </p:txBody>
      </p:sp>
      <p:sp>
        <p:nvSpPr>
          <p:cNvPr id="65" name="Text 65"/>
          <p:cNvSpPr txBox="1"/>
          <p:nvPr/>
        </p:nvSpPr>
        <p:spPr>
          <a:xfrm>
            <a:off x="4622800" y="42418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05</a:t>
            </a:r>
          </a:p>
        </p:txBody>
      </p:sp>
      <p:sp>
        <p:nvSpPr>
          <p:cNvPr id="66" name="Text 66"/>
          <p:cNvSpPr txBox="1"/>
          <p:nvPr/>
        </p:nvSpPr>
        <p:spPr>
          <a:xfrm>
            <a:off x="4622800" y="47752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Evaluation</a:t>
            </a:r>
          </a:p>
        </p:txBody>
      </p:sp>
      <p:sp>
        <p:nvSpPr>
          <p:cNvPr id="67" name="Text 67"/>
          <p:cNvSpPr txBox="1"/>
          <p:nvPr/>
        </p:nvSpPr>
        <p:spPr>
          <a:xfrm>
            <a:off x="4622800" y="51816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Score with macro-F1 on unseen test data and check every gain statistically</a:t>
            </a:r>
          </a:p>
        </p:txBody>
      </p:sp>
      <p:sp>
        <p:nvSpPr>
          <p:cNvPr id="68" name="Text 68"/>
          <p:cNvSpPr/>
          <p:nvPr/>
        </p:nvSpPr>
        <p:spPr>
          <a:xfrm rot="5400000">
            <a:off x="7893050" y="5029200"/>
            <a:ext cx="177800" cy="203200"/>
          </a:xfrm>
          <a:prstGeom prst="triangle">
            <a:avLst/>
          </a:prstGeom>
          <a:solidFill>
            <a:srgbClr val="4A66AC"/>
          </a:solidFill>
          <a:ln>
            <a:noFill/>
          </a:ln>
        </p:spPr>
        <p:txBody>
          <a:bodyPr wrap="square" lIns="0" tIns="0" rIns="0" bIns="0" anchor="t">
            <a:noAutofit/>
          </a:bodyPr>
          <a:lstStyle/>
          <a:p>
            <a:endParaRPr lang="en-US"/>
          </a:p>
        </p:txBody>
      </p:sp>
      <p:sp>
        <p:nvSpPr>
          <p:cNvPr id="69" name="Text 69"/>
          <p:cNvSpPr/>
          <p:nvPr/>
        </p:nvSpPr>
        <p:spPr>
          <a:xfrm>
            <a:off x="8128000" y="4064000"/>
            <a:ext cx="3454400" cy="2133600"/>
          </a:xfrm>
          <a:prstGeom prst="rect">
            <a:avLst/>
          </a:prstGeom>
          <a:solidFill>
            <a:srgbClr val="EEF2F8"/>
          </a:solidFill>
          <a:ln>
            <a:noFill/>
          </a:ln>
        </p:spPr>
        <p:txBody>
          <a:bodyPr wrap="square" lIns="0" tIns="0" rIns="0" bIns="0" anchor="t">
            <a:noAutofit/>
          </a:bodyPr>
          <a:lstStyle/>
          <a:p>
            <a:endParaRPr lang="en-US"/>
          </a:p>
        </p:txBody>
      </p:sp>
      <p:sp>
        <p:nvSpPr>
          <p:cNvPr id="70" name="Text 70"/>
          <p:cNvSpPr/>
          <p:nvPr/>
        </p:nvSpPr>
        <p:spPr>
          <a:xfrm>
            <a:off x="8128000" y="4064000"/>
            <a:ext cx="63500" cy="2133600"/>
          </a:xfrm>
          <a:prstGeom prst="rect">
            <a:avLst/>
          </a:prstGeom>
          <a:solidFill>
            <a:srgbClr val="4A66AC"/>
          </a:solidFill>
          <a:ln>
            <a:noFill/>
          </a:ln>
        </p:spPr>
        <p:txBody>
          <a:bodyPr wrap="square" lIns="0" tIns="0" rIns="0" bIns="0" anchor="t">
            <a:noAutofit/>
          </a:bodyPr>
          <a:lstStyle/>
          <a:p>
            <a:endParaRPr lang="en-US"/>
          </a:p>
        </p:txBody>
      </p:sp>
      <p:sp>
        <p:nvSpPr>
          <p:cNvPr id="71" name="Text 71"/>
          <p:cNvSpPr txBox="1"/>
          <p:nvPr/>
        </p:nvSpPr>
        <p:spPr>
          <a:xfrm>
            <a:off x="8382000" y="4241800"/>
            <a:ext cx="762000" cy="457200"/>
          </a:xfrm>
          <a:prstGeom prst="rect">
            <a:avLst/>
          </a:prstGeom>
          <a:noFill/>
          <a:ln>
            <a:noFill/>
          </a:ln>
        </p:spPr>
        <p:txBody>
          <a:bodyPr wrap="square" lIns="0" tIns="0" rIns="0" bIns="0" anchor="t">
            <a:noAutofit/>
          </a:bodyPr>
          <a:lstStyle/>
          <a:p>
            <a:pPr algn="l">
              <a:spcBef>
                <a:spcPts val="0"/>
              </a:spcBef>
              <a:buNone/>
            </a:pPr>
            <a:r>
              <a:rPr lang="en-US" sz="2800" b="1" dirty="0">
                <a:solidFill>
                  <a:srgbClr val="4A66AC"/>
                </a:solidFill>
              </a:rPr>
              <a:t>06</a:t>
            </a:r>
          </a:p>
        </p:txBody>
      </p:sp>
      <p:sp>
        <p:nvSpPr>
          <p:cNvPr id="72" name="Text 72"/>
          <p:cNvSpPr txBox="1"/>
          <p:nvPr/>
        </p:nvSpPr>
        <p:spPr>
          <a:xfrm>
            <a:off x="8382000" y="4775200"/>
            <a:ext cx="2997200" cy="330200"/>
          </a:xfrm>
          <a:prstGeom prst="rect">
            <a:avLst/>
          </a:prstGeom>
          <a:noFill/>
          <a:ln>
            <a:noFill/>
          </a:ln>
        </p:spPr>
        <p:txBody>
          <a:bodyPr wrap="square" lIns="0" tIns="0" rIns="0" bIns="0" anchor="t">
            <a:noAutofit/>
          </a:bodyPr>
          <a:lstStyle/>
          <a:p>
            <a:pPr algn="l">
              <a:spcBef>
                <a:spcPts val="0"/>
              </a:spcBef>
              <a:buNone/>
            </a:pPr>
            <a:r>
              <a:rPr lang="en-US" sz="2000" b="1" dirty="0">
                <a:solidFill>
                  <a:srgbClr val="404040"/>
                </a:solidFill>
              </a:rPr>
              <a:t>Result analysis</a:t>
            </a:r>
          </a:p>
        </p:txBody>
      </p:sp>
      <p:sp>
        <p:nvSpPr>
          <p:cNvPr id="73" name="Text 73"/>
          <p:cNvSpPr txBox="1"/>
          <p:nvPr/>
        </p:nvSpPr>
        <p:spPr>
          <a:xfrm>
            <a:off x="8382000" y="5181600"/>
            <a:ext cx="2997200" cy="914400"/>
          </a:xfrm>
          <a:prstGeom prst="rect">
            <a:avLst/>
          </a:prstGeom>
          <a:noFill/>
          <a:ln>
            <a:noFill/>
          </a:ln>
        </p:spPr>
        <p:txBody>
          <a:bodyPr wrap="square" lIns="0" tIns="0" rIns="0" bIns="0" anchor="t">
            <a:noAutofit/>
          </a:bodyPr>
          <a:lstStyle/>
          <a:p>
            <a:pPr algn="l">
              <a:spcBef>
                <a:spcPts val="0"/>
              </a:spcBef>
              <a:buNone/>
            </a:pPr>
            <a:r>
              <a:rPr lang="en-US" sz="1600" dirty="0">
                <a:solidFill>
                  <a:srgbClr val="262626"/>
                </a:solidFill>
              </a:rPr>
              <a:t>Measure what each part adds, study the errors and test robustness</a:t>
            </a:r>
          </a:p>
        </p:txBody>
      </p:sp>
      <p:sp>
        <p:nvSpPr>
          <p:cNvPr id="150" name="Wrap arrow"/>
          <p:cNvSpPr/>
          <p:nvPr/>
        </p:nvSpPr>
        <p:spPr>
          <a:xfrm>
            <a:off x="2336800" y="3721100"/>
            <a:ext cx="7518400" cy="342900"/>
          </a:xfrm>
          <a:custGeom>
            <a:avLst/>
            <a:gdLst/>
            <a:ahLst/>
            <a:cxnLst/>
            <a:rect l="0" t="0" r="r" b="b"/>
            <a:pathLst>
              <a:path w="7518400" h="342900">
                <a:moveTo>
                  <a:pt x="7518400" y="0"/>
                </a:moveTo>
                <a:lnTo>
                  <a:pt x="7518400" y="171450"/>
                </a:lnTo>
                <a:lnTo>
                  <a:pt x="0" y="171450"/>
                </a:lnTo>
                <a:lnTo>
                  <a:pt x="0" y="342900"/>
                </a:lnTo>
              </a:path>
            </a:pathLst>
          </a:custGeom>
          <a:noFill/>
          <a:ln w="15875">
            <a:solidFill>
              <a:srgbClr val="4A66AC"/>
            </a:solidFill>
            <a:tailEnd type="triangle" w="med" len="med"/>
          </a:ln>
        </p:spPr>
        <p:txBody>
          <a:bodyPr/>
          <a:lstStyle/>
          <a:p>
            <a:endParaRPr lang="en-US"/>
          </a:p>
        </p:txBody>
      </p:sp>
    </p:spTree>
    <p:extLst>
      <p:ext uri="{BB962C8B-B14F-4D97-AF65-F5344CB8AC3E}">
        <p14:creationId xmlns:p14="http://schemas.microsoft.com/office/powerpoint/2010/main" val="1296964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E8F9-B19B-D3C3-F656-5B786F870C47}"/>
              </a:ext>
            </a:extLst>
          </p:cNvPr>
          <p:cNvSpPr>
            <a:spLocks noGrp="1"/>
          </p:cNvSpPr>
          <p:nvPr>
            <p:ph type="title"/>
          </p:nvPr>
        </p:nvSpPr>
        <p:spPr/>
        <p:txBody>
          <a:bodyPr>
            <a:normAutofit/>
          </a:bodyPr>
          <a:lstStyle/>
          <a:p>
            <a:r>
              <a:rPr lang="en-US" dirty="0"/>
              <a:t>Data Collection &amp; Analysis</a:t>
            </a:r>
          </a:p>
          <a:p>
            <a:pPr>
              <a:spcBef>
                <a:spcPts val="200"/>
              </a:spcBef>
            </a:pPr>
            <a:r>
              <a:rPr lang="en-US" sz="1600" b="0" dirty="0">
                <a:solidFill>
                  <a:srgbClr val="595959"/>
                </a:solidFill>
              </a:rPr>
              <a:t>Normal traffic far outnumbers attacks: only 243 Worms connections against 2.5 million normal ones</a:t>
            </a:r>
          </a:p>
        </p:txBody>
      </p:sp>
      <p:sp>
        <p:nvSpPr>
          <p:cNvPr id="200" name="Slide Number"/>
          <p:cNvSpPr>
            <a:spLocks noGrp="1"/>
          </p:cNvSpPr>
          <p:nvPr>
            <p:ph type="sldNum" sz="quarter" idx="12"/>
          </p:nvPr>
        </p:nvSpPr>
        <p:spPr/>
        <p:txBody>
          <a:bodyPr/>
          <a:lstStyle/>
          <a:p>
            <a:fld id="{C7F0390B-6E29-48DF-B134-99D6A0365BB5}" type="slidenum">
              <a:rPr lang="en-US"/>
              <a:t>7</a:t>
            </a:fld>
            <a:endParaRPr lang="en-US"/>
          </a:p>
        </p:txBody>
      </p:sp>
      <p:graphicFrame>
        <p:nvGraphicFramePr>
          <p:cNvPr id="3" name="Chart"/>
          <p:cNvGraphicFramePr/>
          <p:nvPr/>
        </p:nvGraphicFramePr>
        <p:xfrm>
          <a:off x="609600" y="1879600"/>
          <a:ext cx="6604000" cy="4318000"/>
        </p:xfrm>
        <a:graphic>
          <a:graphicData uri="http://schemas.openxmlformats.org/drawingml/2006/chart">
            <c:chart xmlns:c="http://schemas.openxmlformats.org/drawingml/2006/chart" xmlns:r="http://schemas.openxmlformats.org/officeDocument/2006/relationships" r:id="rId3"/>
          </a:graphicData>
        </a:graphic>
      </p:graphicFrame>
      <p:sp>
        <p:nvSpPr>
          <p:cNvPr id="40" name="Chart label"/>
          <p:cNvSpPr txBox="1"/>
          <p:nvPr/>
        </p:nvSpPr>
        <p:spPr>
          <a:xfrm>
            <a:off x="609600" y="1498600"/>
            <a:ext cx="6604000" cy="279400"/>
          </a:xfrm>
          <a:prstGeom prst="rect">
            <a:avLst/>
          </a:prstGeom>
          <a:noFill/>
        </p:spPr>
        <p:txBody>
          <a:bodyPr wrap="square" lIns="0" tIns="0" rIns="0" bIns="0" anchor="t">
            <a:noAutofit/>
          </a:bodyPr>
          <a:lstStyle/>
          <a:p>
            <a:pPr algn="l">
              <a:lnSpc>
                <a:spcPct val="100000"/>
              </a:lnSpc>
              <a:spcBef>
                <a:spcPts val="0"/>
              </a:spcBef>
              <a:buNone/>
            </a:pPr>
            <a:r>
              <a:rPr lang="en-US" sz="1400" dirty="0">
                <a:solidFill>
                  <a:srgbClr val="595959"/>
                </a:solidFill>
              </a:rPr>
              <a:t>Number of connections per attack type, after removing duplicates</a:t>
            </a:r>
          </a:p>
        </p:txBody>
      </p:sp>
      <p:sp>
        <p:nvSpPr>
          <p:cNvPr id="41" name="Text 41"/>
          <p:cNvSpPr txBox="1"/>
          <p:nvPr/>
        </p:nvSpPr>
        <p:spPr>
          <a:xfrm>
            <a:off x="7747000" y="1549400"/>
            <a:ext cx="3835400" cy="660400"/>
          </a:xfrm>
          <a:prstGeom prst="rect">
            <a:avLst/>
          </a:prstGeom>
          <a:noFill/>
        </p:spPr>
        <p:txBody>
          <a:bodyPr wrap="square" lIns="0" tIns="0" rIns="0" bIns="0" anchor="t">
            <a:noAutofit/>
          </a:bodyPr>
          <a:lstStyle/>
          <a:p>
            <a:pPr algn="l">
              <a:lnSpc>
                <a:spcPct val="100000"/>
              </a:lnSpc>
              <a:spcBef>
                <a:spcPts val="0"/>
              </a:spcBef>
              <a:buNone/>
            </a:pPr>
            <a:r>
              <a:rPr lang="en-US" sz="4000" b="1" dirty="0">
                <a:solidFill>
                  <a:srgbClr val="404040"/>
                </a:solidFill>
                <a:latin typeface="+mj-lt"/>
              </a:rPr>
              <a:t>10,392 : 1</a:t>
            </a:r>
          </a:p>
        </p:txBody>
      </p:sp>
      <p:sp>
        <p:nvSpPr>
          <p:cNvPr id="42" name="Text 42"/>
          <p:cNvSpPr txBox="1"/>
          <p:nvPr/>
        </p:nvSpPr>
        <p:spPr>
          <a:xfrm>
            <a:off x="7747000" y="2235200"/>
            <a:ext cx="3835400" cy="558800"/>
          </a:xfrm>
          <a:prstGeom prst="rect">
            <a:avLst/>
          </a:prstGeom>
          <a:noFill/>
        </p:spPr>
        <p:txBody>
          <a:bodyPr wrap="square" lIns="0" tIns="0" rIns="0" bIns="0" anchor="t">
            <a:noAutofit/>
          </a:bodyPr>
          <a:lstStyle/>
          <a:p>
            <a:pPr algn="l">
              <a:lnSpc>
                <a:spcPct val="100000"/>
              </a:lnSpc>
              <a:spcBef>
                <a:spcPts val="0"/>
              </a:spcBef>
              <a:buNone/>
            </a:pPr>
            <a:r>
              <a:rPr lang="en-US" sz="1400" dirty="0">
                <a:solidFill>
                  <a:srgbClr val="595959"/>
                </a:solidFill>
              </a:rPr>
              <a:t>Benign for every Worms</a:t>
            </a:r>
          </a:p>
        </p:txBody>
      </p:sp>
      <p:cxnSp>
        <p:nvCxnSpPr>
          <p:cNvPr id="43" name="Line 43"/>
          <p:cNvCxnSpPr/>
          <p:nvPr/>
        </p:nvCxnSpPr>
        <p:spPr>
          <a:xfrm>
            <a:off x="7747000" y="2946400"/>
            <a:ext cx="3835400" cy="0"/>
          </a:xfrm>
          <a:prstGeom prst="line">
            <a:avLst/>
          </a:prstGeom>
          <a:ln w="9525">
            <a:solidFill>
              <a:srgbClr val="D9D9D9"/>
            </a:solidFill>
          </a:ln>
        </p:spPr>
      </p:cxnSp>
      <p:sp>
        <p:nvSpPr>
          <p:cNvPr id="44" name="Text 44"/>
          <p:cNvSpPr txBox="1"/>
          <p:nvPr/>
        </p:nvSpPr>
        <p:spPr>
          <a:xfrm>
            <a:off x="7747000" y="3098800"/>
            <a:ext cx="3835400" cy="660400"/>
          </a:xfrm>
          <a:prstGeom prst="rect">
            <a:avLst/>
          </a:prstGeom>
          <a:noFill/>
        </p:spPr>
        <p:txBody>
          <a:bodyPr wrap="square" lIns="0" tIns="0" rIns="0" bIns="0" anchor="t">
            <a:noAutofit/>
          </a:bodyPr>
          <a:lstStyle/>
          <a:p>
            <a:pPr algn="l">
              <a:lnSpc>
                <a:spcPct val="100000"/>
              </a:lnSpc>
              <a:spcBef>
                <a:spcPts val="0"/>
              </a:spcBef>
              <a:buNone/>
            </a:pPr>
            <a:r>
              <a:rPr lang="en-US" sz="4000" b="1" dirty="0">
                <a:solidFill>
                  <a:srgbClr val="404040"/>
                </a:solidFill>
                <a:latin typeface="+mj-lt"/>
              </a:rPr>
              <a:t>26.4%</a:t>
            </a:r>
          </a:p>
        </p:txBody>
      </p:sp>
      <p:sp>
        <p:nvSpPr>
          <p:cNvPr id="45" name="Text 45"/>
          <p:cNvSpPr txBox="1"/>
          <p:nvPr/>
        </p:nvSpPr>
        <p:spPr>
          <a:xfrm>
            <a:off x="7747000" y="3784600"/>
            <a:ext cx="3835400" cy="558800"/>
          </a:xfrm>
          <a:prstGeom prst="rect">
            <a:avLst/>
          </a:prstGeom>
          <a:noFill/>
        </p:spPr>
        <p:txBody>
          <a:bodyPr wrap="square" lIns="0" tIns="0" rIns="0" bIns="0" anchor="t">
            <a:noAutofit/>
          </a:bodyPr>
          <a:lstStyle/>
          <a:p>
            <a:pPr algn="l">
              <a:lnSpc>
                <a:spcPct val="100000"/>
              </a:lnSpc>
              <a:spcBef>
                <a:spcPts val="0"/>
              </a:spcBef>
              <a:buNone/>
            </a:pPr>
            <a:r>
              <a:rPr lang="en-US" sz="1400" dirty="0">
                <a:solidFill>
                  <a:srgbClr val="595959"/>
                </a:solidFill>
              </a:rPr>
              <a:t>of connections are duplicates that could end up in both training and test data</a:t>
            </a:r>
          </a:p>
        </p:txBody>
      </p:sp>
      <p:sp>
        <p:nvSpPr>
          <p:cNvPr id="46" name="Text 46"/>
          <p:cNvSpPr txBox="1"/>
          <p:nvPr/>
        </p:nvSpPr>
        <p:spPr>
          <a:xfrm>
            <a:off x="7747000" y="4699000"/>
            <a:ext cx="3835400" cy="1498600"/>
          </a:xfrm>
          <a:prstGeom prst="rect">
            <a:avLst/>
          </a:prstGeom>
          <a:solidFill>
            <a:srgbClr val="EEF2F8"/>
          </a:solidFill>
        </p:spPr>
        <p:txBody>
          <a:bodyPr wrap="square" lIns="177800" tIns="152400" rIns="177800" bIns="152400" anchor="ctr">
            <a:noAutofit/>
          </a:bodyPr>
          <a:lstStyle/>
          <a:p>
            <a:pPr algn="l">
              <a:lnSpc>
                <a:spcPct val="100000"/>
              </a:lnSpc>
              <a:spcBef>
                <a:spcPts val="0"/>
              </a:spcBef>
              <a:buNone/>
            </a:pPr>
            <a:r>
              <a:rPr lang="en-US" sz="1600" dirty="0">
                <a:solidFill>
                  <a:srgbClr val="262626"/>
                </a:solidFill>
              </a:rPr>
              <a:t>Accuracy can look high even when rare attacks are missed, so we score every model with </a:t>
            </a:r>
            <a:r>
              <a:rPr lang="en-US" sz="1600" b="1" dirty="0">
                <a:solidFill>
                  <a:srgbClr val="404040"/>
                </a:solidFill>
              </a:rPr>
              <a:t>macro-F1.</a:t>
            </a:r>
            <a:endParaRPr lang="en-US" sz="1600" dirty="0">
              <a:solidFill>
                <a:srgbClr val="262626"/>
              </a:solidFill>
            </a:endParaRPr>
          </a:p>
        </p:txBody>
      </p:sp>
    </p:spTree>
    <p:extLst>
      <p:ext uri="{BB962C8B-B14F-4D97-AF65-F5344CB8AC3E}">
        <p14:creationId xmlns:p14="http://schemas.microsoft.com/office/powerpoint/2010/main" val="1234625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37AB-F9EA-EC0F-96EE-47EF3300A6CE}"/>
              </a:ext>
            </a:extLst>
          </p:cNvPr>
          <p:cNvSpPr>
            <a:spLocks noGrp="1"/>
          </p:cNvSpPr>
          <p:nvPr>
            <p:ph type="title"/>
          </p:nvPr>
        </p:nvSpPr>
        <p:spPr/>
        <p:txBody>
          <a:bodyPr>
            <a:normAutofit/>
          </a:bodyPr>
          <a:lstStyle/>
          <a:p>
            <a:r>
              <a:rPr lang="en-US" dirty="0"/>
              <a:t>Data Collection &amp; Analysis</a:t>
            </a:r>
          </a:p>
          <a:p>
            <a:pPr>
              <a:spcBef>
                <a:spcPts val="200"/>
              </a:spcBef>
            </a:pPr>
            <a:r>
              <a:rPr lang="en-US" sz="1600" b="0" dirty="0">
                <a:solidFill>
                  <a:srgbClr val="595959"/>
                </a:solidFill>
              </a:rPr>
              <a:t>We cleaned and prepared the data in five steps before training any model</a:t>
            </a:r>
          </a:p>
        </p:txBody>
      </p:sp>
      <p:sp>
        <p:nvSpPr>
          <p:cNvPr id="200" name="Slide Number"/>
          <p:cNvSpPr>
            <a:spLocks noGrp="1"/>
          </p:cNvSpPr>
          <p:nvPr>
            <p:ph type="sldNum" sz="quarter" idx="12"/>
          </p:nvPr>
        </p:nvSpPr>
        <p:spPr/>
        <p:txBody>
          <a:bodyPr/>
          <a:lstStyle/>
          <a:p>
            <a:fld id="{C7F0390B-6E29-48DF-B134-99D6A0365BB5}" type="slidenum">
              <a:rPr lang="en-US"/>
              <a:t>8</a:t>
            </a:fld>
            <a:endParaRPr lang="en-US"/>
          </a:p>
        </p:txBody>
      </p:sp>
      <p:sp>
        <p:nvSpPr>
          <p:cNvPr id="40" name="Text 40"/>
          <p:cNvSpPr txBox="1"/>
          <p:nvPr/>
        </p:nvSpPr>
        <p:spPr>
          <a:xfrm>
            <a:off x="609600" y="1473200"/>
            <a:ext cx="10972800" cy="2794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Data preparation steps, CIC-UNSW-NB15</a:t>
            </a:r>
          </a:p>
        </p:txBody>
      </p:sp>
      <p:sp>
        <p:nvSpPr>
          <p:cNvPr id="41" name="Step 41"/>
          <p:cNvSpPr/>
          <p:nvPr/>
        </p:nvSpPr>
        <p:spPr>
          <a:xfrm>
            <a:off x="609600" y="2540000"/>
            <a:ext cx="1930400" cy="2667000"/>
          </a:xfrm>
          <a:prstGeom prst="rect">
            <a:avLst/>
          </a:prstGeom>
          <a:noFill/>
          <a:ln w="9525">
            <a:solidFill>
              <a:srgbClr val="A6A6A6"/>
            </a:solidFill>
          </a:ln>
        </p:spPr>
        <p:txBody>
          <a:bodyPr wrap="square" lIns="152400" tIns="177800" rIns="152400" bIns="152400" anchor="t">
            <a:noAutofit/>
          </a:bodyPr>
          <a:lstStyle/>
          <a:p>
            <a:pPr algn="l">
              <a:spcBef>
                <a:spcPts val="0"/>
              </a:spcBef>
              <a:buNone/>
            </a:pPr>
            <a:r>
              <a:rPr lang="en-US" sz="1400" dirty="0">
                <a:solidFill>
                  <a:srgbClr val="595959"/>
                </a:solidFill>
              </a:rPr>
              <a:t>Step 1</a:t>
            </a:r>
          </a:p>
          <a:p>
            <a:pPr algn="l">
              <a:spcBef>
                <a:spcPts val="600"/>
              </a:spcBef>
              <a:buNone/>
            </a:pPr>
            <a:r>
              <a:rPr lang="en-US" sz="1800" b="1" dirty="0">
                <a:solidFill>
                  <a:srgbClr val="262626"/>
                </a:solidFill>
              </a:rPr>
              <a:t>Remove duplicates</a:t>
            </a:r>
          </a:p>
          <a:p>
            <a:pPr algn="l">
              <a:spcBef>
                <a:spcPts val="1200"/>
              </a:spcBef>
              <a:buNone/>
            </a:pPr>
            <a:r>
              <a:rPr lang="en-US" sz="1600" dirty="0">
                <a:solidFill>
                  <a:srgbClr val="262626"/>
                </a:solidFill>
              </a:rPr>
              <a:t>3.54M → 2.61M connections</a:t>
            </a:r>
          </a:p>
        </p:txBody>
      </p:sp>
      <p:cxnSp>
        <p:nvCxnSpPr>
          <p:cNvPr id="42" name="Arrow 42"/>
          <p:cNvCxnSpPr/>
          <p:nvPr/>
        </p:nvCxnSpPr>
        <p:spPr>
          <a:xfrm>
            <a:off x="2578100" y="3873500"/>
            <a:ext cx="254000" cy="0"/>
          </a:xfrm>
          <a:prstGeom prst="straightConnector1">
            <a:avLst/>
          </a:prstGeom>
          <a:ln w="12700">
            <a:solidFill>
              <a:srgbClr val="7F7F7F"/>
            </a:solidFill>
            <a:tailEnd type="triangle" w="med" len="med"/>
          </a:ln>
        </p:spPr>
      </p:cxnSp>
      <p:sp>
        <p:nvSpPr>
          <p:cNvPr id="43" name="Step 43"/>
          <p:cNvSpPr/>
          <p:nvPr/>
        </p:nvSpPr>
        <p:spPr>
          <a:xfrm>
            <a:off x="2870200" y="2540000"/>
            <a:ext cx="1930400" cy="2667000"/>
          </a:xfrm>
          <a:prstGeom prst="rect">
            <a:avLst/>
          </a:prstGeom>
          <a:noFill/>
          <a:ln w="9525">
            <a:solidFill>
              <a:srgbClr val="A6A6A6"/>
            </a:solidFill>
          </a:ln>
        </p:spPr>
        <p:txBody>
          <a:bodyPr wrap="square" lIns="152400" tIns="177800" rIns="152400" bIns="152400" anchor="t">
            <a:noAutofit/>
          </a:bodyPr>
          <a:lstStyle/>
          <a:p>
            <a:pPr algn="l">
              <a:spcBef>
                <a:spcPts val="0"/>
              </a:spcBef>
              <a:buNone/>
            </a:pPr>
            <a:r>
              <a:rPr lang="en-US" sz="1400" dirty="0">
                <a:solidFill>
                  <a:srgbClr val="595959"/>
                </a:solidFill>
              </a:rPr>
              <a:t>Step 2</a:t>
            </a:r>
          </a:p>
          <a:p>
            <a:pPr algn="l">
              <a:spcBef>
                <a:spcPts val="600"/>
              </a:spcBef>
              <a:buNone/>
            </a:pPr>
            <a:r>
              <a:rPr lang="en-US" sz="1800" b="1" dirty="0">
                <a:solidFill>
                  <a:srgbClr val="262626"/>
                </a:solidFill>
              </a:rPr>
              <a:t>Drop fixed features</a:t>
            </a:r>
          </a:p>
          <a:p>
            <a:pPr algn="l">
              <a:spcBef>
                <a:spcPts val="1200"/>
              </a:spcBef>
              <a:buNone/>
            </a:pPr>
            <a:r>
              <a:rPr lang="en-US" sz="1600" dirty="0">
                <a:solidFill>
                  <a:srgbClr val="262626"/>
                </a:solidFill>
              </a:rPr>
              <a:t>76 → 67 features, removing ones that never change</a:t>
            </a:r>
          </a:p>
        </p:txBody>
      </p:sp>
      <p:cxnSp>
        <p:nvCxnSpPr>
          <p:cNvPr id="44" name="Arrow 44"/>
          <p:cNvCxnSpPr/>
          <p:nvPr/>
        </p:nvCxnSpPr>
        <p:spPr>
          <a:xfrm>
            <a:off x="4838700" y="3873500"/>
            <a:ext cx="254000" cy="0"/>
          </a:xfrm>
          <a:prstGeom prst="straightConnector1">
            <a:avLst/>
          </a:prstGeom>
          <a:ln w="12700">
            <a:solidFill>
              <a:srgbClr val="7F7F7F"/>
            </a:solidFill>
            <a:tailEnd type="triangle" w="med" len="med"/>
          </a:ln>
        </p:spPr>
      </p:cxnSp>
      <p:sp>
        <p:nvSpPr>
          <p:cNvPr id="45" name="Step 45"/>
          <p:cNvSpPr/>
          <p:nvPr/>
        </p:nvSpPr>
        <p:spPr>
          <a:xfrm>
            <a:off x="5130800" y="2540000"/>
            <a:ext cx="1930400" cy="2667000"/>
          </a:xfrm>
          <a:prstGeom prst="rect">
            <a:avLst/>
          </a:prstGeom>
          <a:noFill/>
          <a:ln w="9525">
            <a:solidFill>
              <a:srgbClr val="A6A6A6"/>
            </a:solidFill>
          </a:ln>
        </p:spPr>
        <p:txBody>
          <a:bodyPr wrap="square" lIns="152400" tIns="177800" rIns="152400" bIns="152400" anchor="t">
            <a:noAutofit/>
          </a:bodyPr>
          <a:lstStyle/>
          <a:p>
            <a:pPr algn="l">
              <a:spcBef>
                <a:spcPts val="0"/>
              </a:spcBef>
              <a:buNone/>
            </a:pPr>
            <a:r>
              <a:rPr lang="en-US" sz="1400" dirty="0">
                <a:solidFill>
                  <a:srgbClr val="595959"/>
                </a:solidFill>
              </a:rPr>
              <a:t>Step 3</a:t>
            </a:r>
          </a:p>
          <a:p>
            <a:pPr algn="l">
              <a:spcBef>
                <a:spcPts val="600"/>
              </a:spcBef>
              <a:buNone/>
            </a:pPr>
            <a:r>
              <a:rPr lang="en-US" sz="1800" b="1" dirty="0">
                <a:solidFill>
                  <a:srgbClr val="262626"/>
                </a:solidFill>
              </a:rPr>
              <a:t>Drop overlaps</a:t>
            </a:r>
          </a:p>
          <a:p>
            <a:pPr algn="l">
              <a:spcBef>
                <a:spcPts val="1200"/>
              </a:spcBef>
              <a:buNone/>
            </a:pPr>
            <a:r>
              <a:rPr lang="en-US" sz="1600" dirty="0">
                <a:solidFill>
                  <a:srgbClr val="262626"/>
                </a:solidFill>
              </a:rPr>
              <a:t>67 → 43 features, removing ones that repeat others</a:t>
            </a:r>
          </a:p>
        </p:txBody>
      </p:sp>
      <p:cxnSp>
        <p:nvCxnSpPr>
          <p:cNvPr id="46" name="Arrow 46"/>
          <p:cNvCxnSpPr/>
          <p:nvPr/>
        </p:nvCxnSpPr>
        <p:spPr>
          <a:xfrm>
            <a:off x="7099300" y="3873500"/>
            <a:ext cx="254000" cy="0"/>
          </a:xfrm>
          <a:prstGeom prst="straightConnector1">
            <a:avLst/>
          </a:prstGeom>
          <a:ln w="12700">
            <a:solidFill>
              <a:srgbClr val="7F7F7F"/>
            </a:solidFill>
            <a:tailEnd type="triangle" w="med" len="med"/>
          </a:ln>
        </p:spPr>
      </p:cxnSp>
      <p:sp>
        <p:nvSpPr>
          <p:cNvPr id="47" name="Step 47"/>
          <p:cNvSpPr/>
          <p:nvPr/>
        </p:nvSpPr>
        <p:spPr>
          <a:xfrm>
            <a:off x="7391400" y="2540000"/>
            <a:ext cx="1930400" cy="2667000"/>
          </a:xfrm>
          <a:prstGeom prst="rect">
            <a:avLst/>
          </a:prstGeom>
          <a:noFill/>
          <a:ln w="9525">
            <a:solidFill>
              <a:srgbClr val="A6A6A6"/>
            </a:solidFill>
          </a:ln>
        </p:spPr>
        <p:txBody>
          <a:bodyPr wrap="square" lIns="152400" tIns="177800" rIns="152400" bIns="152400" anchor="t">
            <a:noAutofit/>
          </a:bodyPr>
          <a:lstStyle/>
          <a:p>
            <a:pPr algn="l">
              <a:spcBef>
                <a:spcPts val="0"/>
              </a:spcBef>
              <a:buNone/>
            </a:pPr>
            <a:r>
              <a:rPr lang="en-US" sz="1400" dirty="0">
                <a:solidFill>
                  <a:srgbClr val="595959"/>
                </a:solidFill>
              </a:rPr>
              <a:t>Step 4</a:t>
            </a:r>
          </a:p>
          <a:p>
            <a:pPr algn="l">
              <a:spcBef>
                <a:spcPts val="600"/>
              </a:spcBef>
              <a:buNone/>
            </a:pPr>
            <a:r>
              <a:rPr lang="en-US" sz="1800" b="1" dirty="0">
                <a:solidFill>
                  <a:srgbClr val="262626"/>
                </a:solidFill>
              </a:rPr>
              <a:t>Split 80/20</a:t>
            </a:r>
          </a:p>
          <a:p>
            <a:pPr algn="l">
              <a:spcBef>
                <a:spcPts val="1200"/>
              </a:spcBef>
              <a:buNone/>
            </a:pPr>
            <a:r>
              <a:rPr lang="en-US" sz="1600" dirty="0">
                <a:solidFill>
                  <a:srgbClr val="262626"/>
                </a:solidFill>
              </a:rPr>
              <a:t>2.09M for training, 0.52M for testing</a:t>
            </a:r>
          </a:p>
        </p:txBody>
      </p:sp>
      <p:cxnSp>
        <p:nvCxnSpPr>
          <p:cNvPr id="48" name="Arrow 48"/>
          <p:cNvCxnSpPr/>
          <p:nvPr/>
        </p:nvCxnSpPr>
        <p:spPr>
          <a:xfrm>
            <a:off x="9359900" y="3873500"/>
            <a:ext cx="254000" cy="0"/>
          </a:xfrm>
          <a:prstGeom prst="straightConnector1">
            <a:avLst/>
          </a:prstGeom>
          <a:ln w="12700">
            <a:solidFill>
              <a:srgbClr val="7F7F7F"/>
            </a:solidFill>
            <a:tailEnd type="triangle" w="med" len="med"/>
          </a:ln>
        </p:spPr>
      </p:cxnSp>
      <p:sp>
        <p:nvSpPr>
          <p:cNvPr id="49" name="Step 49"/>
          <p:cNvSpPr/>
          <p:nvPr/>
        </p:nvSpPr>
        <p:spPr>
          <a:xfrm>
            <a:off x="9652000" y="2540000"/>
            <a:ext cx="1930400" cy="2667000"/>
          </a:xfrm>
          <a:prstGeom prst="rect">
            <a:avLst/>
          </a:prstGeom>
          <a:noFill/>
          <a:ln w="9525">
            <a:solidFill>
              <a:srgbClr val="A6A6A6"/>
            </a:solidFill>
          </a:ln>
        </p:spPr>
        <p:txBody>
          <a:bodyPr wrap="square" lIns="152400" tIns="177800" rIns="152400" bIns="152400" anchor="t">
            <a:noAutofit/>
          </a:bodyPr>
          <a:lstStyle/>
          <a:p>
            <a:pPr algn="l">
              <a:spcBef>
                <a:spcPts val="0"/>
              </a:spcBef>
              <a:buNone/>
            </a:pPr>
            <a:r>
              <a:rPr lang="en-US" sz="1400" dirty="0">
                <a:solidFill>
                  <a:srgbClr val="595959"/>
                </a:solidFill>
              </a:rPr>
              <a:t>Step 5</a:t>
            </a:r>
          </a:p>
          <a:p>
            <a:pPr algn="l">
              <a:spcBef>
                <a:spcPts val="600"/>
              </a:spcBef>
              <a:buNone/>
            </a:pPr>
            <a:r>
              <a:rPr lang="en-US" sz="1800" b="1" dirty="0">
                <a:solidFill>
                  <a:srgbClr val="262626"/>
                </a:solidFill>
              </a:rPr>
              <a:t>Add new features</a:t>
            </a:r>
          </a:p>
          <a:p>
            <a:pPr algn="l">
              <a:spcBef>
                <a:spcPts val="1200"/>
              </a:spcBef>
              <a:buNone/>
            </a:pPr>
            <a:r>
              <a:rPr lang="en-US" sz="1600" dirty="0">
                <a:solidFill>
                  <a:srgbClr val="262626"/>
                </a:solidFill>
              </a:rPr>
              <a:t>43 → 99 features (31 behaviour, 25 service)</a:t>
            </a:r>
          </a:p>
        </p:txBody>
      </p:sp>
    </p:spTree>
    <p:extLst>
      <p:ext uri="{BB962C8B-B14F-4D97-AF65-F5344CB8AC3E}">
        <p14:creationId xmlns:p14="http://schemas.microsoft.com/office/powerpoint/2010/main" val="2381091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4593-151F-C7C8-8198-654593B6D1B5}"/>
              </a:ext>
            </a:extLst>
          </p:cNvPr>
          <p:cNvSpPr>
            <a:spLocks noGrp="1"/>
          </p:cNvSpPr>
          <p:nvPr>
            <p:ph type="title"/>
          </p:nvPr>
        </p:nvSpPr>
        <p:spPr/>
        <p:txBody>
          <a:bodyPr>
            <a:normAutofit/>
          </a:bodyPr>
          <a:lstStyle/>
          <a:p>
            <a:r>
              <a:rPr lang="en-US" dirty="0"/>
              <a:t>Our Proposed Model</a:t>
            </a:r>
          </a:p>
          <a:p>
            <a:pPr>
              <a:spcBef>
                <a:spcPts val="200"/>
              </a:spcBef>
            </a:pPr>
            <a:r>
              <a:rPr lang="en-US" sz="1600" b="0" dirty="0">
                <a:solidFill>
                  <a:srgbClr val="595959"/>
                </a:solidFill>
              </a:rPr>
              <a:t>First check whether traffic is an attack, then identify which type of attack it is</a:t>
            </a:r>
          </a:p>
        </p:txBody>
      </p:sp>
      <p:sp>
        <p:nvSpPr>
          <p:cNvPr id="200" name="Slide Number"/>
          <p:cNvSpPr>
            <a:spLocks noGrp="1"/>
          </p:cNvSpPr>
          <p:nvPr>
            <p:ph type="sldNum" sz="quarter" idx="12"/>
          </p:nvPr>
        </p:nvSpPr>
        <p:spPr/>
        <p:txBody>
          <a:bodyPr/>
          <a:lstStyle/>
          <a:p>
            <a:fld id="{C7F0390B-6E29-48DF-B134-99D6A0365BB5}" type="slidenum">
              <a:rPr lang="en-US"/>
              <a:t>9</a:t>
            </a:fld>
            <a:endParaRPr lang="en-US"/>
          </a:p>
        </p:txBody>
      </p:sp>
      <p:sp>
        <p:nvSpPr>
          <p:cNvPr id="40" name="Shape 40"/>
          <p:cNvSpPr/>
          <p:nvPr/>
        </p:nvSpPr>
        <p:spPr>
          <a:xfrm>
            <a:off x="609600" y="1651000"/>
            <a:ext cx="1778000" cy="3327400"/>
          </a:xfrm>
          <a:prstGeom prst="rect">
            <a:avLst/>
          </a:prstGeom>
          <a:solidFill>
            <a:srgbClr val="EEF2F8"/>
          </a:solidFill>
          <a:ln>
            <a:noFill/>
          </a:ln>
        </p:spPr>
        <p:txBody>
          <a:bodyPr wrap="square" lIns="0" tIns="0" rIns="0" bIns="0" anchor="t">
            <a:noAutofit/>
          </a:bodyPr>
          <a:lstStyle/>
          <a:p>
            <a:endParaRPr lang="en-US"/>
          </a:p>
        </p:txBody>
      </p:sp>
      <p:sp>
        <p:nvSpPr>
          <p:cNvPr id="41" name="Shape 41"/>
          <p:cNvSpPr txBox="1"/>
          <p:nvPr/>
        </p:nvSpPr>
        <p:spPr>
          <a:xfrm>
            <a:off x="787400" y="1828800"/>
            <a:ext cx="1422400" cy="228600"/>
          </a:xfrm>
          <a:prstGeom prst="rect">
            <a:avLst/>
          </a:prstGeom>
          <a:noFill/>
          <a:ln>
            <a:noFill/>
          </a:ln>
        </p:spPr>
        <p:txBody>
          <a:bodyPr wrap="square" lIns="0" tIns="0" rIns="0" bIns="0" anchor="t">
            <a:noAutofit/>
          </a:bodyPr>
          <a:lstStyle/>
          <a:p>
            <a:pPr algn="l">
              <a:lnSpc>
                <a:spcPct val="100000"/>
              </a:lnSpc>
              <a:spcBef>
                <a:spcPts val="0"/>
              </a:spcBef>
              <a:buNone/>
            </a:pPr>
            <a:r>
              <a:rPr lang="en-US" sz="1300" b="1" spc="100" dirty="0">
                <a:solidFill>
                  <a:srgbClr val="4A66AC"/>
                </a:solidFill>
              </a:rPr>
              <a:t>INPUT</a:t>
            </a:r>
          </a:p>
        </p:txBody>
      </p:sp>
      <p:sp>
        <p:nvSpPr>
          <p:cNvPr id="42" name="Shape 42"/>
          <p:cNvSpPr txBox="1"/>
          <p:nvPr/>
        </p:nvSpPr>
        <p:spPr>
          <a:xfrm>
            <a:off x="787400" y="2133600"/>
            <a:ext cx="1422400" cy="762000"/>
          </a:xfrm>
          <a:prstGeom prst="rect">
            <a:avLst/>
          </a:prstGeom>
          <a:noFill/>
          <a:ln>
            <a:noFill/>
          </a:ln>
        </p:spPr>
        <p:txBody>
          <a:bodyPr wrap="square" lIns="0" tIns="0" rIns="0" bIns="0" anchor="t">
            <a:noAutofit/>
          </a:bodyPr>
          <a:lstStyle/>
          <a:p>
            <a:pPr algn="l">
              <a:lnSpc>
                <a:spcPct val="95000"/>
              </a:lnSpc>
              <a:spcBef>
                <a:spcPts val="0"/>
              </a:spcBef>
              <a:buNone/>
            </a:pPr>
            <a:r>
              <a:rPr lang="en-US" sz="1700" b="1" dirty="0">
                <a:solidFill>
                  <a:srgbClr val="404040"/>
                </a:solidFill>
                <a:latin typeface="+mj-lt"/>
              </a:rPr>
              <a:t>Flow record</a:t>
            </a:r>
          </a:p>
        </p:txBody>
      </p:sp>
      <p:sp>
        <p:nvSpPr>
          <p:cNvPr id="43" name="Shape 43"/>
          <p:cNvSpPr txBox="1"/>
          <p:nvPr/>
        </p:nvSpPr>
        <p:spPr>
          <a:xfrm>
            <a:off x="787400" y="2540000"/>
            <a:ext cx="1422400" cy="177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One network connection, described by 99 features</a:t>
            </a:r>
          </a:p>
        </p:txBody>
      </p:sp>
      <p:cxnSp>
        <p:nvCxnSpPr>
          <p:cNvPr id="44" name="Arrow 44"/>
          <p:cNvCxnSpPr/>
          <p:nvPr/>
        </p:nvCxnSpPr>
        <p:spPr>
          <a:xfrm>
            <a:off x="2387600" y="2540000"/>
            <a:ext cx="254000" cy="0"/>
          </a:xfrm>
          <a:prstGeom prst="straightConnector1">
            <a:avLst/>
          </a:prstGeom>
          <a:ln w="19050">
            <a:solidFill>
              <a:srgbClr val="7F8FA9"/>
            </a:solidFill>
            <a:tailEnd type="triangle" w="med" len="med"/>
          </a:ln>
        </p:spPr>
      </p:cxnSp>
      <p:sp>
        <p:nvSpPr>
          <p:cNvPr id="45" name="Shape 45"/>
          <p:cNvSpPr/>
          <p:nvPr/>
        </p:nvSpPr>
        <p:spPr>
          <a:xfrm>
            <a:off x="2667000" y="1651000"/>
            <a:ext cx="2032000" cy="2286000"/>
          </a:xfrm>
          <a:prstGeom prst="rect">
            <a:avLst/>
          </a:prstGeom>
          <a:solidFill>
            <a:srgbClr val="404040"/>
          </a:solidFill>
          <a:ln>
            <a:noFill/>
          </a:ln>
        </p:spPr>
        <p:txBody>
          <a:bodyPr wrap="square" lIns="0" tIns="0" rIns="0" bIns="0" anchor="t">
            <a:noAutofit/>
          </a:bodyPr>
          <a:lstStyle/>
          <a:p>
            <a:endParaRPr lang="en-US"/>
          </a:p>
        </p:txBody>
      </p:sp>
      <p:sp>
        <p:nvSpPr>
          <p:cNvPr id="46" name="Shape 46"/>
          <p:cNvSpPr txBox="1"/>
          <p:nvPr/>
        </p:nvSpPr>
        <p:spPr>
          <a:xfrm>
            <a:off x="2844800" y="1828800"/>
            <a:ext cx="1676400" cy="228600"/>
          </a:xfrm>
          <a:prstGeom prst="rect">
            <a:avLst/>
          </a:prstGeom>
          <a:noFill/>
          <a:ln>
            <a:noFill/>
          </a:ln>
        </p:spPr>
        <p:txBody>
          <a:bodyPr wrap="square" lIns="0" tIns="0" rIns="0" bIns="0" anchor="t">
            <a:noAutofit/>
          </a:bodyPr>
          <a:lstStyle/>
          <a:p>
            <a:pPr algn="l">
              <a:lnSpc>
                <a:spcPct val="100000"/>
              </a:lnSpc>
              <a:spcBef>
                <a:spcPts val="0"/>
              </a:spcBef>
              <a:buNone/>
            </a:pPr>
            <a:r>
              <a:rPr lang="en-US" sz="1300" b="1" spc="100" dirty="0">
                <a:solidFill>
                  <a:srgbClr val="ACCBF9"/>
                </a:solidFill>
              </a:rPr>
              <a:t>STAGE A</a:t>
            </a:r>
          </a:p>
        </p:txBody>
      </p:sp>
      <p:sp>
        <p:nvSpPr>
          <p:cNvPr id="47" name="Shape 47"/>
          <p:cNvSpPr txBox="1"/>
          <p:nvPr/>
        </p:nvSpPr>
        <p:spPr>
          <a:xfrm>
            <a:off x="2844800" y="2133600"/>
            <a:ext cx="1676400" cy="635000"/>
          </a:xfrm>
          <a:prstGeom prst="rect">
            <a:avLst/>
          </a:prstGeom>
          <a:noFill/>
          <a:ln>
            <a:noFill/>
          </a:ln>
        </p:spPr>
        <p:txBody>
          <a:bodyPr wrap="square" lIns="0" tIns="0" rIns="0" bIns="0" anchor="t">
            <a:noAutofit/>
          </a:bodyPr>
          <a:lstStyle/>
          <a:p>
            <a:pPr algn="l">
              <a:lnSpc>
                <a:spcPct val="100000"/>
              </a:lnSpc>
              <a:spcBef>
                <a:spcPts val="0"/>
              </a:spcBef>
              <a:buNone/>
            </a:pPr>
            <a:r>
              <a:rPr lang="en-US" sz="1700" b="1" dirty="0">
                <a:solidFill>
                  <a:srgbClr val="FFFFFF"/>
                </a:solidFill>
                <a:latin typeface="+mj-lt"/>
              </a:rPr>
              <a:t>Detection gate</a:t>
            </a:r>
          </a:p>
        </p:txBody>
      </p:sp>
      <p:sp>
        <p:nvSpPr>
          <p:cNvPr id="48" name="Shape 48"/>
          <p:cNvSpPr txBox="1"/>
          <p:nvPr/>
        </p:nvSpPr>
        <p:spPr>
          <a:xfrm>
            <a:off x="2844800" y="2540000"/>
            <a:ext cx="1676400" cy="12192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D9DEE3"/>
                </a:solidFill>
              </a:rPr>
              <a:t>An XGBoost model flags a connection as an attack when it is over 70% sure</a:t>
            </a:r>
          </a:p>
        </p:txBody>
      </p:sp>
      <p:cxnSp>
        <p:nvCxnSpPr>
          <p:cNvPr id="49" name="Arrow 49"/>
          <p:cNvCxnSpPr/>
          <p:nvPr/>
        </p:nvCxnSpPr>
        <p:spPr>
          <a:xfrm>
            <a:off x="3683000" y="3937000"/>
            <a:ext cx="0" cy="431800"/>
          </a:xfrm>
          <a:prstGeom prst="straightConnector1">
            <a:avLst/>
          </a:prstGeom>
          <a:ln w="19050">
            <a:solidFill>
              <a:srgbClr val="7F8FA9"/>
            </a:solidFill>
            <a:tailEnd type="triangle" w="med" len="med"/>
          </a:ln>
        </p:spPr>
      </p:cxnSp>
      <p:sp>
        <p:nvSpPr>
          <p:cNvPr id="50" name="Shape 50"/>
          <p:cNvSpPr/>
          <p:nvPr/>
        </p:nvSpPr>
        <p:spPr>
          <a:xfrm>
            <a:off x="2921000" y="4394200"/>
            <a:ext cx="1524000" cy="508000"/>
          </a:xfrm>
          <a:prstGeom prst="roundRect">
            <a:avLst/>
          </a:prstGeom>
          <a:noFill/>
          <a:ln w="12700">
            <a:solidFill>
              <a:srgbClr val="A6A6A6"/>
            </a:solidFill>
          </a:ln>
        </p:spPr>
        <p:txBody>
          <a:bodyPr wrap="square" lIns="0" tIns="0" rIns="0" bIns="0" anchor="ctr">
            <a:noAutofit/>
          </a:bodyPr>
          <a:lstStyle/>
          <a:p>
            <a:pPr algn="ctr">
              <a:lnSpc>
                <a:spcPct val="100000"/>
              </a:lnSpc>
              <a:spcBef>
                <a:spcPts val="0"/>
              </a:spcBef>
              <a:buNone/>
            </a:pPr>
            <a:r>
              <a:rPr lang="en-US" sz="1400" b="1" dirty="0">
                <a:solidFill>
                  <a:srgbClr val="404040"/>
                </a:solidFill>
              </a:rPr>
              <a:t>No → Normal</a:t>
            </a:r>
          </a:p>
        </p:txBody>
      </p:sp>
      <p:cxnSp>
        <p:nvCxnSpPr>
          <p:cNvPr id="51" name="Arrow 51"/>
          <p:cNvCxnSpPr/>
          <p:nvPr/>
        </p:nvCxnSpPr>
        <p:spPr>
          <a:xfrm>
            <a:off x="4699000" y="2540000"/>
            <a:ext cx="254000" cy="0"/>
          </a:xfrm>
          <a:prstGeom prst="straightConnector1">
            <a:avLst/>
          </a:prstGeom>
          <a:ln w="19050">
            <a:solidFill>
              <a:srgbClr val="7F8FA9"/>
            </a:solidFill>
            <a:tailEnd type="triangle" w="med" len="med"/>
          </a:ln>
        </p:spPr>
      </p:cxnSp>
      <p:sp>
        <p:nvSpPr>
          <p:cNvPr id="52" name="Shape 52"/>
          <p:cNvSpPr txBox="1"/>
          <p:nvPr/>
        </p:nvSpPr>
        <p:spPr>
          <a:xfrm>
            <a:off x="4724400" y="2209800"/>
            <a:ext cx="228600" cy="228600"/>
          </a:xfrm>
          <a:prstGeom prst="rect">
            <a:avLst/>
          </a:prstGeom>
          <a:noFill/>
          <a:ln>
            <a:noFill/>
          </a:ln>
        </p:spPr>
        <p:txBody>
          <a:bodyPr wrap="square" lIns="0" tIns="0" rIns="0" bIns="0" anchor="t">
            <a:noAutofit/>
          </a:bodyPr>
          <a:lstStyle/>
          <a:p>
            <a:pPr algn="l">
              <a:lnSpc>
                <a:spcPct val="100000"/>
              </a:lnSpc>
              <a:spcBef>
                <a:spcPts val="0"/>
              </a:spcBef>
              <a:buNone/>
            </a:pPr>
            <a:endParaRPr/>
          </a:p>
        </p:txBody>
      </p:sp>
      <p:sp>
        <p:nvSpPr>
          <p:cNvPr id="53" name="Shape 53"/>
          <p:cNvSpPr/>
          <p:nvPr/>
        </p:nvSpPr>
        <p:spPr>
          <a:xfrm>
            <a:off x="4978400" y="1651000"/>
            <a:ext cx="4064000" cy="3327400"/>
          </a:xfrm>
          <a:prstGeom prst="rect">
            <a:avLst/>
          </a:prstGeom>
          <a:solidFill>
            <a:srgbClr val="EEF2F8"/>
          </a:solidFill>
          <a:ln>
            <a:noFill/>
          </a:ln>
        </p:spPr>
        <p:txBody>
          <a:bodyPr wrap="square" lIns="0" tIns="0" rIns="0" bIns="0" anchor="t">
            <a:noAutofit/>
          </a:bodyPr>
          <a:lstStyle/>
          <a:p>
            <a:endParaRPr lang="en-US"/>
          </a:p>
        </p:txBody>
      </p:sp>
      <p:sp>
        <p:nvSpPr>
          <p:cNvPr id="54" name="Shape 54"/>
          <p:cNvSpPr txBox="1"/>
          <p:nvPr/>
        </p:nvSpPr>
        <p:spPr>
          <a:xfrm>
            <a:off x="5156200" y="1828800"/>
            <a:ext cx="3708400" cy="228600"/>
          </a:xfrm>
          <a:prstGeom prst="rect">
            <a:avLst/>
          </a:prstGeom>
          <a:noFill/>
          <a:ln>
            <a:noFill/>
          </a:ln>
        </p:spPr>
        <p:txBody>
          <a:bodyPr wrap="square" lIns="0" tIns="0" rIns="0" bIns="0" anchor="t">
            <a:noAutofit/>
          </a:bodyPr>
          <a:lstStyle/>
          <a:p>
            <a:pPr algn="l">
              <a:lnSpc>
                <a:spcPct val="100000"/>
              </a:lnSpc>
              <a:spcBef>
                <a:spcPts val="0"/>
              </a:spcBef>
              <a:buNone/>
            </a:pPr>
            <a:r>
              <a:rPr lang="en-US" sz="1300" b="1" spc="100" dirty="0">
                <a:solidFill>
                  <a:srgbClr val="4A66AC"/>
                </a:solidFill>
              </a:rPr>
              <a:t>STAGE B</a:t>
            </a:r>
          </a:p>
        </p:txBody>
      </p:sp>
      <p:sp>
        <p:nvSpPr>
          <p:cNvPr id="55" name="Shape 55"/>
          <p:cNvSpPr txBox="1"/>
          <p:nvPr/>
        </p:nvSpPr>
        <p:spPr>
          <a:xfrm>
            <a:off x="5156200" y="2133600"/>
            <a:ext cx="3708400" cy="381000"/>
          </a:xfrm>
          <a:prstGeom prst="rect">
            <a:avLst/>
          </a:prstGeom>
          <a:noFill/>
          <a:ln>
            <a:noFill/>
          </a:ln>
        </p:spPr>
        <p:txBody>
          <a:bodyPr wrap="square" lIns="0" tIns="0" rIns="0" bIns="0" anchor="t">
            <a:noAutofit/>
          </a:bodyPr>
          <a:lstStyle/>
          <a:p>
            <a:pPr algn="l">
              <a:lnSpc>
                <a:spcPct val="100000"/>
              </a:lnSpc>
              <a:spcBef>
                <a:spcPts val="0"/>
              </a:spcBef>
              <a:buNone/>
            </a:pPr>
            <a:r>
              <a:rPr lang="en-US" sz="1700" b="1" dirty="0">
                <a:solidFill>
                  <a:srgbClr val="404040"/>
                </a:solidFill>
                <a:latin typeface="+mj-lt"/>
              </a:rPr>
              <a:t>Attack-type ensemble</a:t>
            </a:r>
          </a:p>
        </p:txBody>
      </p:sp>
      <p:sp>
        <p:nvSpPr>
          <p:cNvPr id="56" name="Shape 56"/>
          <p:cNvSpPr/>
          <p:nvPr/>
        </p:nvSpPr>
        <p:spPr>
          <a:xfrm>
            <a:off x="5156200" y="2667000"/>
            <a:ext cx="850900" cy="508000"/>
          </a:xfrm>
          <a:prstGeom prst="rect">
            <a:avLst/>
          </a:prstGeom>
          <a:solidFill>
            <a:srgbClr val="DCE4F2"/>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XGB</a:t>
            </a:r>
          </a:p>
          <a:p>
            <a:pPr algn="ctr">
              <a:lnSpc>
                <a:spcPct val="100000"/>
              </a:lnSpc>
              <a:spcBef>
                <a:spcPts val="0"/>
              </a:spcBef>
              <a:buNone/>
            </a:pPr>
            <a:r>
              <a:rPr lang="en-US" sz="1300" dirty="0">
                <a:solidFill>
                  <a:srgbClr val="262626"/>
                </a:solidFill>
              </a:rPr>
              <a:t>α = 0</a:t>
            </a:r>
          </a:p>
        </p:txBody>
      </p:sp>
      <p:sp>
        <p:nvSpPr>
          <p:cNvPr id="57" name="Shape 57"/>
          <p:cNvSpPr/>
          <p:nvPr/>
        </p:nvSpPr>
        <p:spPr>
          <a:xfrm>
            <a:off x="6083300" y="2667000"/>
            <a:ext cx="850900" cy="508000"/>
          </a:xfrm>
          <a:prstGeom prst="rect">
            <a:avLst/>
          </a:prstGeom>
          <a:solidFill>
            <a:srgbClr val="DCE4F2"/>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XGB</a:t>
            </a:r>
          </a:p>
          <a:p>
            <a:pPr algn="ctr">
              <a:lnSpc>
                <a:spcPct val="100000"/>
              </a:lnSpc>
              <a:spcBef>
                <a:spcPts val="0"/>
              </a:spcBef>
              <a:buNone/>
            </a:pPr>
            <a:r>
              <a:rPr lang="en-US" sz="1300" dirty="0">
                <a:solidFill>
                  <a:srgbClr val="262626"/>
                </a:solidFill>
              </a:rPr>
              <a:t>α = 0.25</a:t>
            </a:r>
          </a:p>
        </p:txBody>
      </p:sp>
      <p:sp>
        <p:nvSpPr>
          <p:cNvPr id="58" name="Shape 58"/>
          <p:cNvSpPr/>
          <p:nvPr/>
        </p:nvSpPr>
        <p:spPr>
          <a:xfrm>
            <a:off x="7010400" y="2667000"/>
            <a:ext cx="850900" cy="508000"/>
          </a:xfrm>
          <a:prstGeom prst="rect">
            <a:avLst/>
          </a:prstGeom>
          <a:solidFill>
            <a:srgbClr val="DCE4F2"/>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XGB</a:t>
            </a:r>
          </a:p>
          <a:p>
            <a:pPr algn="ctr">
              <a:lnSpc>
                <a:spcPct val="100000"/>
              </a:lnSpc>
              <a:spcBef>
                <a:spcPts val="0"/>
              </a:spcBef>
              <a:buNone/>
            </a:pPr>
            <a:r>
              <a:rPr lang="en-US" sz="1300" dirty="0">
                <a:solidFill>
                  <a:srgbClr val="262626"/>
                </a:solidFill>
              </a:rPr>
              <a:t>α = 0.5</a:t>
            </a:r>
          </a:p>
        </p:txBody>
      </p:sp>
      <p:sp>
        <p:nvSpPr>
          <p:cNvPr id="59" name="Shape 59"/>
          <p:cNvSpPr/>
          <p:nvPr/>
        </p:nvSpPr>
        <p:spPr>
          <a:xfrm>
            <a:off x="7937500" y="2667000"/>
            <a:ext cx="850900" cy="508000"/>
          </a:xfrm>
          <a:prstGeom prst="rect">
            <a:avLst/>
          </a:prstGeom>
          <a:solidFill>
            <a:srgbClr val="DCE4F2"/>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XGB</a:t>
            </a:r>
          </a:p>
          <a:p>
            <a:pPr algn="ctr">
              <a:lnSpc>
                <a:spcPct val="100000"/>
              </a:lnSpc>
              <a:spcBef>
                <a:spcPts val="0"/>
              </a:spcBef>
              <a:buNone/>
            </a:pPr>
            <a:r>
              <a:rPr lang="en-US" sz="1300" dirty="0">
                <a:solidFill>
                  <a:srgbClr val="262626"/>
                </a:solidFill>
              </a:rPr>
              <a:t>α = 1</a:t>
            </a:r>
          </a:p>
        </p:txBody>
      </p:sp>
      <p:sp>
        <p:nvSpPr>
          <p:cNvPr id="60" name="Shape 60"/>
          <p:cNvSpPr/>
          <p:nvPr/>
        </p:nvSpPr>
        <p:spPr>
          <a:xfrm>
            <a:off x="5156200" y="3276600"/>
            <a:ext cx="1168400" cy="508000"/>
          </a:xfrm>
          <a:prstGeom prst="rect">
            <a:avLst/>
          </a:prstGeom>
          <a:solidFill>
            <a:srgbClr val="E4E8EC"/>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XGB + capped</a:t>
            </a:r>
          </a:p>
          <a:p>
            <a:pPr algn="ctr">
              <a:lnSpc>
                <a:spcPct val="100000"/>
              </a:lnSpc>
              <a:spcBef>
                <a:spcPts val="0"/>
              </a:spcBef>
              <a:buNone/>
            </a:pPr>
            <a:r>
              <a:rPr lang="en-US" sz="1300" dirty="0">
                <a:solidFill>
                  <a:srgbClr val="262626"/>
                </a:solidFill>
              </a:rPr>
              <a:t>SMOTE</a:t>
            </a:r>
          </a:p>
        </p:txBody>
      </p:sp>
      <p:sp>
        <p:nvSpPr>
          <p:cNvPr id="61" name="Shape 61"/>
          <p:cNvSpPr/>
          <p:nvPr/>
        </p:nvSpPr>
        <p:spPr>
          <a:xfrm>
            <a:off x="6400800" y="3276600"/>
            <a:ext cx="1168400" cy="508000"/>
          </a:xfrm>
          <a:prstGeom prst="rect">
            <a:avLst/>
          </a:prstGeom>
          <a:solidFill>
            <a:srgbClr val="E4E8EC"/>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Random</a:t>
            </a:r>
          </a:p>
          <a:p>
            <a:pPr algn="ctr">
              <a:lnSpc>
                <a:spcPct val="100000"/>
              </a:lnSpc>
              <a:spcBef>
                <a:spcPts val="0"/>
              </a:spcBef>
              <a:buNone/>
            </a:pPr>
            <a:r>
              <a:rPr lang="en-US" sz="1300" dirty="0">
                <a:solidFill>
                  <a:srgbClr val="262626"/>
                </a:solidFill>
              </a:rPr>
              <a:t>forest</a:t>
            </a:r>
          </a:p>
        </p:txBody>
      </p:sp>
      <p:sp>
        <p:nvSpPr>
          <p:cNvPr id="62" name="Shape 62"/>
          <p:cNvSpPr/>
          <p:nvPr/>
        </p:nvSpPr>
        <p:spPr>
          <a:xfrm>
            <a:off x="7645400" y="3276600"/>
            <a:ext cx="1168400" cy="508000"/>
          </a:xfrm>
          <a:prstGeom prst="rect">
            <a:avLst/>
          </a:prstGeom>
          <a:solidFill>
            <a:srgbClr val="E4E8EC"/>
          </a:solidFill>
          <a:ln>
            <a:noFill/>
          </a:ln>
        </p:spPr>
        <p:txBody>
          <a:bodyPr wrap="square" lIns="0" tIns="0" rIns="0" bIns="0" anchor="ctr">
            <a:noAutofit/>
          </a:bodyPr>
          <a:lstStyle/>
          <a:p>
            <a:pPr algn="ctr">
              <a:lnSpc>
                <a:spcPct val="100000"/>
              </a:lnSpc>
              <a:spcBef>
                <a:spcPts val="0"/>
              </a:spcBef>
              <a:buNone/>
            </a:pPr>
            <a:r>
              <a:rPr lang="en-US" sz="1300" b="1" dirty="0">
                <a:solidFill>
                  <a:srgbClr val="262626"/>
                </a:solidFill>
              </a:rPr>
              <a:t>Extra</a:t>
            </a:r>
          </a:p>
          <a:p>
            <a:pPr algn="ctr">
              <a:lnSpc>
                <a:spcPct val="100000"/>
              </a:lnSpc>
              <a:spcBef>
                <a:spcPts val="0"/>
              </a:spcBef>
              <a:buNone/>
            </a:pPr>
            <a:r>
              <a:rPr lang="en-US" sz="1300" dirty="0">
                <a:solidFill>
                  <a:srgbClr val="262626"/>
                </a:solidFill>
              </a:rPr>
              <a:t>trees</a:t>
            </a:r>
          </a:p>
        </p:txBody>
      </p:sp>
      <p:sp>
        <p:nvSpPr>
          <p:cNvPr id="63" name="Shape 63"/>
          <p:cNvSpPr/>
          <p:nvPr/>
        </p:nvSpPr>
        <p:spPr>
          <a:xfrm>
            <a:off x="5156200" y="3937000"/>
            <a:ext cx="3708400" cy="863600"/>
          </a:xfrm>
          <a:prstGeom prst="rect">
            <a:avLst/>
          </a:prstGeom>
          <a:solidFill>
            <a:srgbClr val="404040"/>
          </a:solidFill>
          <a:ln>
            <a:noFill/>
          </a:ln>
        </p:spPr>
        <p:txBody>
          <a:bodyPr wrap="square" lIns="152400" tIns="101600" rIns="152400" bIns="101600" anchor="ctr">
            <a:noAutofit/>
          </a:bodyPr>
          <a:lstStyle/>
          <a:p>
            <a:pPr algn="l">
              <a:lnSpc>
                <a:spcPct val="100000"/>
              </a:lnSpc>
              <a:spcBef>
                <a:spcPts val="0"/>
              </a:spcBef>
              <a:buNone/>
            </a:pPr>
            <a:r>
              <a:rPr lang="en-US" sz="1400" b="1" dirty="0">
                <a:solidFill>
                  <a:srgbClr val="FFFFFF"/>
                </a:solidFill>
              </a:rPr>
              <a:t>Hybrid combiner: best of 21 candidate rules</a:t>
            </a:r>
          </a:p>
          <a:p>
            <a:pPr algn="l">
              <a:lnSpc>
                <a:spcPct val="100000"/>
              </a:lnSpc>
              <a:spcBef>
                <a:spcPts val="200"/>
              </a:spcBef>
              <a:buNone/>
            </a:pPr>
            <a:r>
              <a:rPr lang="en-US" sz="1300" dirty="0">
                <a:solidFill>
                  <a:srgbClr val="FFFFFF"/>
                </a:solidFill>
              </a:rPr>
              <a:t>Learned weights (static) × accuracy on 30 similar flows (dynamic)</a:t>
            </a:r>
          </a:p>
        </p:txBody>
      </p:sp>
      <p:cxnSp>
        <p:nvCxnSpPr>
          <p:cNvPr id="64" name="Arrow 64"/>
          <p:cNvCxnSpPr/>
          <p:nvPr/>
        </p:nvCxnSpPr>
        <p:spPr>
          <a:xfrm>
            <a:off x="9042400" y="2540000"/>
            <a:ext cx="254000" cy="0"/>
          </a:xfrm>
          <a:prstGeom prst="straightConnector1">
            <a:avLst/>
          </a:prstGeom>
          <a:ln w="19050">
            <a:solidFill>
              <a:srgbClr val="7F8FA9"/>
            </a:solidFill>
            <a:tailEnd type="triangle" w="med" len="med"/>
          </a:ln>
        </p:spPr>
      </p:cxnSp>
      <p:sp>
        <p:nvSpPr>
          <p:cNvPr id="65" name="Shape 65"/>
          <p:cNvSpPr/>
          <p:nvPr/>
        </p:nvSpPr>
        <p:spPr>
          <a:xfrm>
            <a:off x="9321800" y="1651000"/>
            <a:ext cx="2260600" cy="1574800"/>
          </a:xfrm>
          <a:prstGeom prst="rect">
            <a:avLst/>
          </a:prstGeom>
          <a:solidFill>
            <a:srgbClr val="EEF2F8"/>
          </a:solidFill>
          <a:ln>
            <a:noFill/>
          </a:ln>
        </p:spPr>
        <p:txBody>
          <a:bodyPr wrap="square" lIns="0" tIns="0" rIns="0" bIns="0" anchor="t">
            <a:noAutofit/>
          </a:bodyPr>
          <a:lstStyle/>
          <a:p>
            <a:endParaRPr lang="en-US"/>
          </a:p>
        </p:txBody>
      </p:sp>
      <p:sp>
        <p:nvSpPr>
          <p:cNvPr id="66" name="Shape 66"/>
          <p:cNvSpPr txBox="1"/>
          <p:nvPr/>
        </p:nvSpPr>
        <p:spPr>
          <a:xfrm>
            <a:off x="9499600" y="1828800"/>
            <a:ext cx="1905000" cy="228600"/>
          </a:xfrm>
          <a:prstGeom prst="rect">
            <a:avLst/>
          </a:prstGeom>
          <a:noFill/>
          <a:ln>
            <a:noFill/>
          </a:ln>
        </p:spPr>
        <p:txBody>
          <a:bodyPr wrap="square" lIns="0" tIns="0" rIns="0" bIns="0" anchor="t">
            <a:noAutofit/>
          </a:bodyPr>
          <a:lstStyle/>
          <a:p>
            <a:pPr algn="l">
              <a:lnSpc>
                <a:spcPct val="100000"/>
              </a:lnSpc>
              <a:spcBef>
                <a:spcPts val="0"/>
              </a:spcBef>
              <a:buNone/>
            </a:pPr>
            <a:r>
              <a:rPr lang="en-US" sz="1300" b="1" spc="100" dirty="0">
                <a:solidFill>
                  <a:srgbClr val="4A66AC"/>
                </a:solidFill>
              </a:rPr>
              <a:t>OUTPUT</a:t>
            </a:r>
          </a:p>
        </p:txBody>
      </p:sp>
      <p:sp>
        <p:nvSpPr>
          <p:cNvPr id="67" name="Shape 67"/>
          <p:cNvSpPr txBox="1"/>
          <p:nvPr/>
        </p:nvSpPr>
        <p:spPr>
          <a:xfrm>
            <a:off x="9499600" y="2133600"/>
            <a:ext cx="1905000" cy="1016000"/>
          </a:xfrm>
          <a:prstGeom prst="rect">
            <a:avLst/>
          </a:prstGeom>
          <a:noFill/>
          <a:ln>
            <a:noFill/>
          </a:ln>
        </p:spPr>
        <p:txBody>
          <a:bodyPr wrap="square" lIns="0" tIns="0" rIns="0" bIns="0" anchor="t">
            <a:noAutofit/>
          </a:bodyPr>
          <a:lstStyle/>
          <a:p>
            <a:pPr algn="l">
              <a:lnSpc>
                <a:spcPct val="95000"/>
              </a:lnSpc>
              <a:spcBef>
                <a:spcPts val="0"/>
              </a:spcBef>
              <a:buNone/>
            </a:pPr>
            <a:r>
              <a:rPr lang="en-US" sz="1700" b="1" dirty="0">
                <a:solidFill>
                  <a:srgbClr val="404040"/>
                </a:solidFill>
                <a:latin typeface="+mj-lt"/>
              </a:rPr>
              <a:t>9 attack types</a:t>
            </a:r>
          </a:p>
          <a:p>
            <a:pPr algn="l">
              <a:lnSpc>
                <a:spcPct val="100000"/>
              </a:lnSpc>
              <a:spcBef>
                <a:spcPts val="400"/>
              </a:spcBef>
              <a:buNone/>
            </a:pPr>
            <a:r>
              <a:rPr lang="en-US" sz="1400" dirty="0">
                <a:solidFill>
                  <a:srgbClr val="595959"/>
                </a:solidFill>
              </a:rPr>
              <a:t>Exploits, Fuzzers, DoS, Worms …</a:t>
            </a:r>
          </a:p>
        </p:txBody>
      </p:sp>
      <p:sp>
        <p:nvSpPr>
          <p:cNvPr id="68" name="Shape 68"/>
          <p:cNvSpPr/>
          <p:nvPr/>
        </p:nvSpPr>
        <p:spPr>
          <a:xfrm>
            <a:off x="9321800" y="3403600"/>
            <a:ext cx="2260600" cy="1574800"/>
          </a:xfrm>
          <a:prstGeom prst="rect">
            <a:avLst/>
          </a:prstGeom>
          <a:solidFill>
            <a:srgbClr val="DCE4F2"/>
          </a:solidFill>
          <a:ln>
            <a:noFill/>
          </a:ln>
        </p:spPr>
        <p:txBody>
          <a:bodyPr wrap="square" lIns="0" tIns="0" rIns="0" bIns="0" anchor="t">
            <a:noAutofit/>
          </a:bodyPr>
          <a:lstStyle/>
          <a:p>
            <a:endParaRPr lang="en-US"/>
          </a:p>
        </p:txBody>
      </p:sp>
      <p:sp>
        <p:nvSpPr>
          <p:cNvPr id="69" name="Shape 69"/>
          <p:cNvSpPr txBox="1"/>
          <p:nvPr/>
        </p:nvSpPr>
        <p:spPr>
          <a:xfrm>
            <a:off x="9499600" y="3581400"/>
            <a:ext cx="1905000" cy="228600"/>
          </a:xfrm>
          <a:prstGeom prst="rect">
            <a:avLst/>
          </a:prstGeom>
          <a:noFill/>
          <a:ln>
            <a:noFill/>
          </a:ln>
        </p:spPr>
        <p:txBody>
          <a:bodyPr wrap="square" lIns="0" tIns="0" rIns="0" bIns="0" anchor="t">
            <a:noAutofit/>
          </a:bodyPr>
          <a:lstStyle/>
          <a:p>
            <a:pPr algn="l">
              <a:lnSpc>
                <a:spcPct val="100000"/>
              </a:lnSpc>
              <a:spcBef>
                <a:spcPts val="0"/>
              </a:spcBef>
              <a:buNone/>
            </a:pPr>
            <a:r>
              <a:rPr lang="en-US" sz="1300" b="1" spc="100" dirty="0">
                <a:solidFill>
                  <a:srgbClr val="34508F"/>
                </a:solidFill>
              </a:rPr>
              <a:t>REJECT OPTION</a:t>
            </a:r>
          </a:p>
        </p:txBody>
      </p:sp>
      <p:sp>
        <p:nvSpPr>
          <p:cNvPr id="70" name="Shape 70"/>
          <p:cNvSpPr txBox="1"/>
          <p:nvPr/>
        </p:nvSpPr>
        <p:spPr>
          <a:xfrm>
            <a:off x="9499600" y="3886200"/>
            <a:ext cx="1905000" cy="1016000"/>
          </a:xfrm>
          <a:prstGeom prst="rect">
            <a:avLst/>
          </a:prstGeom>
          <a:noFill/>
          <a:ln>
            <a:noFill/>
          </a:ln>
        </p:spPr>
        <p:txBody>
          <a:bodyPr wrap="square" lIns="0" tIns="0" rIns="0" bIns="0" anchor="t">
            <a:noAutofit/>
          </a:bodyPr>
          <a:lstStyle/>
          <a:p>
            <a:pPr algn="l">
              <a:lnSpc>
                <a:spcPct val="95000"/>
              </a:lnSpc>
              <a:spcBef>
                <a:spcPts val="0"/>
              </a:spcBef>
              <a:buNone/>
            </a:pPr>
            <a:r>
              <a:rPr lang="en-US" sz="1700" b="1" dirty="0">
                <a:solidFill>
                  <a:srgbClr val="404040"/>
                </a:solidFill>
                <a:latin typeface="+mj-lt"/>
              </a:rPr>
              <a:t>Reject → Normal</a:t>
            </a:r>
          </a:p>
          <a:p>
            <a:pPr algn="l">
              <a:lnSpc>
                <a:spcPct val="100000"/>
              </a:lnSpc>
              <a:spcBef>
                <a:spcPts val="400"/>
              </a:spcBef>
              <a:buNone/>
            </a:pPr>
            <a:r>
              <a:rPr lang="en-US" sz="1400" dirty="0">
                <a:solidFill>
                  <a:srgbClr val="595959"/>
                </a:solidFill>
              </a:rPr>
              <a:t>Sends back normal traffic that Stage A flagged by mistake</a:t>
            </a:r>
          </a:p>
        </p:txBody>
      </p:sp>
      <p:sp>
        <p:nvSpPr>
          <p:cNvPr id="72" name="Shape 72"/>
          <p:cNvSpPr txBox="1"/>
          <p:nvPr/>
        </p:nvSpPr>
        <p:spPr>
          <a:xfrm>
            <a:off x="609600" y="5435600"/>
            <a:ext cx="5334000" cy="863600"/>
          </a:xfrm>
          <a:prstGeom prst="rect">
            <a:avLst/>
          </a:prstGeom>
          <a:noFill/>
          <a:ln>
            <a:noFill/>
          </a:ln>
        </p:spPr>
        <p:txBody>
          <a:bodyPr wrap="square" lIns="0" tIns="0" rIns="0" bIns="0" anchor="t">
            <a:noAutofit/>
          </a:bodyPr>
          <a:lstStyle/>
          <a:p>
            <a:pPr algn="l">
              <a:lnSpc>
                <a:spcPct val="100000"/>
              </a:lnSpc>
              <a:spcBef>
                <a:spcPts val="0"/>
              </a:spcBef>
              <a:buNone/>
            </a:pPr>
            <a:r>
              <a:rPr lang="en-US" sz="1400" b="1" dirty="0">
                <a:solidFill>
                  <a:srgbClr val="262626"/>
                </a:solidFill>
              </a:rPr>
              <a:t>Static, dynamic, hybrid. </a:t>
            </a:r>
            <a:r>
              <a:rPr lang="en-US" sz="1400" dirty="0">
                <a:solidFill>
                  <a:srgbClr val="595959"/>
                </a:solidFill>
              </a:rPr>
              <a:t>Static: a learned weight per model and class. Dynamic: each model’s accuracy on the 30 flows where the models’ outputs look most alike. Hybrid multiplies the two.</a:t>
            </a:r>
          </a:p>
        </p:txBody>
      </p:sp>
      <p:sp>
        <p:nvSpPr>
          <p:cNvPr id="74" name="Shape 74"/>
          <p:cNvSpPr txBox="1"/>
          <p:nvPr/>
        </p:nvSpPr>
        <p:spPr>
          <a:xfrm>
            <a:off x="6248400" y="5435600"/>
            <a:ext cx="5334000" cy="863600"/>
          </a:xfrm>
          <a:prstGeom prst="rect">
            <a:avLst/>
          </a:prstGeom>
          <a:noFill/>
          <a:ln>
            <a:noFill/>
          </a:ln>
        </p:spPr>
        <p:txBody>
          <a:bodyPr wrap="square" lIns="0" tIns="0" rIns="0" bIns="0" anchor="t">
            <a:noAutofit/>
          </a:bodyPr>
          <a:lstStyle/>
          <a:p>
            <a:pPr algn="l">
              <a:lnSpc>
                <a:spcPct val="100000"/>
              </a:lnSpc>
              <a:spcBef>
                <a:spcPts val="0"/>
              </a:spcBef>
              <a:buNone/>
            </a:pPr>
            <a:r>
              <a:rPr lang="en-US" sz="1400" b="1" dirty="0">
                <a:solidFill>
                  <a:srgbClr val="262626"/>
                </a:solidFill>
              </a:rPr>
              <a:t>COMB and SELV. </a:t>
            </a:r>
            <a:r>
              <a:rPr lang="en-US" sz="1400" dirty="0">
                <a:solidFill>
                  <a:srgbClr val="595959"/>
                </a:solidFill>
              </a:rPr>
              <a:t>Training data is split 50/50: COMB fits the weights; SELV ranks the 21 rules (7 single, 2 static, 7 dynamic, 5 hybrid) and sets the 0.7 gate threshold.</a:t>
            </a:r>
          </a:p>
        </p:txBody>
      </p:sp>
      <p:cxnSp>
        <p:nvCxnSpPr>
          <p:cNvPr id="120" name="Arrow Reject"/>
          <p:cNvCxnSpPr/>
          <p:nvPr/>
        </p:nvCxnSpPr>
        <p:spPr>
          <a:xfrm>
            <a:off x="9042400" y="4191000"/>
            <a:ext cx="254000" cy="0"/>
          </a:xfrm>
          <a:prstGeom prst="straightConnector1">
            <a:avLst/>
          </a:prstGeom>
          <a:ln w="19050">
            <a:solidFill>
              <a:srgbClr val="7F8FA9"/>
            </a:solidFill>
            <a:tailEnd type="triangle" w="med" len="med"/>
          </a:ln>
        </p:spPr>
      </p:cxnSp>
    </p:spTree>
    <p:extLst>
      <p:ext uri="{BB962C8B-B14F-4D97-AF65-F5344CB8AC3E}">
        <p14:creationId xmlns:p14="http://schemas.microsoft.com/office/powerpoint/2010/main" val="2915422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1D19C-9632-160A-C1A5-3251A751586E}"/>
              </a:ext>
            </a:extLst>
          </p:cNvPr>
          <p:cNvSpPr>
            <a:spLocks noGrp="1"/>
          </p:cNvSpPr>
          <p:nvPr>
            <p:ph type="title"/>
          </p:nvPr>
        </p:nvSpPr>
        <p:spPr/>
        <p:txBody>
          <a:bodyPr>
            <a:normAutofit/>
          </a:bodyPr>
          <a:lstStyle/>
          <a:p>
            <a:r>
              <a:rPr lang="en-US" dirty="0"/>
              <a:t>Results</a:t>
            </a:r>
          </a:p>
          <a:p>
            <a:pPr>
              <a:spcBef>
                <a:spcPts val="200"/>
              </a:spcBef>
            </a:pPr>
            <a:r>
              <a:rPr lang="en-US" sz="1600" b="0" dirty="0">
                <a:solidFill>
                  <a:srgbClr val="595959"/>
                </a:solidFill>
              </a:rPr>
              <a:t>On 521,361 unseen connections, the final system scores 0.689 macro-F1 and 98.66% accuracy</a:t>
            </a:r>
          </a:p>
        </p:txBody>
      </p:sp>
      <p:sp>
        <p:nvSpPr>
          <p:cNvPr id="200" name="Slide Number"/>
          <p:cNvSpPr>
            <a:spLocks noGrp="1"/>
          </p:cNvSpPr>
          <p:nvPr>
            <p:ph type="sldNum" sz="quarter" idx="12"/>
          </p:nvPr>
        </p:nvSpPr>
        <p:spPr/>
        <p:txBody>
          <a:bodyPr/>
          <a:lstStyle/>
          <a:p>
            <a:fld id="{C7F0390B-6E29-48DF-B134-99D6A0365BB5}" type="slidenum">
              <a:rPr lang="en-US"/>
              <a:t>10</a:t>
            </a:fld>
            <a:endParaRPr lang="en-US"/>
          </a:p>
        </p:txBody>
      </p:sp>
      <p:sp>
        <p:nvSpPr>
          <p:cNvPr id="60" name="Text 60"/>
          <p:cNvSpPr txBox="1"/>
          <p:nvPr/>
        </p:nvSpPr>
        <p:spPr>
          <a:xfrm>
            <a:off x="609600" y="1498600"/>
            <a:ext cx="6858000" cy="2794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Macro-F1 as each improvement was added (higher is better)</a:t>
            </a:r>
          </a:p>
        </p:txBody>
      </p:sp>
      <p:sp>
        <p:nvSpPr>
          <p:cNvPr id="61" name="Text 61"/>
          <p:cNvSpPr txBox="1"/>
          <p:nvPr/>
        </p:nvSpPr>
        <p:spPr>
          <a:xfrm>
            <a:off x="8128000" y="1778000"/>
            <a:ext cx="3454400" cy="609600"/>
          </a:xfrm>
          <a:prstGeom prst="rect">
            <a:avLst/>
          </a:prstGeom>
          <a:noFill/>
          <a:ln>
            <a:noFill/>
          </a:ln>
        </p:spPr>
        <p:txBody>
          <a:bodyPr wrap="square" lIns="0" tIns="0" rIns="0" bIns="0" anchor="t">
            <a:noAutofit/>
          </a:bodyPr>
          <a:lstStyle/>
          <a:p>
            <a:pPr algn="l">
              <a:lnSpc>
                <a:spcPct val="100000"/>
              </a:lnSpc>
              <a:spcBef>
                <a:spcPts val="0"/>
              </a:spcBef>
              <a:buNone/>
            </a:pPr>
            <a:r>
              <a:rPr lang="en-US" sz="4000" b="1" dirty="0">
                <a:solidFill>
                  <a:srgbClr val="404040"/>
                </a:solidFill>
                <a:latin typeface="+mj-lt"/>
              </a:rPr>
              <a:t>0.689</a:t>
            </a:r>
          </a:p>
        </p:txBody>
      </p:sp>
      <p:sp>
        <p:nvSpPr>
          <p:cNvPr id="62" name="Text 62"/>
          <p:cNvSpPr txBox="1"/>
          <p:nvPr/>
        </p:nvSpPr>
        <p:spPr>
          <a:xfrm>
            <a:off x="8128000" y="2413000"/>
            <a:ext cx="34544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macro-F1, the average score across all traffic types</a:t>
            </a:r>
          </a:p>
        </p:txBody>
      </p:sp>
      <p:cxnSp>
        <p:nvCxnSpPr>
          <p:cNvPr id="63" name="Line 63"/>
          <p:cNvCxnSpPr/>
          <p:nvPr/>
        </p:nvCxnSpPr>
        <p:spPr>
          <a:xfrm>
            <a:off x="8128000" y="2997200"/>
            <a:ext cx="3454400" cy="0"/>
          </a:xfrm>
          <a:prstGeom prst="line">
            <a:avLst/>
          </a:prstGeom>
          <a:ln w="9525">
            <a:solidFill>
              <a:srgbClr val="D9D9D9"/>
            </a:solidFill>
          </a:ln>
        </p:spPr>
      </p:cxnSp>
      <p:sp>
        <p:nvSpPr>
          <p:cNvPr id="64" name="Text 64"/>
          <p:cNvSpPr txBox="1"/>
          <p:nvPr/>
        </p:nvSpPr>
        <p:spPr>
          <a:xfrm>
            <a:off x="8128000" y="3098800"/>
            <a:ext cx="3454400" cy="609600"/>
          </a:xfrm>
          <a:prstGeom prst="rect">
            <a:avLst/>
          </a:prstGeom>
          <a:noFill/>
          <a:ln>
            <a:noFill/>
          </a:ln>
        </p:spPr>
        <p:txBody>
          <a:bodyPr wrap="square" lIns="0" tIns="0" rIns="0" bIns="0" anchor="t">
            <a:noAutofit/>
          </a:bodyPr>
          <a:lstStyle/>
          <a:p>
            <a:pPr algn="l">
              <a:lnSpc>
                <a:spcPct val="100000"/>
              </a:lnSpc>
              <a:spcBef>
                <a:spcPts val="0"/>
              </a:spcBef>
              <a:buNone/>
            </a:pPr>
            <a:r>
              <a:rPr lang="en-US" sz="4000" b="1" dirty="0">
                <a:solidFill>
                  <a:srgbClr val="404040"/>
                </a:solidFill>
                <a:latin typeface="+mj-lt"/>
              </a:rPr>
              <a:t>98.66%</a:t>
            </a:r>
          </a:p>
        </p:txBody>
      </p:sp>
      <p:sp>
        <p:nvSpPr>
          <p:cNvPr id="65" name="Text 65"/>
          <p:cNvSpPr txBox="1"/>
          <p:nvPr/>
        </p:nvSpPr>
        <p:spPr>
          <a:xfrm>
            <a:off x="8128000" y="3733800"/>
            <a:ext cx="34544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of all connections classified correctly</a:t>
            </a:r>
          </a:p>
        </p:txBody>
      </p:sp>
      <p:cxnSp>
        <p:nvCxnSpPr>
          <p:cNvPr id="66" name="Line 66"/>
          <p:cNvCxnSpPr/>
          <p:nvPr/>
        </p:nvCxnSpPr>
        <p:spPr>
          <a:xfrm>
            <a:off x="8128000" y="4318000"/>
            <a:ext cx="3454400" cy="0"/>
          </a:xfrm>
          <a:prstGeom prst="line">
            <a:avLst/>
          </a:prstGeom>
          <a:ln w="9525">
            <a:solidFill>
              <a:srgbClr val="D9D9D9"/>
            </a:solidFill>
          </a:ln>
        </p:spPr>
      </p:cxnSp>
      <p:sp>
        <p:nvSpPr>
          <p:cNvPr id="67" name="Text 67"/>
          <p:cNvSpPr txBox="1"/>
          <p:nvPr/>
        </p:nvSpPr>
        <p:spPr>
          <a:xfrm>
            <a:off x="8128000" y="4419600"/>
            <a:ext cx="3454400" cy="609600"/>
          </a:xfrm>
          <a:prstGeom prst="rect">
            <a:avLst/>
          </a:prstGeom>
          <a:noFill/>
          <a:ln>
            <a:noFill/>
          </a:ln>
        </p:spPr>
        <p:txBody>
          <a:bodyPr wrap="square" lIns="0" tIns="0" rIns="0" bIns="0" anchor="t">
            <a:noAutofit/>
          </a:bodyPr>
          <a:lstStyle/>
          <a:p>
            <a:pPr algn="l">
              <a:lnSpc>
                <a:spcPct val="100000"/>
              </a:lnSpc>
              <a:spcBef>
                <a:spcPts val="0"/>
              </a:spcBef>
              <a:buNone/>
            </a:pPr>
            <a:r>
              <a:rPr lang="en-US" sz="4000" b="1" dirty="0">
                <a:solidFill>
                  <a:srgbClr val="404040"/>
                </a:solidFill>
                <a:latin typeface="+mj-lt"/>
              </a:rPr>
              <a:t>2.6×</a:t>
            </a:r>
          </a:p>
        </p:txBody>
      </p:sp>
      <p:sp>
        <p:nvSpPr>
          <p:cNvPr id="68" name="Text 68"/>
          <p:cNvSpPr txBox="1"/>
          <p:nvPr/>
        </p:nvSpPr>
        <p:spPr>
          <a:xfrm>
            <a:off x="8128000" y="5054600"/>
            <a:ext cx="34544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fewer false alarms on normal traffic (8,370 → 3,270)</a:t>
            </a:r>
          </a:p>
        </p:txBody>
      </p:sp>
      <p:graphicFrame>
        <p:nvGraphicFramePr>
          <p:cNvPr id="70" name="Chart"/>
          <p:cNvGraphicFramePr/>
          <p:nvPr/>
        </p:nvGraphicFramePr>
        <p:xfrm>
          <a:off x="609600" y="1854200"/>
          <a:ext cx="7112000" cy="4394200"/>
        </p:xfrm>
        <a:graphic>
          <a:graphicData uri="http://schemas.openxmlformats.org/drawingml/2006/chart">
            <c:chart xmlns:c="http://schemas.openxmlformats.org/drawingml/2006/chart" xmlns:r="http://schemas.openxmlformats.org/officeDocument/2006/relationships" r:id="rId3"/>
          </a:graphicData>
        </a:graphic>
      </p:graphicFrame>
      <p:grpSp>
        <p:nvGrpSpPr>
          <p:cNvPr id="71" name="GrowthArrow f70 0"/>
          <p:cNvGrpSpPr/>
          <p:nvPr/>
        </p:nvGrpSpPr>
        <p:grpSpPr>
          <a:xfrm>
            <a:off x="1685280" y="2672485"/>
            <a:ext cx="4960640" cy="440620"/>
            <a:chOff x="1685280" y="2672485"/>
            <a:chExt cx="4960640" cy="440620"/>
          </a:xfrm>
        </p:grpSpPr>
        <p:cxnSp>
          <p:nvCxnSpPr>
            <p:cNvPr id="72" name="GrowthArrow f70 0 rise"/>
            <p:cNvCxnSpPr/>
            <p:nvPr/>
          </p:nvCxnSpPr>
          <p:spPr>
            <a:xfrm flipV="1">
              <a:off x="1685280" y="2797485"/>
              <a:ext cx="1" cy="315620"/>
            </a:xfrm>
            <a:prstGeom prst="line">
              <a:avLst/>
            </a:prstGeom>
            <a:ln w="12700">
              <a:solidFill>
                <a:srgbClr val="595959"/>
              </a:solidFill>
            </a:ln>
          </p:spPr>
        </p:cxnSp>
        <p:cxnSp>
          <p:nvCxnSpPr>
            <p:cNvPr id="73" name="GrowthArrow f70 0 line"/>
            <p:cNvCxnSpPr/>
            <p:nvPr/>
          </p:nvCxnSpPr>
          <p:spPr>
            <a:xfrm>
              <a:off x="1685280" y="2797485"/>
              <a:ext cx="4960640" cy="1"/>
            </a:xfrm>
            <a:prstGeom prst="line">
              <a:avLst/>
            </a:prstGeom>
            <a:ln w="12700">
              <a:solidFill>
                <a:srgbClr val="595959"/>
              </a:solidFill>
            </a:ln>
          </p:spPr>
        </p:cxnSp>
        <p:cxnSp>
          <p:nvCxnSpPr>
            <p:cNvPr id="74" name="GrowthArrow f70 0 drop"/>
            <p:cNvCxnSpPr/>
            <p:nvPr/>
          </p:nvCxnSpPr>
          <p:spPr>
            <a:xfrm>
              <a:off x="6645920" y="2797485"/>
              <a:ext cx="1" cy="205000"/>
            </a:xfrm>
            <a:prstGeom prst="line">
              <a:avLst/>
            </a:prstGeom>
            <a:ln w="12700">
              <a:solidFill>
                <a:srgbClr val="595959"/>
              </a:solidFill>
              <a:tailEnd type="triangle" w="med" len="med"/>
            </a:ln>
          </p:spPr>
        </p:cxnSp>
        <p:sp>
          <p:nvSpPr>
            <p:cNvPr id="75" name="GrowthArrow f70 0 label"/>
            <p:cNvSpPr txBox="1"/>
            <p:nvPr/>
          </p:nvSpPr>
          <p:spPr>
            <a:xfrm>
              <a:off x="3750800" y="2672485"/>
              <a:ext cx="829600" cy="250000"/>
            </a:xfrm>
            <a:prstGeom prst="rect">
              <a:avLst/>
            </a:prstGeom>
            <a:solidFill>
              <a:srgbClr val="FFFFFF"/>
            </a:solidFill>
          </p:spPr>
          <p:txBody>
            <a:bodyPr wrap="square" anchor="ctr">
              <a:normAutofit fontScale="77500" lnSpcReduction="20000"/>
            </a:bodyPr>
            <a:lstStyle/>
            <a:p>
              <a:pPr algn="ctr"/>
              <a:r>
                <a:rPr lang="en-US" sz="1600" b="1" dirty="0">
                  <a:solidFill>
                    <a:srgbClr val="262626"/>
                  </a:solidFill>
                  <a:latin typeface="Times New Roman"/>
                </a:rPr>
                <a:t>+0.030</a:t>
              </a:r>
            </a:p>
          </p:txBody>
        </p:sp>
      </p:grpSp>
    </p:spTree>
    <p:extLst>
      <p:ext uri="{BB962C8B-B14F-4D97-AF65-F5344CB8AC3E}">
        <p14:creationId xmlns:p14="http://schemas.microsoft.com/office/powerpoint/2010/main" val="2081607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40C70-A38D-B43C-F6AE-F16A1C6B114F}"/>
              </a:ext>
            </a:extLst>
          </p:cNvPr>
          <p:cNvSpPr>
            <a:spLocks noGrp="1"/>
          </p:cNvSpPr>
          <p:nvPr>
            <p:ph type="title"/>
          </p:nvPr>
        </p:nvSpPr>
        <p:spPr/>
        <p:txBody>
          <a:bodyPr>
            <a:normAutofit/>
          </a:bodyPr>
          <a:lstStyle/>
          <a:p>
            <a:r>
              <a:rPr lang="en-US" dirty="0"/>
              <a:t>Results</a:t>
            </a:r>
          </a:p>
          <a:p>
            <a:pPr>
              <a:spcBef>
                <a:spcPts val="200"/>
              </a:spcBef>
            </a:pPr>
            <a:r>
              <a:rPr lang="en-US" sz="1600" b="0" dirty="0">
                <a:solidFill>
                  <a:srgbClr val="595959"/>
                </a:solidFill>
              </a:rPr>
              <a:t>Most traffic types are detected well; Analysis and Worms look too much like other traffic</a:t>
            </a:r>
          </a:p>
        </p:txBody>
      </p:sp>
      <p:sp>
        <p:nvSpPr>
          <p:cNvPr id="200" name="Slide Number"/>
          <p:cNvSpPr>
            <a:spLocks noGrp="1"/>
          </p:cNvSpPr>
          <p:nvPr>
            <p:ph type="sldNum" sz="quarter" idx="12"/>
          </p:nvPr>
        </p:nvSpPr>
        <p:spPr/>
        <p:txBody>
          <a:bodyPr/>
          <a:lstStyle/>
          <a:p>
            <a:fld id="{C7F0390B-6E29-48DF-B134-99D6A0365BB5}" type="slidenum">
              <a:rPr lang="en-US"/>
              <a:t>11</a:t>
            </a:fld>
            <a:endParaRPr lang="en-US"/>
          </a:p>
        </p:txBody>
      </p:sp>
      <p:graphicFrame>
        <p:nvGraphicFramePr>
          <p:cNvPr id="3" name="Chart"/>
          <p:cNvGraphicFramePr/>
          <p:nvPr/>
        </p:nvGraphicFramePr>
        <p:xfrm>
          <a:off x="609600" y="1854200"/>
          <a:ext cx="6350000" cy="4394200"/>
        </p:xfrm>
        <a:graphic>
          <a:graphicData uri="http://schemas.openxmlformats.org/drawingml/2006/chart">
            <c:chart xmlns:c="http://schemas.openxmlformats.org/drawingml/2006/chart" xmlns:r="http://schemas.openxmlformats.org/officeDocument/2006/relationships" r:id="rId3"/>
          </a:graphicData>
        </a:graphic>
      </p:graphicFrame>
      <p:sp>
        <p:nvSpPr>
          <p:cNvPr id="60" name="Text 60"/>
          <p:cNvSpPr txBox="1"/>
          <p:nvPr/>
        </p:nvSpPr>
        <p:spPr>
          <a:xfrm>
            <a:off x="609600" y="1498600"/>
            <a:ext cx="6350000" cy="2794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Detection score (F1) for each traffic type, higher is better</a:t>
            </a:r>
          </a:p>
        </p:txBody>
      </p:sp>
      <p:sp>
        <p:nvSpPr>
          <p:cNvPr id="61" name="Text 61"/>
          <p:cNvSpPr txBox="1"/>
          <p:nvPr/>
        </p:nvSpPr>
        <p:spPr>
          <a:xfrm>
            <a:off x="7467600" y="1854200"/>
            <a:ext cx="4114800" cy="457200"/>
          </a:xfrm>
          <a:prstGeom prst="rect">
            <a:avLst/>
          </a:prstGeom>
          <a:noFill/>
          <a:ln>
            <a:noFill/>
          </a:ln>
        </p:spPr>
        <p:txBody>
          <a:bodyPr wrap="square" lIns="0" tIns="0" rIns="0" bIns="0" anchor="t">
            <a:noAutofit/>
          </a:bodyPr>
          <a:lstStyle/>
          <a:p>
            <a:pPr algn="l">
              <a:lnSpc>
                <a:spcPct val="100000"/>
              </a:lnSpc>
              <a:spcBef>
                <a:spcPts val="0"/>
              </a:spcBef>
              <a:buNone/>
            </a:pPr>
            <a:r>
              <a:rPr lang="en-US" sz="2800" b="1" dirty="0">
                <a:solidFill>
                  <a:srgbClr val="404040"/>
                </a:solidFill>
                <a:latin typeface="+mj-lt"/>
              </a:rPr>
              <a:t>47 of 77</a:t>
            </a:r>
          </a:p>
        </p:txBody>
      </p:sp>
      <p:sp>
        <p:nvSpPr>
          <p:cNvPr id="62" name="Text 62"/>
          <p:cNvSpPr txBox="1"/>
          <p:nvPr/>
        </p:nvSpPr>
        <p:spPr>
          <a:xfrm>
            <a:off x="7467600" y="2336800"/>
            <a:ext cx="41148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“Analysis” attacks were mistaken for normal traffic</a:t>
            </a:r>
          </a:p>
        </p:txBody>
      </p:sp>
      <p:cxnSp>
        <p:nvCxnSpPr>
          <p:cNvPr id="63" name="Line 63"/>
          <p:cNvCxnSpPr/>
          <p:nvPr/>
        </p:nvCxnSpPr>
        <p:spPr>
          <a:xfrm>
            <a:off x="7467600" y="2971800"/>
            <a:ext cx="4114800" cy="0"/>
          </a:xfrm>
          <a:prstGeom prst="line">
            <a:avLst/>
          </a:prstGeom>
          <a:ln w="9525">
            <a:solidFill>
              <a:srgbClr val="D9D9D9"/>
            </a:solidFill>
          </a:ln>
        </p:spPr>
      </p:cxnSp>
      <p:sp>
        <p:nvSpPr>
          <p:cNvPr id="64" name="Text 64"/>
          <p:cNvSpPr txBox="1"/>
          <p:nvPr/>
        </p:nvSpPr>
        <p:spPr>
          <a:xfrm>
            <a:off x="7467600" y="3327400"/>
            <a:ext cx="4114800" cy="457200"/>
          </a:xfrm>
          <a:prstGeom prst="rect">
            <a:avLst/>
          </a:prstGeom>
          <a:noFill/>
          <a:ln>
            <a:noFill/>
          </a:ln>
        </p:spPr>
        <p:txBody>
          <a:bodyPr wrap="square" lIns="0" tIns="0" rIns="0" bIns="0" anchor="t">
            <a:noAutofit/>
          </a:bodyPr>
          <a:lstStyle/>
          <a:p>
            <a:pPr algn="l">
              <a:lnSpc>
                <a:spcPct val="100000"/>
              </a:lnSpc>
              <a:spcBef>
                <a:spcPts val="0"/>
              </a:spcBef>
              <a:buNone/>
            </a:pPr>
            <a:r>
              <a:rPr lang="en-US" sz="2800" b="1" dirty="0">
                <a:solidFill>
                  <a:srgbClr val="404040"/>
                </a:solidFill>
                <a:latin typeface="+mj-lt"/>
              </a:rPr>
              <a:t>1,287</a:t>
            </a:r>
          </a:p>
        </p:txBody>
      </p:sp>
      <p:sp>
        <p:nvSpPr>
          <p:cNvPr id="65" name="Text 65"/>
          <p:cNvSpPr txBox="1"/>
          <p:nvPr/>
        </p:nvSpPr>
        <p:spPr>
          <a:xfrm>
            <a:off x="7467600" y="3810000"/>
            <a:ext cx="41148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connections mixed up between Exploits and Fuzzers</a:t>
            </a:r>
          </a:p>
        </p:txBody>
      </p:sp>
      <p:cxnSp>
        <p:nvCxnSpPr>
          <p:cNvPr id="66" name="Line 66"/>
          <p:cNvCxnSpPr/>
          <p:nvPr/>
        </p:nvCxnSpPr>
        <p:spPr>
          <a:xfrm>
            <a:off x="7467600" y="4445000"/>
            <a:ext cx="4114800" cy="0"/>
          </a:xfrm>
          <a:prstGeom prst="line">
            <a:avLst/>
          </a:prstGeom>
          <a:ln w="9525">
            <a:solidFill>
              <a:srgbClr val="D9D9D9"/>
            </a:solidFill>
          </a:ln>
        </p:spPr>
      </p:cxnSp>
      <p:sp>
        <p:nvSpPr>
          <p:cNvPr id="67" name="Text 67"/>
          <p:cNvSpPr txBox="1"/>
          <p:nvPr/>
        </p:nvSpPr>
        <p:spPr>
          <a:xfrm>
            <a:off x="7467600" y="4800600"/>
            <a:ext cx="4114800" cy="457200"/>
          </a:xfrm>
          <a:prstGeom prst="rect">
            <a:avLst/>
          </a:prstGeom>
          <a:noFill/>
          <a:ln>
            <a:noFill/>
          </a:ln>
        </p:spPr>
        <p:txBody>
          <a:bodyPr wrap="square" lIns="0" tIns="0" rIns="0" bIns="0" anchor="t">
            <a:noAutofit/>
          </a:bodyPr>
          <a:lstStyle/>
          <a:p>
            <a:pPr algn="l">
              <a:lnSpc>
                <a:spcPct val="100000"/>
              </a:lnSpc>
              <a:spcBef>
                <a:spcPts val="0"/>
              </a:spcBef>
              <a:buNone/>
            </a:pPr>
            <a:r>
              <a:rPr lang="en-US" sz="2800" b="1" dirty="0">
                <a:solidFill>
                  <a:srgbClr val="404040"/>
                </a:solidFill>
                <a:latin typeface="+mj-lt"/>
              </a:rPr>
              <a:t>0.35%</a:t>
            </a:r>
          </a:p>
        </p:txBody>
      </p:sp>
      <p:sp>
        <p:nvSpPr>
          <p:cNvPr id="68" name="Text 68"/>
          <p:cNvSpPr txBox="1"/>
          <p:nvPr/>
        </p:nvSpPr>
        <p:spPr>
          <a:xfrm>
            <a:off x="7467600" y="5283200"/>
            <a:ext cx="4114800" cy="5080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of connections have conflicting labels, so bad labels are not the cause</a:t>
            </a:r>
          </a:p>
        </p:txBody>
      </p:sp>
    </p:spTree>
    <p:extLst>
      <p:ext uri="{BB962C8B-B14F-4D97-AF65-F5344CB8AC3E}">
        <p14:creationId xmlns:p14="http://schemas.microsoft.com/office/powerpoint/2010/main" val="690416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6445F-325C-202E-1E0D-D79C2D303797}"/>
              </a:ext>
            </a:extLst>
          </p:cNvPr>
          <p:cNvSpPr>
            <a:spLocks noGrp="1"/>
          </p:cNvSpPr>
          <p:nvPr>
            <p:ph type="title"/>
          </p:nvPr>
        </p:nvSpPr>
        <p:spPr/>
        <p:txBody>
          <a:bodyPr>
            <a:normAutofit/>
          </a:bodyPr>
          <a:lstStyle/>
          <a:p>
            <a:r>
              <a:rPr lang="en-US" dirty="0"/>
              <a:t>Results</a:t>
            </a:r>
          </a:p>
          <a:p>
            <a:pPr>
              <a:spcBef>
                <a:spcPts val="200"/>
              </a:spcBef>
            </a:pPr>
            <a:r>
              <a:rPr lang="en-US" sz="1600" b="0" dirty="0">
                <a:solidFill>
                  <a:srgbClr val="595959"/>
                </a:solidFill>
              </a:rPr>
              <a:t>Which parts of the system improved the score the most</a:t>
            </a:r>
          </a:p>
        </p:txBody>
      </p:sp>
      <p:sp>
        <p:nvSpPr>
          <p:cNvPr id="200" name="Slide Number"/>
          <p:cNvSpPr>
            <a:spLocks noGrp="1"/>
          </p:cNvSpPr>
          <p:nvPr>
            <p:ph type="sldNum" sz="quarter" idx="12"/>
          </p:nvPr>
        </p:nvSpPr>
        <p:spPr/>
        <p:txBody>
          <a:bodyPr/>
          <a:lstStyle/>
          <a:p>
            <a:fld id="{C7F0390B-6E29-48DF-B134-99D6A0365BB5}" type="slidenum">
              <a:rPr lang="en-US"/>
              <a:t>12</a:t>
            </a:fld>
            <a:endParaRPr lang="en-US"/>
          </a:p>
        </p:txBody>
      </p:sp>
      <p:graphicFrame>
        <p:nvGraphicFramePr>
          <p:cNvPr id="3" name="Chart"/>
          <p:cNvGraphicFramePr/>
          <p:nvPr/>
        </p:nvGraphicFramePr>
        <p:xfrm>
          <a:off x="609600" y="1854200"/>
          <a:ext cx="6350000" cy="3937000"/>
        </p:xfrm>
        <a:graphic>
          <a:graphicData uri="http://schemas.openxmlformats.org/drawingml/2006/chart">
            <c:chart xmlns:c="http://schemas.openxmlformats.org/drawingml/2006/chart" xmlns:r="http://schemas.openxmlformats.org/officeDocument/2006/relationships" r:id="rId3"/>
          </a:graphicData>
        </a:graphic>
      </p:graphicFrame>
      <p:sp>
        <p:nvSpPr>
          <p:cNvPr id="60" name="Text 60"/>
          <p:cNvSpPr txBox="1"/>
          <p:nvPr/>
        </p:nvSpPr>
        <p:spPr>
          <a:xfrm>
            <a:off x="609600" y="1498600"/>
            <a:ext cx="6350000" cy="2794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Improvement in macro-F1 from each part</a:t>
            </a:r>
          </a:p>
        </p:txBody>
      </p:sp>
      <p:sp>
        <p:nvSpPr>
          <p:cNvPr id="61" name="Text 61"/>
          <p:cNvSpPr txBox="1"/>
          <p:nvPr/>
        </p:nvSpPr>
        <p:spPr>
          <a:xfrm>
            <a:off x="7467600" y="1676400"/>
            <a:ext cx="508000" cy="50800"/>
          </a:xfrm>
          <a:prstGeom prst="rect">
            <a:avLst/>
          </a:prstGeom>
          <a:solidFill>
            <a:srgbClr val="4A66AC"/>
          </a:solidFill>
          <a:ln>
            <a:noFill/>
          </a:ln>
        </p:spPr>
        <p:txBody>
          <a:bodyPr wrap="square" lIns="0" tIns="0" rIns="0" bIns="0" anchor="t">
            <a:noAutofit/>
          </a:bodyPr>
          <a:lstStyle/>
          <a:p>
            <a:endParaRPr lang="en-US"/>
          </a:p>
        </p:txBody>
      </p:sp>
      <p:sp>
        <p:nvSpPr>
          <p:cNvPr id="62" name="Text 62"/>
          <p:cNvSpPr txBox="1"/>
          <p:nvPr/>
        </p:nvSpPr>
        <p:spPr>
          <a:xfrm>
            <a:off x="7467600" y="1828800"/>
            <a:ext cx="4114800" cy="304800"/>
          </a:xfrm>
          <a:prstGeom prst="rect">
            <a:avLst/>
          </a:prstGeom>
          <a:noFill/>
          <a:ln>
            <a:noFill/>
          </a:ln>
        </p:spPr>
        <p:txBody>
          <a:bodyPr wrap="square" lIns="0" tIns="0" rIns="0" bIns="0" anchor="t">
            <a:noAutofit/>
          </a:bodyPr>
          <a:lstStyle/>
          <a:p>
            <a:pPr algn="l">
              <a:lnSpc>
                <a:spcPct val="100000"/>
              </a:lnSpc>
              <a:spcBef>
                <a:spcPts val="0"/>
              </a:spcBef>
              <a:buNone/>
            </a:pPr>
            <a:r>
              <a:rPr lang="en-US" sz="1600" b="1" dirty="0">
                <a:solidFill>
                  <a:srgbClr val="404040"/>
                </a:solidFill>
              </a:rPr>
              <a:t>Better data beat a bigger model</a:t>
            </a:r>
          </a:p>
        </p:txBody>
      </p:sp>
      <p:sp>
        <p:nvSpPr>
          <p:cNvPr id="63" name="Text 63"/>
          <p:cNvSpPr txBox="1"/>
          <p:nvPr/>
        </p:nvSpPr>
        <p:spPr>
          <a:xfrm>
            <a:off x="7467600" y="2159000"/>
            <a:ext cx="4114800" cy="8128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Knowing which service a flow targets added the most, about 2.5× more than any modelling change.</a:t>
            </a:r>
          </a:p>
        </p:txBody>
      </p:sp>
      <p:sp>
        <p:nvSpPr>
          <p:cNvPr id="64" name="Text 64"/>
          <p:cNvSpPr txBox="1"/>
          <p:nvPr/>
        </p:nvSpPr>
        <p:spPr>
          <a:xfrm>
            <a:off x="7467600" y="3098800"/>
            <a:ext cx="508000" cy="50800"/>
          </a:xfrm>
          <a:prstGeom prst="rect">
            <a:avLst/>
          </a:prstGeom>
          <a:solidFill>
            <a:srgbClr val="4A66AC"/>
          </a:solidFill>
          <a:ln>
            <a:noFill/>
          </a:ln>
        </p:spPr>
        <p:txBody>
          <a:bodyPr wrap="square" lIns="0" tIns="0" rIns="0" bIns="0" anchor="t">
            <a:noAutofit/>
          </a:bodyPr>
          <a:lstStyle/>
          <a:p>
            <a:endParaRPr lang="en-US"/>
          </a:p>
        </p:txBody>
      </p:sp>
      <p:sp>
        <p:nvSpPr>
          <p:cNvPr id="65" name="Text 65"/>
          <p:cNvSpPr txBox="1"/>
          <p:nvPr/>
        </p:nvSpPr>
        <p:spPr>
          <a:xfrm>
            <a:off x="7467600" y="3251200"/>
            <a:ext cx="4114800" cy="304800"/>
          </a:xfrm>
          <a:prstGeom prst="rect">
            <a:avLst/>
          </a:prstGeom>
          <a:noFill/>
          <a:ln>
            <a:noFill/>
          </a:ln>
        </p:spPr>
        <p:txBody>
          <a:bodyPr wrap="square" lIns="0" tIns="0" rIns="0" bIns="0" anchor="t">
            <a:noAutofit/>
          </a:bodyPr>
          <a:lstStyle/>
          <a:p>
            <a:pPr algn="l">
              <a:lnSpc>
                <a:spcPct val="100000"/>
              </a:lnSpc>
              <a:spcBef>
                <a:spcPts val="0"/>
              </a:spcBef>
              <a:buNone/>
            </a:pPr>
            <a:r>
              <a:rPr lang="en-US" sz="1600" b="1" dirty="0">
                <a:solidFill>
                  <a:srgbClr val="404040"/>
                </a:solidFill>
              </a:rPr>
              <a:t>Moderate balancing works best</a:t>
            </a:r>
          </a:p>
        </p:txBody>
      </p:sp>
      <p:sp>
        <p:nvSpPr>
          <p:cNvPr id="66" name="Text 66"/>
          <p:cNvSpPr txBox="1"/>
          <p:nvPr/>
        </p:nvSpPr>
        <p:spPr>
          <a:xfrm>
            <a:off x="7467600" y="3581400"/>
            <a:ext cx="4114800" cy="8128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Giving rare attacks a little extra weight helped; forcing all classes to be equal made results worse.</a:t>
            </a:r>
          </a:p>
        </p:txBody>
      </p:sp>
      <p:sp>
        <p:nvSpPr>
          <p:cNvPr id="67" name="Text 67"/>
          <p:cNvSpPr txBox="1"/>
          <p:nvPr/>
        </p:nvSpPr>
        <p:spPr>
          <a:xfrm>
            <a:off x="7467600" y="4521200"/>
            <a:ext cx="508000" cy="50800"/>
          </a:xfrm>
          <a:prstGeom prst="rect">
            <a:avLst/>
          </a:prstGeom>
          <a:solidFill>
            <a:srgbClr val="4A66AC"/>
          </a:solidFill>
          <a:ln>
            <a:noFill/>
          </a:ln>
        </p:spPr>
        <p:txBody>
          <a:bodyPr wrap="square" lIns="0" tIns="0" rIns="0" bIns="0" anchor="t">
            <a:noAutofit/>
          </a:bodyPr>
          <a:lstStyle/>
          <a:p>
            <a:endParaRPr lang="en-US"/>
          </a:p>
        </p:txBody>
      </p:sp>
      <p:sp>
        <p:nvSpPr>
          <p:cNvPr id="68" name="Text 68"/>
          <p:cNvSpPr txBox="1"/>
          <p:nvPr/>
        </p:nvSpPr>
        <p:spPr>
          <a:xfrm>
            <a:off x="7467600" y="4673600"/>
            <a:ext cx="4114800" cy="304800"/>
          </a:xfrm>
          <a:prstGeom prst="rect">
            <a:avLst/>
          </a:prstGeom>
          <a:noFill/>
          <a:ln>
            <a:noFill/>
          </a:ln>
        </p:spPr>
        <p:txBody>
          <a:bodyPr wrap="square" lIns="0" tIns="0" rIns="0" bIns="0" anchor="t">
            <a:noAutofit/>
          </a:bodyPr>
          <a:lstStyle/>
          <a:p>
            <a:pPr algn="l">
              <a:lnSpc>
                <a:spcPct val="100000"/>
              </a:lnSpc>
              <a:spcBef>
                <a:spcPts val="0"/>
              </a:spcBef>
              <a:buNone/>
            </a:pPr>
            <a:r>
              <a:rPr lang="en-US" sz="1600" b="1" dirty="0">
                <a:solidFill>
                  <a:srgbClr val="404040"/>
                </a:solidFill>
              </a:rPr>
              <a:t>Tuning did not help</a:t>
            </a:r>
          </a:p>
        </p:txBody>
      </p:sp>
      <p:sp>
        <p:nvSpPr>
          <p:cNvPr id="69" name="Text 69"/>
          <p:cNvSpPr txBox="1"/>
          <p:nvPr/>
        </p:nvSpPr>
        <p:spPr>
          <a:xfrm>
            <a:off x="7467600" y="5003800"/>
            <a:ext cx="4114800" cy="812800"/>
          </a:xfrm>
          <a:prstGeom prst="rect">
            <a:avLst/>
          </a:prstGeom>
          <a:noFill/>
          <a:ln>
            <a:noFill/>
          </a:ln>
        </p:spPr>
        <p:txBody>
          <a:bodyPr wrap="square" lIns="0" tIns="0" rIns="0" bIns="0" anchor="t">
            <a:noAutofit/>
          </a:bodyPr>
          <a:lstStyle/>
          <a:p>
            <a:pPr algn="l">
              <a:lnSpc>
                <a:spcPct val="100000"/>
              </a:lnSpc>
              <a:spcBef>
                <a:spcPts val="0"/>
              </a:spcBef>
              <a:buNone/>
            </a:pPr>
            <a:r>
              <a:rPr lang="en-US" sz="1400" dirty="0">
                <a:solidFill>
                  <a:srgbClr val="595959"/>
                </a:solidFill>
              </a:rPr>
              <a:t>Trying 40 model settings gave only +0.005, too small to be meaningful.</a:t>
            </a:r>
          </a:p>
        </p:txBody>
      </p:sp>
    </p:spTree>
    <p:extLst>
      <p:ext uri="{BB962C8B-B14F-4D97-AF65-F5344CB8AC3E}">
        <p14:creationId xmlns:p14="http://schemas.microsoft.com/office/powerpoint/2010/main" val="86545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7DBF9-D1E5-55DA-C252-0C0294B70704}"/>
              </a:ext>
            </a:extLst>
          </p:cNvPr>
          <p:cNvSpPr>
            <a:spLocks noGrp="1"/>
          </p:cNvSpPr>
          <p:nvPr>
            <p:ph type="title"/>
          </p:nvPr>
        </p:nvSpPr>
        <p:spPr/>
        <p:txBody>
          <a:bodyPr>
            <a:normAutofit/>
          </a:bodyPr>
          <a:lstStyle/>
          <a:p>
            <a:r>
              <a:rPr lang="en-US" dirty="0"/>
              <a:t>Results</a:t>
            </a:r>
          </a:p>
          <a:p>
            <a:pPr>
              <a:spcBef>
                <a:spcPts val="200"/>
              </a:spcBef>
            </a:pPr>
            <a:r>
              <a:rPr lang="en-US" sz="1600" b="0" dirty="0">
                <a:solidFill>
                  <a:srgbClr val="595959"/>
                </a:solidFill>
              </a:rPr>
              <a:t>We tested the same system on three other public datasets</a:t>
            </a:r>
          </a:p>
        </p:txBody>
      </p:sp>
      <p:sp>
        <p:nvSpPr>
          <p:cNvPr id="200" name="Slide Number"/>
          <p:cNvSpPr>
            <a:spLocks noGrp="1"/>
          </p:cNvSpPr>
          <p:nvPr>
            <p:ph type="sldNum" sz="quarter" idx="12"/>
          </p:nvPr>
        </p:nvSpPr>
        <p:spPr/>
        <p:txBody>
          <a:bodyPr/>
          <a:lstStyle/>
          <a:p>
            <a:fld id="{C7F0390B-6E29-48DF-B134-99D6A0365BB5}" type="slidenum">
              <a:rPr lang="en-US"/>
              <a:t>13</a:t>
            </a:fld>
            <a:endParaRPr lang="en-US"/>
          </a:p>
        </p:txBody>
      </p:sp>
      <p:sp>
        <p:nvSpPr>
          <p:cNvPr id="42" name="Text 42"/>
          <p:cNvSpPr txBox="1"/>
          <p:nvPr/>
        </p:nvSpPr>
        <p:spPr>
          <a:xfrm>
            <a:off x="609600" y="5308600"/>
            <a:ext cx="5334000" cy="889000"/>
          </a:xfrm>
          <a:prstGeom prst="rect">
            <a:avLst/>
          </a:prstGeom>
          <a:solidFill>
            <a:srgbClr val="EEF2F8"/>
          </a:solidFill>
        </p:spPr>
        <p:txBody>
          <a:bodyPr wrap="square" lIns="177800" tIns="0" rIns="177800" bIns="0" anchor="ctr">
            <a:noAutofit/>
          </a:bodyPr>
          <a:lstStyle/>
          <a:p>
            <a:pPr>
              <a:buNone/>
            </a:pPr>
            <a:r>
              <a:rPr lang="en-US" sz="1600" b="1" dirty="0">
                <a:solidFill>
                  <a:srgbClr val="404040"/>
                </a:solidFill>
              </a:rPr>
              <a:t>Result confirmed: </a:t>
            </a:r>
            <a:r>
              <a:rPr lang="en-US" sz="1600" dirty="0">
                <a:solidFill>
                  <a:srgbClr val="262626"/>
                </a:solidFill>
              </a:rPr>
              <a:t>on another version of the same traffic, the system again relied mostly on service information.</a:t>
            </a:r>
          </a:p>
        </p:txBody>
      </p:sp>
      <p:sp>
        <p:nvSpPr>
          <p:cNvPr id="43" name="Text 43"/>
          <p:cNvSpPr txBox="1"/>
          <p:nvPr/>
        </p:nvSpPr>
        <p:spPr>
          <a:xfrm>
            <a:off x="6248400" y="5308600"/>
            <a:ext cx="5334000" cy="889000"/>
          </a:xfrm>
          <a:prstGeom prst="rect">
            <a:avLst/>
          </a:prstGeom>
          <a:solidFill>
            <a:srgbClr val="EEF2F8"/>
          </a:solidFill>
        </p:spPr>
        <p:txBody>
          <a:bodyPr wrap="square" lIns="177800" tIns="0" rIns="177800" bIns="0" anchor="ctr">
            <a:noAutofit/>
          </a:bodyPr>
          <a:lstStyle/>
          <a:p>
            <a:pPr>
              <a:buNone/>
            </a:pPr>
            <a:r>
              <a:rPr lang="en-US" sz="1600" b="1" dirty="0">
                <a:solidFill>
                  <a:srgbClr val="404040"/>
                </a:solidFill>
              </a:rPr>
              <a:t>Why the scores are higher: </a:t>
            </a:r>
            <a:r>
              <a:rPr lang="en-US" sz="1600" dirty="0">
                <a:solidFill>
                  <a:srgbClr val="262626"/>
                </a:solidFill>
              </a:rPr>
              <a:t>in CIC-IDS2017 and TON_IoT, simple rules already separate attacks from normal traffic.</a:t>
            </a:r>
          </a:p>
        </p:txBody>
      </p:sp>
      <p:graphicFrame>
        <p:nvGraphicFramePr>
          <p:cNvPr id="4" name="Other datasets table">
            <a:extLst>
              <a:ext uri="{FF2B5EF4-FFF2-40B4-BE49-F238E27FC236}">
                <a16:creationId xmlns:a16="http://schemas.microsoft.com/office/drawing/2014/main" id="{BECCD0CC-28CA-4B7D-9CE0-B9C23923E69A}"/>
              </a:ext>
            </a:extLst>
          </p:cNvPr>
          <p:cNvGraphicFramePr>
            <a:graphicFrameLocks noGrp="1"/>
          </p:cNvGraphicFramePr>
          <p:nvPr/>
        </p:nvGraphicFramePr>
        <p:xfrm>
          <a:off x="609600" y="1739900"/>
          <a:ext cx="10972800" cy="3175000"/>
        </p:xfrm>
        <a:graphic>
          <a:graphicData uri="http://schemas.openxmlformats.org/drawingml/2006/table">
            <a:tbl>
              <a:tblPr firstRow="1">
                <a:tableStyleId>{2D5ABB26-0587-4C30-8999-92F81FD0307C}</a:tableStyleId>
              </a:tblPr>
              <a:tblGrid>
                <a:gridCol w="3429000">
                  <a:extLst>
                    <a:ext uri="{9D8B030D-6E8A-4147-A177-3AD203B41FA5}">
                      <a16:colId xmlns:a16="http://schemas.microsoft.com/office/drawing/2014/main" val="3233346448"/>
                    </a:ext>
                  </a:extLst>
                </a:gridCol>
                <a:gridCol w="1333500">
                  <a:extLst>
                    <a:ext uri="{9D8B030D-6E8A-4147-A177-3AD203B41FA5}">
                      <a16:colId xmlns:a16="http://schemas.microsoft.com/office/drawing/2014/main" val="4194367289"/>
                    </a:ext>
                  </a:extLst>
                </a:gridCol>
                <a:gridCol w="1333500">
                  <a:extLst>
                    <a:ext uri="{9D8B030D-6E8A-4147-A177-3AD203B41FA5}">
                      <a16:colId xmlns:a16="http://schemas.microsoft.com/office/drawing/2014/main" val="943150006"/>
                    </a:ext>
                  </a:extLst>
                </a:gridCol>
                <a:gridCol w="4876800">
                  <a:extLst>
                    <a:ext uri="{9D8B030D-6E8A-4147-A177-3AD203B41FA5}">
                      <a16:colId xmlns:a16="http://schemas.microsoft.com/office/drawing/2014/main" val="927612548"/>
                    </a:ext>
                  </a:extLst>
                </a:gridCol>
              </a:tblGrid>
              <a:tr h="431800">
                <a:tc>
                  <a:txBody>
                    <a:bodyPr/>
                    <a:lstStyle/>
                    <a:p>
                      <a:pPr algn="l"/>
                      <a:r>
                        <a:rPr lang="en-US" sz="1400" b="1">
                          <a:solidFill>
                            <a:srgbClr val="595959"/>
                          </a:solidFill>
                          <a:latin typeface="Times New Roman"/>
                          <a:cs typeface="Times New Roman"/>
                        </a:rPr>
                        <a:t>Dataset</a:t>
                      </a:r>
                    </a:p>
                  </a:txBody>
                  <a:tcPr marL="101600" marR="101600" anchor="ctr">
                    <a:lnB w="12700">
                      <a:solidFill>
                        <a:srgbClr val="595959"/>
                      </a:solidFill>
                      <a:prstDash val="solid"/>
                    </a:lnB>
                    <a:noFill/>
                  </a:tcPr>
                </a:tc>
                <a:tc>
                  <a:txBody>
                    <a:bodyPr/>
                    <a:lstStyle/>
                    <a:p>
                      <a:pPr algn="r"/>
                      <a:r>
                        <a:rPr lang="en-US" sz="1400" b="1">
                          <a:solidFill>
                            <a:srgbClr val="595959"/>
                          </a:solidFill>
                          <a:latin typeface="Times New Roman"/>
                          <a:cs typeface="Times New Roman"/>
                        </a:rPr>
                        <a:t>Macro-F1</a:t>
                      </a:r>
                    </a:p>
                  </a:txBody>
                  <a:tcPr marL="101600" marR="101600" anchor="ctr">
                    <a:lnB w="12700">
                      <a:solidFill>
                        <a:srgbClr val="595959"/>
                      </a:solidFill>
                      <a:prstDash val="solid"/>
                    </a:lnB>
                    <a:noFill/>
                  </a:tcPr>
                </a:tc>
                <a:tc>
                  <a:txBody>
                    <a:bodyPr/>
                    <a:lstStyle/>
                    <a:p>
                      <a:pPr algn="r"/>
                      <a:r>
                        <a:rPr lang="en-US" sz="1400" b="1">
                          <a:solidFill>
                            <a:srgbClr val="595959"/>
                          </a:solidFill>
                          <a:latin typeface="Times New Roman"/>
                          <a:cs typeface="Times New Roman"/>
                        </a:rPr>
                        <a:t>Accuracy</a:t>
                      </a:r>
                    </a:p>
                  </a:txBody>
                  <a:tcPr marL="101600" marR="101600" anchor="ctr">
                    <a:lnB w="12700">
                      <a:solidFill>
                        <a:srgbClr val="595959"/>
                      </a:solidFill>
                      <a:prstDash val="solid"/>
                    </a:lnB>
                    <a:noFill/>
                  </a:tcPr>
                </a:tc>
                <a:tc>
                  <a:txBody>
                    <a:bodyPr/>
                    <a:lstStyle/>
                    <a:p>
                      <a:pPr algn="l"/>
                      <a:r>
                        <a:rPr lang="en-US" sz="1400" b="1">
                          <a:solidFill>
                            <a:srgbClr val="595959"/>
                          </a:solidFill>
                          <a:latin typeface="Times New Roman"/>
                          <a:cs typeface="Times New Roman"/>
                        </a:rPr>
                        <a:t>What it tells us</a:t>
                      </a:r>
                    </a:p>
                  </a:txBody>
                  <a:tcPr marL="101600" marR="101600" anchor="ctr">
                    <a:lnB w="12700">
                      <a:solidFill>
                        <a:srgbClr val="595959"/>
                      </a:solidFill>
                      <a:prstDash val="solid"/>
                    </a:lnB>
                    <a:noFill/>
                  </a:tcPr>
                </a:tc>
                <a:extLst>
                  <a:ext uri="{0D108BD9-81ED-4DB2-BD59-A6C34878D82A}">
                    <a16:rowId xmlns:a16="http://schemas.microsoft.com/office/drawing/2014/main" val="2279664816"/>
                  </a:ext>
                </a:extLst>
              </a:tr>
              <a:tr h="685800">
                <a:tc>
                  <a:txBody>
                    <a:bodyPr/>
                    <a:lstStyle/>
                    <a:p>
                      <a:pPr algn="l"/>
                      <a:r>
                        <a:rPr lang="en-US" sz="1600" b="1" dirty="0">
                          <a:solidFill>
                            <a:srgbClr val="262626"/>
                          </a:solidFill>
                          <a:latin typeface="Times New Roman"/>
                          <a:cs typeface="Times New Roman"/>
                        </a:rPr>
                        <a:t>CIC-UNSW-NB15 (2024)</a:t>
                      </a:r>
                    </a:p>
                  </a:txBody>
                  <a:tcPr marL="101600" marR="101600" anchor="ctr">
                    <a:lnT w="12700" cap="flat" cmpd="sng" algn="ctr">
                      <a:solidFill>
                        <a:srgbClr val="595959"/>
                      </a:solidFill>
                      <a:prstDash val="solid"/>
                      <a:round/>
                      <a:headEnd type="none" w="med" len="med"/>
                      <a:tailEnd type="none" w="med" len="med"/>
                    </a:lnT>
                    <a:lnB w="9525">
                      <a:solidFill>
                        <a:srgbClr val="D9D9D9"/>
                      </a:solidFill>
                      <a:prstDash val="solid"/>
                    </a:lnB>
                    <a:solidFill>
                      <a:srgbClr val="EEF2F8"/>
                    </a:solidFill>
                  </a:tcPr>
                </a:tc>
                <a:tc>
                  <a:txBody>
                    <a:bodyPr/>
                    <a:lstStyle/>
                    <a:p>
                      <a:pPr algn="r"/>
                      <a:r>
                        <a:rPr lang="en-US" sz="1600" b="1">
                          <a:solidFill>
                            <a:srgbClr val="4A66AC"/>
                          </a:solidFill>
                          <a:latin typeface="Times New Roman"/>
                          <a:cs typeface="Times New Roman"/>
                        </a:rPr>
                        <a:t>0.689</a:t>
                      </a:r>
                    </a:p>
                  </a:txBody>
                  <a:tcPr marL="101600" marR="101600" anchor="ctr">
                    <a:lnT w="12700" cap="flat" cmpd="sng" algn="ctr">
                      <a:solidFill>
                        <a:srgbClr val="595959"/>
                      </a:solidFill>
                      <a:prstDash val="solid"/>
                      <a:round/>
                      <a:headEnd type="none" w="med" len="med"/>
                      <a:tailEnd type="none" w="med" len="med"/>
                    </a:lnT>
                    <a:lnB w="9525">
                      <a:solidFill>
                        <a:srgbClr val="D9D9D9"/>
                      </a:solidFill>
                      <a:prstDash val="solid"/>
                    </a:lnB>
                    <a:solidFill>
                      <a:srgbClr val="EEF2F8"/>
                    </a:solidFill>
                  </a:tcPr>
                </a:tc>
                <a:tc>
                  <a:txBody>
                    <a:bodyPr/>
                    <a:lstStyle/>
                    <a:p>
                      <a:pPr algn="r"/>
                      <a:r>
                        <a:rPr lang="en-US" sz="1600" b="1">
                          <a:solidFill>
                            <a:srgbClr val="4A66AC"/>
                          </a:solidFill>
                          <a:latin typeface="Times New Roman"/>
                          <a:cs typeface="Times New Roman"/>
                        </a:rPr>
                        <a:t>98.7%</a:t>
                      </a:r>
                    </a:p>
                  </a:txBody>
                  <a:tcPr marL="101600" marR="101600" anchor="ctr">
                    <a:lnT w="12700" cap="flat" cmpd="sng" algn="ctr">
                      <a:solidFill>
                        <a:srgbClr val="595959"/>
                      </a:solidFill>
                      <a:prstDash val="solid"/>
                      <a:round/>
                      <a:headEnd type="none" w="med" len="med"/>
                      <a:tailEnd type="none" w="med" len="med"/>
                    </a:lnT>
                    <a:lnB w="9525">
                      <a:solidFill>
                        <a:srgbClr val="D9D9D9"/>
                      </a:solidFill>
                      <a:prstDash val="solid"/>
                    </a:lnB>
                    <a:solidFill>
                      <a:srgbClr val="EEF2F8"/>
                    </a:solidFill>
                  </a:tcPr>
                </a:tc>
                <a:tc>
                  <a:txBody>
                    <a:bodyPr/>
                    <a:lstStyle/>
                    <a:p>
                      <a:pPr algn="l"/>
                      <a:r>
                        <a:rPr lang="en-US" sz="1600" b="0">
                          <a:solidFill>
                            <a:srgbClr val="262626"/>
                          </a:solidFill>
                          <a:latin typeface="Times New Roman"/>
                          <a:cs typeface="Times New Roman"/>
                        </a:rPr>
                        <a:t>Our main result, on realistic traffic that is 97% normal</a:t>
                      </a:r>
                    </a:p>
                  </a:txBody>
                  <a:tcPr marL="101600" marR="101600" anchor="ctr">
                    <a:lnT w="12700" cap="flat" cmpd="sng" algn="ctr">
                      <a:solidFill>
                        <a:srgbClr val="595959"/>
                      </a:solidFill>
                      <a:prstDash val="solid"/>
                      <a:round/>
                      <a:headEnd type="none" w="med" len="med"/>
                      <a:tailEnd type="none" w="med" len="med"/>
                    </a:lnT>
                    <a:lnB w="9525">
                      <a:solidFill>
                        <a:srgbClr val="D9D9D9"/>
                      </a:solidFill>
                      <a:prstDash val="solid"/>
                    </a:lnB>
                    <a:solidFill>
                      <a:srgbClr val="EEF2F8"/>
                    </a:solidFill>
                  </a:tcPr>
                </a:tc>
                <a:extLst>
                  <a:ext uri="{0D108BD9-81ED-4DB2-BD59-A6C34878D82A}">
                    <a16:rowId xmlns:a16="http://schemas.microsoft.com/office/drawing/2014/main" val="1178606593"/>
                  </a:ext>
                </a:extLst>
              </a:tr>
              <a:tr h="685800">
                <a:tc>
                  <a:txBody>
                    <a:bodyPr/>
                    <a:lstStyle/>
                    <a:p>
                      <a:pPr algn="l"/>
                      <a:r>
                        <a:rPr lang="en-US" sz="1600" b="1" dirty="0">
                          <a:solidFill>
                            <a:srgbClr val="262626"/>
                          </a:solidFill>
                          <a:latin typeface="Times New Roman"/>
                          <a:cs typeface="Times New Roman"/>
                        </a:rPr>
                        <a:t>UNSW-NB15 (original version)</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a:solidFill>
                            <a:srgbClr val="262626"/>
                          </a:solidFill>
                          <a:latin typeface="Times New Roman"/>
                          <a:cs typeface="Times New Roman"/>
                        </a:rPr>
                        <a:t>0.639</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a:solidFill>
                            <a:srgbClr val="262626"/>
                          </a:solidFill>
                          <a:latin typeface="Times New Roman"/>
                          <a:cs typeface="Times New Roman"/>
                        </a:rPr>
                        <a:t>83.0%</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1600" b="0">
                          <a:solidFill>
                            <a:srgbClr val="262626"/>
                          </a:solidFill>
                          <a:latin typeface="Times New Roman"/>
                          <a:cs typeface="Times New Roman"/>
                        </a:rPr>
                        <a:t>Same traffic, different features: service information mattered most</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423645403"/>
                  </a:ext>
                </a:extLst>
              </a:tr>
              <a:tr h="685800">
                <a:tc>
                  <a:txBody>
                    <a:bodyPr/>
                    <a:lstStyle/>
                    <a:p>
                      <a:pPr algn="l"/>
                      <a:r>
                        <a:rPr lang="en-US" sz="1600" b="1" dirty="0">
                          <a:solidFill>
                            <a:srgbClr val="262626"/>
                          </a:solidFill>
                          <a:latin typeface="Times New Roman"/>
                          <a:cs typeface="Times New Roman"/>
                        </a:rPr>
                        <a:t>CIC-IDS2017</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a:solidFill>
                            <a:srgbClr val="262626"/>
                          </a:solidFill>
                          <a:latin typeface="Times New Roman"/>
                          <a:cs typeface="Times New Roman"/>
                        </a:rPr>
                        <a:t>0.984</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a:solidFill>
                            <a:srgbClr val="262626"/>
                          </a:solidFill>
                          <a:latin typeface="Times New Roman"/>
                          <a:cs typeface="Times New Roman"/>
                        </a:rPr>
                        <a:t>99.9%</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1600" b="0">
                          <a:solidFill>
                            <a:srgbClr val="262626"/>
                          </a:solidFill>
                          <a:latin typeface="Times New Roman"/>
                          <a:cs typeface="Times New Roman"/>
                        </a:rPr>
                        <a:t>Even the simplest model (1-NN) gets 99.7% right</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52359160"/>
                  </a:ext>
                </a:extLst>
              </a:tr>
              <a:tr h="685800">
                <a:tc>
                  <a:txBody>
                    <a:bodyPr/>
                    <a:lstStyle/>
                    <a:p>
                      <a:pPr algn="l"/>
                      <a:r>
                        <a:rPr lang="en-US" sz="1600" b="1" dirty="0" err="1">
                          <a:solidFill>
                            <a:srgbClr val="262626"/>
                          </a:solidFill>
                          <a:latin typeface="Times New Roman"/>
                          <a:cs typeface="Times New Roman"/>
                        </a:rPr>
                        <a:t>TON_IoT</a:t>
                      </a:r>
                      <a:endParaRPr lang="en-US" sz="1600" b="1" dirty="0">
                        <a:solidFill>
                          <a:srgbClr val="262626"/>
                        </a:solidFill>
                        <a:latin typeface="Times New Roman"/>
                        <a:cs typeface="Times New Roman"/>
                      </a:endParaRP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dirty="0">
                          <a:solidFill>
                            <a:srgbClr val="262626"/>
                          </a:solidFill>
                          <a:latin typeface="Times New Roman"/>
                          <a:cs typeface="Times New Roman"/>
                        </a:rPr>
                        <a:t>0.960</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r"/>
                      <a:r>
                        <a:rPr lang="en-US" sz="1600" b="0">
                          <a:solidFill>
                            <a:srgbClr val="262626"/>
                          </a:solidFill>
                          <a:latin typeface="Times New Roman"/>
                          <a:cs typeface="Times New Roman"/>
                        </a:rPr>
                        <a:t>98.1%</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tc>
                  <a:txBody>
                    <a:bodyPr/>
                    <a:lstStyle/>
                    <a:p>
                      <a:pPr algn="l"/>
                      <a:r>
                        <a:rPr lang="en-US" sz="1600" b="0" dirty="0">
                          <a:solidFill>
                            <a:srgbClr val="262626"/>
                          </a:solidFill>
                          <a:latin typeface="Times New Roman"/>
                          <a:cs typeface="Times New Roman"/>
                        </a:rPr>
                        <a:t>The sender’s IP address alone reveals 99.98% of attacks</a:t>
                      </a:r>
                    </a:p>
                  </a:txBody>
                  <a:tcPr marL="101600" marR="101600" anchor="ctr">
                    <a:lnT w="9525" cap="flat" cmpd="sng" algn="ctr">
                      <a:solidFill>
                        <a:srgbClr val="D9D9D9"/>
                      </a:solidFill>
                      <a:prstDash val="solid"/>
                      <a:round/>
                      <a:headEnd type="none" w="med" len="med"/>
                      <a:tailEnd type="none" w="med" len="med"/>
                    </a:lnT>
                    <a:lnB w="9525">
                      <a:solidFill>
                        <a:srgbClr val="D9D9D9"/>
                      </a:solidFill>
                      <a:prstDash val="solid"/>
                    </a:lnB>
                    <a:noFill/>
                  </a:tcPr>
                </a:tc>
                <a:extLst>
                  <a:ext uri="{0D108BD9-81ED-4DB2-BD59-A6C34878D82A}">
                    <a16:rowId xmlns:a16="http://schemas.microsoft.com/office/drawing/2014/main" val="3244075987"/>
                  </a:ext>
                </a:extLst>
              </a:tr>
            </a:tbl>
          </a:graphicData>
        </a:graphic>
      </p:graphicFrame>
    </p:spTree>
    <p:extLst>
      <p:ext uri="{BB962C8B-B14F-4D97-AF65-F5344CB8AC3E}">
        <p14:creationId xmlns:p14="http://schemas.microsoft.com/office/powerpoint/2010/main" val="2316965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E54A7-13DE-7501-70F0-0B8743CEC54B}"/>
              </a:ext>
            </a:extLst>
          </p:cNvPr>
          <p:cNvSpPr>
            <a:spLocks noGrp="1"/>
          </p:cNvSpPr>
          <p:nvPr>
            <p:ph type="title"/>
          </p:nvPr>
        </p:nvSpPr>
        <p:spPr/>
        <p:txBody>
          <a:bodyPr/>
          <a:lstStyle/>
          <a:p>
            <a:r>
              <a:rPr lang="en-US"/>
              <a:t>Limitations</a:t>
            </a:r>
          </a:p>
        </p:txBody>
      </p:sp>
      <p:sp>
        <p:nvSpPr>
          <p:cNvPr id="200" name="Slide Number"/>
          <p:cNvSpPr>
            <a:spLocks noGrp="1"/>
          </p:cNvSpPr>
          <p:nvPr>
            <p:ph type="sldNum" sz="quarter" idx="12"/>
          </p:nvPr>
        </p:nvSpPr>
        <p:spPr/>
        <p:txBody>
          <a:bodyPr/>
          <a:lstStyle/>
          <a:p>
            <a:fld id="{C7F0390B-6E29-48DF-B134-99D6A0365BB5}" type="slidenum">
              <a:rPr lang="en-US"/>
              <a:t>14</a:t>
            </a:fld>
            <a:endParaRPr lang="en-US"/>
          </a:p>
        </p:txBody>
      </p:sp>
      <p:sp>
        <p:nvSpPr>
          <p:cNvPr id="40" name="Limitations text"/>
          <p:cNvSpPr txBox="1"/>
          <p:nvPr/>
        </p:nvSpPr>
        <p:spPr>
          <a:xfrm>
            <a:off x="609600" y="1651000"/>
            <a:ext cx="10972800" cy="4445000"/>
          </a:xfrm>
          <a:prstGeom prst="rect">
            <a:avLst/>
          </a:prstGeom>
          <a:noFill/>
        </p:spPr>
        <p:txBody>
          <a:bodyPr wrap="square" lIns="0" tIns="0" rIns="0" bIns="0" anchor="t">
            <a:noAutofit/>
          </a:bodyPr>
          <a:lstStyle/>
          <a:p>
            <a:pPr marL="304800" indent="-304800">
              <a:lnSpc>
                <a:spcPct val="110000"/>
              </a:lnSpc>
              <a:spcBef>
                <a:spcPts val="0"/>
              </a:spcBef>
              <a:buFont typeface="Arial"/>
              <a:buChar char="•"/>
            </a:pPr>
            <a:r>
              <a:rPr lang="en-US" sz="1800" b="1" dirty="0">
                <a:solidFill>
                  <a:srgbClr val="262626"/>
                </a:solidFill>
              </a:rPr>
              <a:t>One main testbed: </a:t>
            </a:r>
            <a:r>
              <a:rPr lang="en-US" sz="1800" dirty="0">
                <a:solidFill>
                  <a:srgbClr val="262626"/>
                </a:solidFill>
              </a:rPr>
              <a:t>the other public datasets can be solved by simple rules, so the results rest mostly on one dataset.</a:t>
            </a:r>
          </a:p>
          <a:p>
            <a:pPr marL="304800" indent="-304800">
              <a:lnSpc>
                <a:spcPct val="110000"/>
              </a:lnSpc>
              <a:spcBef>
                <a:spcPts val="1600"/>
              </a:spcBef>
              <a:buFont typeface="Arial"/>
              <a:buChar char="•"/>
            </a:pPr>
            <a:r>
              <a:rPr lang="en-US" sz="1800" b="1" dirty="0">
                <a:solidFill>
                  <a:srgbClr val="262626"/>
                </a:solidFill>
              </a:rPr>
              <a:t>No packet contents: </a:t>
            </a:r>
            <a:r>
              <a:rPr lang="en-US" sz="1800" dirty="0">
                <a:solidFill>
                  <a:srgbClr val="262626"/>
                </a:solidFill>
              </a:rPr>
              <a:t>the model only sees connection summaries, so Analysis (F1 0.161) and Worms (F1 0.574) stay hard to detect.</a:t>
            </a:r>
          </a:p>
          <a:p>
            <a:pPr marL="304800" indent="-304800">
              <a:lnSpc>
                <a:spcPct val="110000"/>
              </a:lnSpc>
              <a:spcBef>
                <a:spcPts val="1600"/>
              </a:spcBef>
              <a:buFont typeface="Arial"/>
              <a:buChar char="•"/>
            </a:pPr>
            <a:r>
              <a:rPr lang="en-US" sz="1800" b="1" dirty="0">
                <a:solidFill>
                  <a:srgbClr val="262626"/>
                </a:solidFill>
              </a:rPr>
              <a:t>False alarms remain: </a:t>
            </a:r>
            <a:r>
              <a:rPr lang="en-US" sz="1800" dirty="0">
                <a:solidFill>
                  <a:srgbClr val="262626"/>
                </a:solidFill>
              </a:rPr>
              <a:t>about 1 in 5 alerts is still a false alarm, and the reject option let 1,530 real attacks through.</a:t>
            </a:r>
          </a:p>
          <a:p>
            <a:pPr marL="304800" indent="-304800">
              <a:lnSpc>
                <a:spcPct val="110000"/>
              </a:lnSpc>
              <a:spcBef>
                <a:spcPts val="1600"/>
              </a:spcBef>
              <a:buFont typeface="Arial"/>
              <a:buChar char="•"/>
            </a:pPr>
            <a:r>
              <a:rPr lang="en-US" sz="1800" b="1" dirty="0">
                <a:solidFill>
                  <a:srgbClr val="262626"/>
                </a:solidFill>
              </a:rPr>
              <a:t>Sensitive to small changes: </a:t>
            </a:r>
            <a:r>
              <a:rPr lang="en-US" sz="1800" dirty="0">
                <a:solidFill>
                  <a:srgbClr val="262626"/>
                </a:solidFill>
              </a:rPr>
              <a:t>small random changes to the input cut macro-F1 from 0.687 to 0.609, and a targeted attacker could hide 97% of attacks.</a:t>
            </a:r>
          </a:p>
        </p:txBody>
      </p:sp>
    </p:spTree>
    <p:extLst>
      <p:ext uri="{BB962C8B-B14F-4D97-AF65-F5344CB8AC3E}">
        <p14:creationId xmlns:p14="http://schemas.microsoft.com/office/powerpoint/2010/main" val="3782777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F15EB-8D48-F382-AE40-E01ACEDEC091}"/>
              </a:ext>
            </a:extLst>
          </p:cNvPr>
          <p:cNvSpPr>
            <a:spLocks noGrp="1"/>
          </p:cNvSpPr>
          <p:nvPr>
            <p:ph type="title"/>
          </p:nvPr>
        </p:nvSpPr>
        <p:spPr/>
        <p:txBody>
          <a:bodyPr/>
          <a:lstStyle/>
          <a:p>
            <a:r>
              <a:rPr lang="en-US" dirty="0"/>
              <a:t>Future Work</a:t>
            </a:r>
          </a:p>
        </p:txBody>
      </p:sp>
      <p:sp>
        <p:nvSpPr>
          <p:cNvPr id="200" name="Slide Number"/>
          <p:cNvSpPr>
            <a:spLocks noGrp="1"/>
          </p:cNvSpPr>
          <p:nvPr>
            <p:ph type="sldNum" sz="quarter" idx="12"/>
          </p:nvPr>
        </p:nvSpPr>
        <p:spPr/>
        <p:txBody>
          <a:bodyPr/>
          <a:lstStyle/>
          <a:p>
            <a:fld id="{B6F15528-21DE-4FAA-801E-634DDDAF4B2B}" type="slidenum">
              <a:rPr lang="en-US"/>
              <a:t>15</a:t>
            </a:fld>
            <a:endParaRPr lang="en-US"/>
          </a:p>
        </p:txBody>
      </p:sp>
      <p:sp>
        <p:nvSpPr>
          <p:cNvPr id="40" name="Future work text"/>
          <p:cNvSpPr txBox="1"/>
          <p:nvPr/>
        </p:nvSpPr>
        <p:spPr>
          <a:xfrm>
            <a:off x="609600" y="1651000"/>
            <a:ext cx="10972800" cy="4445000"/>
          </a:xfrm>
          <a:prstGeom prst="rect">
            <a:avLst/>
          </a:prstGeom>
          <a:noFill/>
        </p:spPr>
        <p:txBody>
          <a:bodyPr wrap="square" lIns="0" tIns="0" rIns="0" bIns="0" anchor="t">
            <a:noAutofit/>
          </a:bodyPr>
          <a:lstStyle/>
          <a:p>
            <a:pPr marL="304800" indent="-304800">
              <a:lnSpc>
                <a:spcPct val="110000"/>
              </a:lnSpc>
              <a:spcBef>
                <a:spcPts val="0"/>
              </a:spcBef>
              <a:buFont typeface="Arial"/>
              <a:buChar char="•"/>
            </a:pPr>
            <a:r>
              <a:rPr lang="en-US" sz="1800" b="1" dirty="0">
                <a:solidFill>
                  <a:srgbClr val="262626"/>
                </a:solidFill>
              </a:rPr>
              <a:t>Test on other networks: </a:t>
            </a:r>
            <a:r>
              <a:rPr lang="en-US" sz="1800" dirty="0">
                <a:solidFill>
                  <a:srgbClr val="262626"/>
                </a:solidFill>
              </a:rPr>
              <a:t>train on one network and test on another to see if the system still works.</a:t>
            </a:r>
          </a:p>
          <a:p>
            <a:pPr marL="304800" indent="-304800">
              <a:lnSpc>
                <a:spcPct val="110000"/>
              </a:lnSpc>
              <a:spcBef>
                <a:spcPts val="1600"/>
              </a:spcBef>
              <a:buFont typeface="Arial"/>
              <a:buChar char="•"/>
            </a:pPr>
            <a:r>
              <a:rPr lang="en-US" sz="1800" b="1" dirty="0">
                <a:solidFill>
                  <a:srgbClr val="262626"/>
                </a:solidFill>
              </a:rPr>
              <a:t>Use packet contents: </a:t>
            </a:r>
            <a:r>
              <a:rPr lang="en-US" sz="1800" dirty="0">
                <a:solidFill>
                  <a:srgbClr val="262626"/>
                </a:solidFill>
              </a:rPr>
              <a:t>add features from packet contents to help detect Analysis and Worms.</a:t>
            </a:r>
          </a:p>
          <a:p>
            <a:pPr marL="304800" indent="-304800">
              <a:lnSpc>
                <a:spcPct val="110000"/>
              </a:lnSpc>
              <a:spcBef>
                <a:spcPts val="1600"/>
              </a:spcBef>
              <a:buFont typeface="Arial"/>
              <a:buChar char="•"/>
            </a:pPr>
            <a:r>
              <a:rPr lang="en-US" sz="1800" b="1" dirty="0">
                <a:solidFill>
                  <a:srgbClr val="262626"/>
                </a:solidFill>
              </a:rPr>
              <a:t>Explain each alert: </a:t>
            </a:r>
            <a:r>
              <a:rPr lang="en-US" sz="1800" dirty="0">
                <a:solidFill>
                  <a:srgbClr val="262626"/>
                </a:solidFill>
              </a:rPr>
              <a:t>use SHAP to show why a connection was flagged, so analysts can spot false alarms faster.</a:t>
            </a:r>
          </a:p>
          <a:p>
            <a:pPr marL="304800" indent="-304800">
              <a:lnSpc>
                <a:spcPct val="110000"/>
              </a:lnSpc>
              <a:spcBef>
                <a:spcPts val="1600"/>
              </a:spcBef>
              <a:buFont typeface="Arial"/>
              <a:buChar char="•"/>
            </a:pPr>
            <a:r>
              <a:rPr lang="en-US" sz="1800" b="1" dirty="0">
                <a:solidFill>
                  <a:srgbClr val="262626"/>
                </a:solidFill>
              </a:rPr>
              <a:t>Defend against attackers: </a:t>
            </a:r>
            <a:r>
              <a:rPr lang="en-US" sz="1800" dirty="0">
                <a:solidFill>
                  <a:srgbClr val="262626"/>
                </a:solidFill>
              </a:rPr>
              <a:t>train the model on deliberately altered attacks so it is harder to fool.</a:t>
            </a:r>
          </a:p>
        </p:txBody>
      </p:sp>
    </p:spTree>
    <p:extLst>
      <p:ext uri="{BB962C8B-B14F-4D97-AF65-F5344CB8AC3E}">
        <p14:creationId xmlns:p14="http://schemas.microsoft.com/office/powerpoint/2010/main" val="645397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88DDA-48E3-52F6-310F-9EE4C854CB9B}"/>
              </a:ext>
            </a:extLst>
          </p:cNvPr>
          <p:cNvSpPr>
            <a:spLocks noGrp="1"/>
          </p:cNvSpPr>
          <p:nvPr>
            <p:ph type="title"/>
          </p:nvPr>
        </p:nvSpPr>
        <p:spPr/>
        <p:txBody>
          <a:bodyPr/>
          <a:lstStyle/>
          <a:p>
            <a:r>
              <a:rPr lang="en-US"/>
              <a:t>Conclusion</a:t>
            </a:r>
          </a:p>
        </p:txBody>
      </p:sp>
      <p:sp>
        <p:nvSpPr>
          <p:cNvPr id="200" name="Slide Number"/>
          <p:cNvSpPr>
            <a:spLocks noGrp="1"/>
          </p:cNvSpPr>
          <p:nvPr>
            <p:ph type="sldNum" sz="quarter" idx="12"/>
          </p:nvPr>
        </p:nvSpPr>
        <p:spPr/>
        <p:txBody>
          <a:bodyPr/>
          <a:lstStyle/>
          <a:p>
            <a:fld id="{C7F0390B-6E29-48DF-B134-99D6A0365BB5}" type="slidenum">
              <a:rPr lang="en-US"/>
              <a:t>16</a:t>
            </a:fld>
            <a:endParaRPr lang="en-US"/>
          </a:p>
        </p:txBody>
      </p:sp>
      <p:sp>
        <p:nvSpPr>
          <p:cNvPr id="40" name="Shape 40"/>
          <p:cNvSpPr txBox="1"/>
          <p:nvPr/>
        </p:nvSpPr>
        <p:spPr>
          <a:xfrm>
            <a:off x="609600" y="1651000"/>
            <a:ext cx="2413000" cy="762000"/>
          </a:xfrm>
          <a:prstGeom prst="rect">
            <a:avLst/>
          </a:prstGeom>
          <a:noFill/>
          <a:ln>
            <a:noFill/>
          </a:ln>
        </p:spPr>
        <p:txBody>
          <a:bodyPr wrap="square" lIns="0" tIns="0" rIns="0" bIns="0" anchor="ctr">
            <a:noAutofit/>
          </a:bodyPr>
          <a:lstStyle/>
          <a:p>
            <a:pPr algn="l">
              <a:lnSpc>
                <a:spcPct val="100000"/>
              </a:lnSpc>
              <a:spcBef>
                <a:spcPts val="0"/>
              </a:spcBef>
              <a:buNone/>
            </a:pPr>
            <a:r>
              <a:rPr lang="en-US" sz="4000" b="1" dirty="0">
                <a:solidFill>
                  <a:srgbClr val="404040"/>
                </a:solidFill>
                <a:latin typeface="+mj-lt"/>
              </a:rPr>
              <a:t>0.689</a:t>
            </a:r>
          </a:p>
        </p:txBody>
      </p:sp>
      <p:sp>
        <p:nvSpPr>
          <p:cNvPr id="41" name="Shape 41"/>
          <p:cNvSpPr txBox="1"/>
          <p:nvPr/>
        </p:nvSpPr>
        <p:spPr>
          <a:xfrm>
            <a:off x="3175000" y="1676400"/>
            <a:ext cx="8407400" cy="330200"/>
          </a:xfrm>
          <a:prstGeom prst="rect">
            <a:avLst/>
          </a:prstGeom>
          <a:noFill/>
          <a:ln>
            <a:noFill/>
          </a:ln>
        </p:spPr>
        <p:txBody>
          <a:bodyPr wrap="square" lIns="0" tIns="0" rIns="0" bIns="0" anchor="t">
            <a:noAutofit/>
          </a:bodyPr>
          <a:lstStyle/>
          <a:p>
            <a:pPr algn="l">
              <a:lnSpc>
                <a:spcPct val="100000"/>
              </a:lnSpc>
              <a:spcBef>
                <a:spcPts val="0"/>
              </a:spcBef>
              <a:buNone/>
            </a:pPr>
            <a:r>
              <a:rPr lang="en-US" sz="1800" b="1" dirty="0">
                <a:solidFill>
                  <a:srgbClr val="404040"/>
                </a:solidFill>
              </a:rPr>
              <a:t>The system works on realistic traffic</a:t>
            </a:r>
          </a:p>
        </p:txBody>
      </p:sp>
      <p:sp>
        <p:nvSpPr>
          <p:cNvPr id="42" name="Shape 42"/>
          <p:cNvSpPr txBox="1"/>
          <p:nvPr/>
        </p:nvSpPr>
        <p:spPr>
          <a:xfrm>
            <a:off x="3175000" y="2032000"/>
            <a:ext cx="8407400" cy="584200"/>
          </a:xfrm>
          <a:prstGeom prst="rect">
            <a:avLst/>
          </a:prstGeom>
          <a:noFill/>
          <a:ln>
            <a:noFill/>
          </a:ln>
        </p:spPr>
        <p:txBody>
          <a:bodyPr wrap="square" lIns="0" tIns="0" rIns="0" bIns="0" anchor="t">
            <a:noAutofit/>
          </a:bodyPr>
          <a:lstStyle/>
          <a:p>
            <a:pPr algn="l">
              <a:lnSpc>
                <a:spcPct val="100000"/>
              </a:lnSpc>
              <a:spcBef>
                <a:spcPts val="0"/>
              </a:spcBef>
              <a:buNone/>
            </a:pPr>
            <a:r>
              <a:rPr lang="en-US" sz="1600" dirty="0">
                <a:solidFill>
                  <a:srgbClr val="595959"/>
                </a:solidFill>
              </a:rPr>
              <a:t>0.689 macro-F1 and 98.66% accuracy on unseen data, with 2.6× fewer false alarms.</a:t>
            </a:r>
          </a:p>
        </p:txBody>
      </p:sp>
      <p:cxnSp>
        <p:nvCxnSpPr>
          <p:cNvPr id="43" name="Line 43"/>
          <p:cNvCxnSpPr/>
          <p:nvPr/>
        </p:nvCxnSpPr>
        <p:spPr>
          <a:xfrm>
            <a:off x="609600" y="2717800"/>
            <a:ext cx="10972800" cy="0"/>
          </a:xfrm>
          <a:prstGeom prst="line">
            <a:avLst/>
          </a:prstGeom>
          <a:ln w="9525">
            <a:solidFill>
              <a:srgbClr val="D9D9D9"/>
            </a:solidFill>
          </a:ln>
        </p:spPr>
      </p:cxnSp>
      <p:sp>
        <p:nvSpPr>
          <p:cNvPr id="44" name="Shape 44"/>
          <p:cNvSpPr txBox="1"/>
          <p:nvPr/>
        </p:nvSpPr>
        <p:spPr>
          <a:xfrm>
            <a:off x="609600" y="2819400"/>
            <a:ext cx="2413000" cy="762000"/>
          </a:xfrm>
          <a:prstGeom prst="rect">
            <a:avLst/>
          </a:prstGeom>
          <a:noFill/>
          <a:ln>
            <a:noFill/>
          </a:ln>
        </p:spPr>
        <p:txBody>
          <a:bodyPr wrap="square" lIns="0" tIns="0" rIns="0" bIns="0" anchor="ctr">
            <a:noAutofit/>
          </a:bodyPr>
          <a:lstStyle/>
          <a:p>
            <a:pPr algn="l">
              <a:lnSpc>
                <a:spcPct val="100000"/>
              </a:lnSpc>
              <a:spcBef>
                <a:spcPts val="0"/>
              </a:spcBef>
              <a:buNone/>
            </a:pPr>
            <a:r>
              <a:rPr lang="en-US" sz="4000" b="1" dirty="0">
                <a:solidFill>
                  <a:srgbClr val="404040"/>
                </a:solidFill>
                <a:latin typeface="+mj-lt"/>
              </a:rPr>
              <a:t>+0.039</a:t>
            </a:r>
          </a:p>
        </p:txBody>
      </p:sp>
      <p:sp>
        <p:nvSpPr>
          <p:cNvPr id="45" name="Shape 45"/>
          <p:cNvSpPr txBox="1"/>
          <p:nvPr/>
        </p:nvSpPr>
        <p:spPr>
          <a:xfrm>
            <a:off x="3175000" y="2844800"/>
            <a:ext cx="8407400" cy="330200"/>
          </a:xfrm>
          <a:prstGeom prst="rect">
            <a:avLst/>
          </a:prstGeom>
          <a:noFill/>
          <a:ln>
            <a:noFill/>
          </a:ln>
        </p:spPr>
        <p:txBody>
          <a:bodyPr wrap="square" lIns="0" tIns="0" rIns="0" bIns="0" anchor="t">
            <a:noAutofit/>
          </a:bodyPr>
          <a:lstStyle/>
          <a:p>
            <a:pPr algn="l">
              <a:lnSpc>
                <a:spcPct val="100000"/>
              </a:lnSpc>
              <a:spcBef>
                <a:spcPts val="0"/>
              </a:spcBef>
              <a:buNone/>
            </a:pPr>
            <a:r>
              <a:rPr lang="en-US" sz="1800" b="1" dirty="0">
                <a:solidFill>
                  <a:srgbClr val="404040"/>
                </a:solidFill>
              </a:rPr>
              <a:t>A little extra weight on rare attacks works best</a:t>
            </a:r>
          </a:p>
        </p:txBody>
      </p:sp>
      <p:sp>
        <p:nvSpPr>
          <p:cNvPr id="46" name="Shape 46"/>
          <p:cNvSpPr txBox="1"/>
          <p:nvPr/>
        </p:nvSpPr>
        <p:spPr>
          <a:xfrm>
            <a:off x="3175000" y="3200400"/>
            <a:ext cx="8407400" cy="584200"/>
          </a:xfrm>
          <a:prstGeom prst="rect">
            <a:avLst/>
          </a:prstGeom>
          <a:noFill/>
          <a:ln>
            <a:noFill/>
          </a:ln>
        </p:spPr>
        <p:txBody>
          <a:bodyPr wrap="square" lIns="0" tIns="0" rIns="0" bIns="0" anchor="t">
            <a:noAutofit/>
          </a:bodyPr>
          <a:lstStyle/>
          <a:p>
            <a:pPr algn="l">
              <a:lnSpc>
                <a:spcPct val="100000"/>
              </a:lnSpc>
              <a:spcBef>
                <a:spcPts val="0"/>
              </a:spcBef>
              <a:buNone/>
            </a:pPr>
            <a:r>
              <a:rPr lang="en-US" sz="1600" dirty="0">
                <a:solidFill>
                  <a:srgbClr val="595959"/>
                </a:solidFill>
              </a:rPr>
              <a:t>Moderate weighting (α = 0.25) beat both SMOTE and fully balanced weights.</a:t>
            </a:r>
          </a:p>
        </p:txBody>
      </p:sp>
      <p:cxnSp>
        <p:nvCxnSpPr>
          <p:cNvPr id="47" name="Line 47"/>
          <p:cNvCxnSpPr/>
          <p:nvPr/>
        </p:nvCxnSpPr>
        <p:spPr>
          <a:xfrm>
            <a:off x="609600" y="3886200"/>
            <a:ext cx="10972800" cy="0"/>
          </a:xfrm>
          <a:prstGeom prst="line">
            <a:avLst/>
          </a:prstGeom>
          <a:ln w="9525">
            <a:solidFill>
              <a:srgbClr val="D9D9D9"/>
            </a:solidFill>
          </a:ln>
        </p:spPr>
      </p:cxnSp>
      <p:sp>
        <p:nvSpPr>
          <p:cNvPr id="48" name="Shape 48"/>
          <p:cNvSpPr txBox="1"/>
          <p:nvPr/>
        </p:nvSpPr>
        <p:spPr>
          <a:xfrm>
            <a:off x="609600" y="3987800"/>
            <a:ext cx="2413000" cy="762000"/>
          </a:xfrm>
          <a:prstGeom prst="rect">
            <a:avLst/>
          </a:prstGeom>
          <a:noFill/>
          <a:ln>
            <a:noFill/>
          </a:ln>
        </p:spPr>
        <p:txBody>
          <a:bodyPr wrap="square" lIns="0" tIns="0" rIns="0" bIns="0" anchor="ctr">
            <a:noAutofit/>
          </a:bodyPr>
          <a:lstStyle/>
          <a:p>
            <a:pPr algn="l">
              <a:lnSpc>
                <a:spcPct val="100000"/>
              </a:lnSpc>
              <a:spcBef>
                <a:spcPts val="0"/>
              </a:spcBef>
              <a:buNone/>
            </a:pPr>
            <a:r>
              <a:rPr lang="en-US" sz="4000" b="1" dirty="0">
                <a:solidFill>
                  <a:srgbClr val="404040"/>
                </a:solidFill>
                <a:latin typeface="+mj-lt"/>
              </a:rPr>
              <a:t>+0.098</a:t>
            </a:r>
          </a:p>
        </p:txBody>
      </p:sp>
      <p:sp>
        <p:nvSpPr>
          <p:cNvPr id="49" name="Shape 49"/>
          <p:cNvSpPr txBox="1"/>
          <p:nvPr/>
        </p:nvSpPr>
        <p:spPr>
          <a:xfrm>
            <a:off x="3175000" y="4013200"/>
            <a:ext cx="8407400" cy="330200"/>
          </a:xfrm>
          <a:prstGeom prst="rect">
            <a:avLst/>
          </a:prstGeom>
          <a:noFill/>
          <a:ln>
            <a:noFill/>
          </a:ln>
        </p:spPr>
        <p:txBody>
          <a:bodyPr wrap="square" lIns="0" tIns="0" rIns="0" bIns="0" anchor="t">
            <a:noAutofit/>
          </a:bodyPr>
          <a:lstStyle/>
          <a:p>
            <a:pPr algn="l">
              <a:lnSpc>
                <a:spcPct val="100000"/>
              </a:lnSpc>
              <a:spcBef>
                <a:spcPts val="0"/>
              </a:spcBef>
              <a:buNone/>
            </a:pPr>
            <a:r>
              <a:rPr lang="en-US" sz="1800" b="1" dirty="0">
                <a:solidFill>
                  <a:srgbClr val="404040"/>
                </a:solidFill>
              </a:rPr>
              <a:t>Better data beats a bigger model</a:t>
            </a:r>
          </a:p>
        </p:txBody>
      </p:sp>
      <p:sp>
        <p:nvSpPr>
          <p:cNvPr id="50" name="Shape 50"/>
          <p:cNvSpPr txBox="1"/>
          <p:nvPr/>
        </p:nvSpPr>
        <p:spPr>
          <a:xfrm>
            <a:off x="3175000" y="4368800"/>
            <a:ext cx="8407400" cy="584200"/>
          </a:xfrm>
          <a:prstGeom prst="rect">
            <a:avLst/>
          </a:prstGeom>
          <a:noFill/>
          <a:ln>
            <a:noFill/>
          </a:ln>
        </p:spPr>
        <p:txBody>
          <a:bodyPr wrap="square" lIns="0" tIns="0" rIns="0" bIns="0" anchor="t">
            <a:noAutofit/>
          </a:bodyPr>
          <a:lstStyle/>
          <a:p>
            <a:pPr algn="l">
              <a:lnSpc>
                <a:spcPct val="100000"/>
              </a:lnSpc>
              <a:spcBef>
                <a:spcPts val="0"/>
              </a:spcBef>
              <a:buNone/>
            </a:pPr>
            <a:r>
              <a:rPr lang="en-US" sz="1600" dirty="0">
                <a:solidFill>
                  <a:srgbClr val="595959"/>
                </a:solidFill>
              </a:rPr>
              <a:t>Service information added the most; model tuning added almost nothing.</a:t>
            </a:r>
          </a:p>
        </p:txBody>
      </p:sp>
      <p:cxnSp>
        <p:nvCxnSpPr>
          <p:cNvPr id="51" name="Line 51"/>
          <p:cNvCxnSpPr/>
          <p:nvPr/>
        </p:nvCxnSpPr>
        <p:spPr>
          <a:xfrm>
            <a:off x="609600" y="5054600"/>
            <a:ext cx="10972800" cy="0"/>
          </a:xfrm>
          <a:prstGeom prst="line">
            <a:avLst/>
          </a:prstGeom>
          <a:ln w="9525">
            <a:solidFill>
              <a:srgbClr val="D9D9D9"/>
            </a:solidFill>
          </a:ln>
        </p:spPr>
      </p:cxnSp>
    </p:spTree>
    <p:extLst>
      <p:ext uri="{BB962C8B-B14F-4D97-AF65-F5344CB8AC3E}">
        <p14:creationId xmlns:p14="http://schemas.microsoft.com/office/powerpoint/2010/main" val="1269369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559F2-FFA9-3A44-B201-DAF0744C82C8}"/>
              </a:ext>
            </a:extLst>
          </p:cNvPr>
          <p:cNvSpPr>
            <a:spLocks noGrp="1"/>
          </p:cNvSpPr>
          <p:nvPr>
            <p:ph type="title"/>
          </p:nvPr>
        </p:nvSpPr>
        <p:spPr/>
        <p:txBody>
          <a:bodyPr/>
          <a:lstStyle/>
          <a:p>
            <a:r>
              <a:rPr lang="en-US"/>
              <a:t>References</a:t>
            </a:r>
          </a:p>
        </p:txBody>
      </p:sp>
      <p:sp>
        <p:nvSpPr>
          <p:cNvPr id="200" name="Slide Number"/>
          <p:cNvSpPr>
            <a:spLocks noGrp="1"/>
          </p:cNvSpPr>
          <p:nvPr>
            <p:ph type="sldNum" sz="quarter" idx="12"/>
          </p:nvPr>
        </p:nvSpPr>
        <p:spPr/>
        <p:txBody>
          <a:bodyPr/>
          <a:lstStyle/>
          <a:p>
            <a:fld id="{B6F15528-21DE-4FAA-801E-634DDDAF4B2B}" type="slidenum">
              <a:rPr lang="en-US"/>
              <a:t>17</a:t>
            </a:fld>
            <a:endParaRPr lang="en-US"/>
          </a:p>
        </p:txBody>
      </p:sp>
      <p:sp>
        <p:nvSpPr>
          <p:cNvPr id="40" name="References"/>
          <p:cNvSpPr txBox="1"/>
          <p:nvPr/>
        </p:nvSpPr>
        <p:spPr>
          <a:xfrm>
            <a:off x="609600" y="1625600"/>
            <a:ext cx="10972800" cy="4572000"/>
          </a:xfrm>
          <a:prstGeom prst="rect">
            <a:avLst/>
          </a:prstGeom>
          <a:noFill/>
        </p:spPr>
        <p:txBody>
          <a:bodyPr wrap="square" lIns="0" tIns="0" rIns="0" bIns="0" anchor="t">
            <a:noAutofit/>
          </a:bodyPr>
          <a:lstStyle/>
          <a:p>
            <a:pPr marL="381000" indent="-381000">
              <a:spcBef>
                <a:spcPts val="0"/>
              </a:spcBef>
              <a:buFont typeface="+mj-lt"/>
              <a:buAutoNum type="arabicPeriod"/>
            </a:pPr>
            <a:r>
              <a:rPr lang="en-US" sz="1600" dirty="0">
                <a:solidFill>
                  <a:srgbClr val="262626"/>
                </a:solidFill>
              </a:rPr>
              <a:t>Mohammadian, H., Lashkari, A. H., &amp; Ghorbani, A. A. (2024). Poisoning and evasion: Deep learning-based NIDS under adversarial attacks. </a:t>
            </a:r>
            <a:r>
              <a:rPr lang="en-US" sz="1600" i="1" dirty="0">
                <a:solidFill>
                  <a:srgbClr val="262626"/>
                </a:solidFill>
              </a:rPr>
              <a:t>PST 2024</a:t>
            </a:r>
            <a:r>
              <a:rPr lang="en-US" sz="1600" dirty="0">
                <a:solidFill>
                  <a:srgbClr val="262626"/>
                </a:solidFill>
              </a:rPr>
              <a:t>, IEEE.</a:t>
            </a:r>
          </a:p>
          <a:p>
            <a:pPr marL="381000" indent="-381000">
              <a:spcBef>
                <a:spcPts val="1500"/>
              </a:spcBef>
              <a:buFont typeface="+mj-lt"/>
              <a:buAutoNum type="arabicPeriod"/>
            </a:pPr>
            <a:r>
              <a:rPr lang="en-US" sz="1600" dirty="0">
                <a:solidFill>
                  <a:srgbClr val="262626"/>
                </a:solidFill>
              </a:rPr>
              <a:t>Moustafa, N., &amp; Slay, J. (2015). UNSW-NB15: A comprehensive data set for network intrusion detection systems. </a:t>
            </a:r>
            <a:r>
              <a:rPr lang="en-US" sz="1600" i="1" dirty="0">
                <a:solidFill>
                  <a:srgbClr val="262626"/>
                </a:solidFill>
              </a:rPr>
              <a:t>MilCIS 2015</a:t>
            </a:r>
            <a:r>
              <a:rPr lang="en-US" sz="1600" dirty="0">
                <a:solidFill>
                  <a:srgbClr val="262626"/>
                </a:solidFill>
              </a:rPr>
              <a:t>, IEEE.</a:t>
            </a:r>
          </a:p>
          <a:p>
            <a:pPr marL="381000" indent="-381000">
              <a:spcBef>
                <a:spcPts val="1500"/>
              </a:spcBef>
              <a:buFont typeface="+mj-lt"/>
              <a:buAutoNum type="arabicPeriod"/>
            </a:pPr>
            <a:r>
              <a:rPr lang="en-US" sz="1600" dirty="0">
                <a:solidFill>
                  <a:srgbClr val="262626"/>
                </a:solidFill>
              </a:rPr>
              <a:t>Lashkari, A. H., Draper-Gil, G., Mamun, M. S. I., &amp; Ghorbani, A. A. (2017). Characterization of Tor traffic using time based features. </a:t>
            </a:r>
            <a:r>
              <a:rPr lang="en-US" sz="1600" i="1" dirty="0">
                <a:solidFill>
                  <a:srgbClr val="262626"/>
                </a:solidFill>
              </a:rPr>
              <a:t>ICISSP 2017</a:t>
            </a:r>
            <a:r>
              <a:rPr lang="en-US" sz="1600" dirty="0">
                <a:solidFill>
                  <a:srgbClr val="262626"/>
                </a:solidFill>
              </a:rPr>
              <a:t>, 253–262.</a:t>
            </a:r>
          </a:p>
          <a:p>
            <a:pPr marL="381000" indent="-381000">
              <a:spcBef>
                <a:spcPts val="1500"/>
              </a:spcBef>
              <a:buFont typeface="+mj-lt"/>
              <a:buAutoNum type="arabicPeriod"/>
            </a:pPr>
            <a:r>
              <a:rPr lang="en-US" sz="1600" dirty="0">
                <a:solidFill>
                  <a:srgbClr val="262626"/>
                </a:solidFill>
              </a:rPr>
              <a:t>Chen, T., &amp; Guestrin, C. (2016). XGBoost: A scalable tree boosting system. </a:t>
            </a:r>
            <a:r>
              <a:rPr lang="en-US" sz="1600" i="1" dirty="0">
                <a:solidFill>
                  <a:srgbClr val="262626"/>
                </a:solidFill>
              </a:rPr>
              <a:t>KDD 2016</a:t>
            </a:r>
            <a:r>
              <a:rPr lang="en-US" sz="1600" dirty="0">
                <a:solidFill>
                  <a:srgbClr val="262626"/>
                </a:solidFill>
              </a:rPr>
              <a:t>, 785–794.</a:t>
            </a:r>
          </a:p>
          <a:p>
            <a:pPr marL="381000" indent="-381000">
              <a:spcBef>
                <a:spcPts val="1500"/>
              </a:spcBef>
              <a:buFont typeface="+mj-lt"/>
              <a:buAutoNum type="arabicPeriod"/>
            </a:pPr>
            <a:r>
              <a:rPr lang="en-US" sz="1600" dirty="0">
                <a:solidFill>
                  <a:srgbClr val="262626"/>
                </a:solidFill>
              </a:rPr>
              <a:t>Chawla, N. V., Bowyer, K. W., Hall, L. O., &amp; Kegelmeyer, W. P. (2002). SMOTE: Synthetic minority over-sampling technique. </a:t>
            </a:r>
            <a:r>
              <a:rPr lang="en-US" sz="1600" i="1" dirty="0">
                <a:solidFill>
                  <a:srgbClr val="262626"/>
                </a:solidFill>
              </a:rPr>
              <a:t>JAIR, 16</a:t>
            </a:r>
            <a:r>
              <a:rPr lang="en-US" sz="1600" dirty="0">
                <a:solidFill>
                  <a:srgbClr val="262626"/>
                </a:solidFill>
              </a:rPr>
              <a:t>, 321–357.</a:t>
            </a:r>
          </a:p>
          <a:p>
            <a:pPr marL="381000" indent="-381000">
              <a:spcBef>
                <a:spcPts val="1500"/>
              </a:spcBef>
              <a:buFont typeface="+mj-lt"/>
              <a:buAutoNum type="arabicPeriod"/>
            </a:pPr>
            <a:r>
              <a:rPr lang="en-US" sz="1600" dirty="0">
                <a:solidFill>
                  <a:srgbClr val="262626"/>
                </a:solidFill>
              </a:rPr>
              <a:t>Arp, D., et al. (2022). Dos and don’ts of machine learning in computer security. </a:t>
            </a:r>
            <a:r>
              <a:rPr lang="en-US" sz="1600" i="1" dirty="0">
                <a:solidFill>
                  <a:srgbClr val="262626"/>
                </a:solidFill>
              </a:rPr>
              <a:t>USENIX Security 2022</a:t>
            </a:r>
            <a:r>
              <a:rPr lang="en-US" sz="1600" dirty="0">
                <a:solidFill>
                  <a:srgbClr val="262626"/>
                </a:solidFill>
              </a:rPr>
              <a:t>, 3971–3988.</a:t>
            </a:r>
          </a:p>
          <a:p>
            <a:pPr marL="381000" indent="-381000">
              <a:spcBef>
                <a:spcPts val="1500"/>
              </a:spcBef>
              <a:buFont typeface="+mj-lt"/>
              <a:buAutoNum type="arabicPeriod"/>
            </a:pPr>
            <a:r>
              <a:rPr lang="en-US" sz="1600" dirty="0">
                <a:solidFill>
                  <a:srgbClr val="262626"/>
                </a:solidFill>
              </a:rPr>
              <a:t>Apruzzese, G., et al. (2022). Modeling realistic adversarial attacks against network intrusion detection systems. </a:t>
            </a:r>
            <a:r>
              <a:rPr lang="en-US" sz="1600" i="1" dirty="0">
                <a:solidFill>
                  <a:srgbClr val="262626"/>
                </a:solidFill>
              </a:rPr>
              <a:t>Digital Threats, 3</a:t>
            </a:r>
            <a:r>
              <a:rPr lang="en-US" sz="1600" dirty="0">
                <a:solidFill>
                  <a:srgbClr val="262626"/>
                </a:solidFill>
              </a:rPr>
              <a:t>(3), Article 31.</a:t>
            </a:r>
          </a:p>
        </p:txBody>
      </p:sp>
    </p:spTree>
    <p:extLst>
      <p:ext uri="{BB962C8B-B14F-4D97-AF65-F5344CB8AC3E}">
        <p14:creationId xmlns:p14="http://schemas.microsoft.com/office/powerpoint/2010/main" val="3151269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51CF-0617-86CF-E4DD-F15BDAC64CB5}"/>
              </a:ext>
            </a:extLst>
          </p:cNvPr>
          <p:cNvSpPr>
            <a:spLocks noGrp="1"/>
          </p:cNvSpPr>
          <p:nvPr>
            <p:ph type="title"/>
          </p:nvPr>
        </p:nvSpPr>
        <p:spPr/>
        <p:txBody>
          <a:bodyPr lIns="0" tIns="0" rIns="0" bIns="0" anchor="ctr">
            <a:noAutofit/>
          </a:bodyPr>
          <a:lstStyle/>
          <a:p>
            <a:pPr algn="l"/>
            <a:r>
              <a:rPr lang="en-US" sz="4400" b="1" dirty="0">
                <a:solidFill>
                  <a:srgbClr val="FFFFFF"/>
                </a:solidFill>
              </a:rPr>
              <a:t>Thank you</a:t>
            </a:r>
          </a:p>
        </p:txBody>
      </p:sp>
      <p:sp>
        <p:nvSpPr>
          <p:cNvPr id="3" name="Text Placeholder 2">
            <a:extLst>
              <a:ext uri="{FF2B5EF4-FFF2-40B4-BE49-F238E27FC236}">
                <a16:creationId xmlns:a16="http://schemas.microsoft.com/office/drawing/2014/main" id="{397B1A68-95F1-A13E-73FB-D6A23767DF9E}"/>
              </a:ext>
            </a:extLst>
          </p:cNvPr>
          <p:cNvSpPr>
            <a:spLocks noGrp="1"/>
          </p:cNvSpPr>
          <p:nvPr>
            <p:ph type="body" idx="1"/>
          </p:nvPr>
        </p:nvSpPr>
        <p:spPr/>
        <p:txBody>
          <a:bodyPr lIns="0" tIns="0" rIns="0" bIns="0" anchor="ctr" anchorCtr="0">
            <a:noAutofit/>
          </a:bodyPr>
          <a:lstStyle/>
          <a:p>
            <a:pPr algn="l">
              <a:spcBef>
                <a:spcPts val="0"/>
              </a:spcBef>
              <a:buNone/>
            </a:pPr>
            <a:r>
              <a:rPr lang="en-US" sz="3200" b="1" dirty="0">
                <a:solidFill>
                  <a:schemeClr val="accent1"/>
                </a:solidFill>
              </a:rPr>
              <a:t>Questions and discussion</a:t>
            </a:r>
          </a:p>
        </p:txBody>
      </p:sp>
    </p:spTree>
    <p:extLst>
      <p:ext uri="{BB962C8B-B14F-4D97-AF65-F5344CB8AC3E}">
        <p14:creationId xmlns:p14="http://schemas.microsoft.com/office/powerpoint/2010/main" val="4049787210"/>
      </p:ext>
    </p:extLst>
  </p:cSld>
  <p:clrMapOvr>
    <a:masterClrMapping/>
  </p:clrMapOvr>
</p:sld>
</file>

<file path=ppt/theme/theme1.xml><?xml version="1.0" encoding="utf-8"?>
<a:theme xmlns:a="http://schemas.openxmlformats.org/drawingml/2006/main" name="Spectrum [1793188080956]">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Times New Roman"/>
        <a:ea typeface=""/>
        <a:cs typeface=""/>
        <a:font script="Jpan" typeface="ＭＳ ゴシック"/>
        <a:font script="Hans" typeface="宋体"/>
        <a:font script="Hant" typeface="新細明體"/>
      </a:majorFont>
      <a:minorFont>
        <a:latin typeface="Times New Roman"/>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3BDECAF-586F-441B-8C71-B586B916BA61}">
  <we:reference id="wa200010001" version="1.0.0.1" store="en-US" storeType="OMEX"/>
  <we:alternateReferences>
    <we:reference id="wa200010001" version="1.0.0.1" store="wa200010001" storeType="OMEX"/>
  </we:alternateReferences>
  <we:properties>
    <we:property name="claude.fileId" value="&quot;bf11e50a-49da-4dc8-8276-6f4bc119d10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383</TotalTime>
  <Words>3787</Words>
  <Application>Microsoft Office PowerPoint</Application>
  <PresentationFormat>Widescreen</PresentationFormat>
  <Paragraphs>337</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Georgia</vt:lpstr>
      <vt:lpstr>Spectrum [1793188080956]</vt:lpstr>
      <vt:lpstr>A Two-Stage Hierarchical Multiclass Network Intrusion Detection System with Tempered Class Weighting and a Reject Option for Imbalanced Network Flows</vt:lpstr>
      <vt:lpstr>Table of contents</vt:lpstr>
      <vt:lpstr>Problem Definition</vt:lpstr>
      <vt:lpstr>Objectives</vt:lpstr>
      <vt:lpstr>Research Questions</vt:lpstr>
      <vt:lpstr>Research Methodology Six steps, from collecting the data to analysing the results</vt:lpstr>
      <vt:lpstr>Data Collection &amp; Analysis Normal traffic far outnumbers attacks: only 243 Worms connections against 2.5 million normal ones</vt:lpstr>
      <vt:lpstr>Data Collection &amp; Analysis We cleaned and prepared the data in five steps before training any model</vt:lpstr>
      <vt:lpstr>Our Proposed Model First check whether traffic is an attack, then identify which type of attack it is</vt:lpstr>
      <vt:lpstr>Results On 521,361 unseen connections, the final system scores 0.689 macro-F1 and 98.66% accuracy</vt:lpstr>
      <vt:lpstr>Results Most traffic types are detected well; Analysis and Worms look too much like other traffic</vt:lpstr>
      <vt:lpstr>Results Which parts of the system improved the score the most</vt:lpstr>
      <vt:lpstr>Results We tested the same system on three other public datasets</vt:lpstr>
      <vt:lpstr>Limitations</vt:lpstr>
      <vt:lpstr>Future Work</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Abidur Rahman</dc:creator>
  <cp:lastModifiedBy>Abidur Rahman</cp:lastModifiedBy>
  <cp:revision>26</cp:revision>
  <dcterms:created xsi:type="dcterms:W3CDTF">2026-10-28T10:38:57Z</dcterms:created>
  <dcterms:modified xsi:type="dcterms:W3CDTF">2026-10-28T17:02:42Z</dcterms:modified>
</cp:coreProperties>
</file>